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0"/>
            <a:ext cx="4114800" cy="6858000"/>
          </a:xfrm>
          <a:prstGeom prst="rect">
            <a:avLst/>
          </a:prstGeom>
          <a:solidFill>
            <a:srgbClr val="F7F4F0"/>
          </a:solidFill>
          <a:ln w="12700">
            <a:solidFill>
              <a:srgbClr val="F7F4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73568" y="0"/>
            <a:ext cx="91440" cy="6858000"/>
          </a:xfrm>
          <a:prstGeom prst="rect">
            <a:avLst/>
          </a:prstGeom>
          <a:solidFill>
            <a:srgbClr val="5C3317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457200"/>
            <a:ext cx="384048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0" b="1" dirty="0">
                <a:solidFill>
                  <a:srgbClr val="ED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</a:t>
            </a:r>
            <a:endParaRPr lang="en-US" sz="160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7973568" cy="64008"/>
          </a:xfrm>
          <a:prstGeom prst="rect">
            <a:avLst/>
          </a:prstGeom>
          <a:solidFill>
            <a:srgbClr val="5C3317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256032"/>
            <a:ext cx="2011680" cy="274320"/>
          </a:xfrm>
          <a:prstGeom prst="rect">
            <a:avLst/>
          </a:prstGeom>
          <a:solidFill>
            <a:srgbClr val="7A4520"/>
          </a:solidFill>
          <a:ln w="12700">
            <a:solidFill>
              <a:srgbClr val="2F6B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560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PLATFORM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57200" y="658368"/>
            <a:ext cx="7315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5-Year Roadmap</a:t>
            </a:r>
            <a:endParaRPr lang="en-US" sz="5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$1B Platform</a:t>
            </a:r>
            <a:endParaRPr lang="en-US" sz="5200" dirty="0"/>
          </a:p>
        </p:txBody>
      </p:sp>
      <p:sp>
        <p:nvSpPr>
          <p:cNvPr id="9" name="Shape 7"/>
          <p:cNvSpPr/>
          <p:nvPr/>
        </p:nvSpPr>
        <p:spPr>
          <a:xfrm>
            <a:off x="457200" y="3127248"/>
            <a:ext cx="4754880" cy="0"/>
          </a:xfrm>
          <a:prstGeom prst="line">
            <a:avLst/>
          </a:prstGeom>
          <a:noFill/>
          <a:ln w="31750">
            <a:solidFill>
              <a:srgbClr val="5C331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255264"/>
            <a:ext cx="7223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fragmented legacy monolith to unified,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scalable, AI-native trade finance platform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4315968"/>
            <a:ext cx="1700784" cy="1225296"/>
          </a:xfrm>
          <a:prstGeom prst="rect">
            <a:avLst/>
          </a:prstGeom>
          <a:solidFill>
            <a:srgbClr val="F7F4F0"/>
          </a:solidFill>
          <a:ln w="9525">
            <a:solidFill>
              <a:srgbClr val="D6CCC2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4315968"/>
            <a:ext cx="1700784" cy="64008"/>
          </a:xfrm>
          <a:prstGeom prst="rect">
            <a:avLst/>
          </a:prstGeom>
          <a:solidFill>
            <a:srgbClr val="5C3317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" y="4407408"/>
            <a:ext cx="1481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STP RATE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566928" y="4681728"/>
            <a:ext cx="14813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→ ~90%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286000" y="4315968"/>
            <a:ext cx="1700784" cy="1225296"/>
          </a:xfrm>
          <a:prstGeom prst="rect">
            <a:avLst/>
          </a:prstGeom>
          <a:solidFill>
            <a:srgbClr val="F7F4F0"/>
          </a:solidFill>
          <a:ln w="9525">
            <a:solidFill>
              <a:srgbClr val="D6CCC2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286000" y="4315968"/>
            <a:ext cx="1700784" cy="64008"/>
          </a:xfrm>
          <a:prstGeom prst="rect">
            <a:avLst/>
          </a:prstGeom>
          <a:solidFill>
            <a:srgbClr val="A06535"/>
          </a:solidFill>
          <a:ln/>
        </p:spPr>
      </p:sp>
      <p:sp>
        <p:nvSpPr>
          <p:cNvPr id="17" name="Text 15"/>
          <p:cNvSpPr/>
          <p:nvPr/>
        </p:nvSpPr>
        <p:spPr>
          <a:xfrm>
            <a:off x="2395728" y="4407408"/>
            <a:ext cx="1481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TIME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2395728" y="4681728"/>
            <a:ext cx="14813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06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hrs → 1 hr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114800" y="4315968"/>
            <a:ext cx="1700784" cy="1225296"/>
          </a:xfrm>
          <a:prstGeom prst="rect">
            <a:avLst/>
          </a:prstGeom>
          <a:solidFill>
            <a:srgbClr val="F7F4F0"/>
          </a:solidFill>
          <a:ln w="9525">
            <a:solidFill>
              <a:srgbClr val="D6CCC2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114800" y="4315968"/>
            <a:ext cx="1700784" cy="64008"/>
          </a:xfrm>
          <a:prstGeom prst="rect">
            <a:avLst/>
          </a:prstGeom>
          <a:solidFill>
            <a:srgbClr val="7A4520"/>
          </a:solidFill>
          <a:ln/>
        </p:spPr>
      </p:sp>
      <p:sp>
        <p:nvSpPr>
          <p:cNvPr id="21" name="Text 19"/>
          <p:cNvSpPr/>
          <p:nvPr/>
        </p:nvSpPr>
        <p:spPr>
          <a:xfrm>
            <a:off x="4224528" y="4407408"/>
            <a:ext cx="1481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4224528" y="4681728"/>
            <a:ext cx="14813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4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9's → 7 9's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943600" y="4315968"/>
            <a:ext cx="1700784" cy="1225296"/>
          </a:xfrm>
          <a:prstGeom prst="rect">
            <a:avLst/>
          </a:prstGeom>
          <a:solidFill>
            <a:srgbClr val="F7F4F0"/>
          </a:solidFill>
          <a:ln w="9525">
            <a:solidFill>
              <a:srgbClr val="D6CCC2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943600" y="4315968"/>
            <a:ext cx="1700784" cy="64008"/>
          </a:xfrm>
          <a:prstGeom prst="rect">
            <a:avLst/>
          </a:prstGeom>
          <a:solidFill>
            <a:srgbClr val="9B6010"/>
          </a:solidFill>
          <a:ln/>
        </p:spPr>
      </p:sp>
      <p:sp>
        <p:nvSpPr>
          <p:cNvPr id="25" name="Text 23"/>
          <p:cNvSpPr/>
          <p:nvPr/>
        </p:nvSpPr>
        <p:spPr>
          <a:xfrm>
            <a:off x="6053328" y="4407408"/>
            <a:ext cx="1481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OF CHANGE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6053328" y="4681728"/>
            <a:ext cx="14813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B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−30%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57200" y="5687568"/>
            <a:ext cx="7223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9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 ·  Leadership Review  ·  Confidential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65760" y="6675120"/>
            <a:ext cx="11430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89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Trade Platform Migration Strategy  ·  2025–2030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841248"/>
          </a:xfrm>
          <a:prstGeom prst="rect">
            <a:avLst/>
          </a:prstGeom>
          <a:solidFill>
            <a:srgbClr val="9B6010"/>
          </a:solidFill>
          <a:ln/>
        </p:spPr>
      </p:sp>
      <p:sp>
        <p:nvSpPr>
          <p:cNvPr id="4" name="Shape 2"/>
          <p:cNvSpPr/>
          <p:nvPr/>
        </p:nvSpPr>
        <p:spPr>
          <a:xfrm>
            <a:off x="109728" y="841248"/>
            <a:ext cx="12051792" cy="0"/>
          </a:xfrm>
          <a:prstGeom prst="line">
            <a:avLst/>
          </a:prstGeom>
          <a:noFill/>
          <a:ln w="12700">
            <a:solidFill>
              <a:srgbClr val="C9A88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9B6010"/>
          </a:solidFill>
          <a:ln/>
        </p:spPr>
      </p:sp>
      <p:sp>
        <p:nvSpPr>
          <p:cNvPr id="6" name="Text 4"/>
          <p:cNvSpPr/>
          <p:nvPr/>
        </p:nvSpPr>
        <p:spPr>
          <a:xfrm>
            <a:off x="292608" y="91440"/>
            <a:ext cx="11521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State: Legacy Monolith Architecture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292608" y="585216"/>
            <a:ext cx="11521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today's platform cannot support $1B revenue — and what breaks under load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992624" y="1865376"/>
            <a:ext cx="2176272" cy="1631290"/>
          </a:xfrm>
          <a:prstGeom prst="ellipse">
            <a:avLst/>
          </a:prstGeom>
          <a:solidFill>
            <a:srgbClr val="E0B870"/>
          </a:solidFill>
          <a:ln w="12700">
            <a:solidFill>
              <a:srgbClr val="E0B870"/>
            </a:solidFill>
            <a:prstDash val="solid"/>
          </a:ln>
          <a:effectLst>
            <a:outerShdw sx="100000" sy="100000" kx="0" ky="0" algn="bl" rotWithShape="0" blurRad="177800" dist="50800" dir="8100000">
              <a:srgbClr val="B8882A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919472" y="1773936"/>
            <a:ext cx="2322576" cy="1389888"/>
          </a:xfrm>
          <a:prstGeom prst="rect">
            <a:avLst/>
          </a:prstGeom>
          <a:solidFill>
            <a:srgbClr val="FEF0D4"/>
          </a:solidFill>
          <a:ln w="19050">
            <a:solidFill>
              <a:srgbClr val="9B601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919472" y="2962656"/>
            <a:ext cx="2322576" cy="402336"/>
          </a:xfrm>
          <a:prstGeom prst="ellipse">
            <a:avLst/>
          </a:prstGeom>
          <a:solidFill>
            <a:srgbClr val="E8C87A"/>
          </a:solidFill>
          <a:ln w="19050">
            <a:solidFill>
              <a:srgbClr val="9B601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919472" y="1572768"/>
            <a:ext cx="2322576" cy="402336"/>
          </a:xfrm>
          <a:prstGeom prst="ellipse">
            <a:avLst/>
          </a:prstGeom>
          <a:solidFill>
            <a:srgbClr val="FBE8C0"/>
          </a:solidFill>
          <a:ln w="19050">
            <a:solidFill>
              <a:srgbClr val="9B601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10912" y="1865376"/>
            <a:ext cx="2139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B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010912" y="2249424"/>
            <a:ext cx="2139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6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1,800 Tables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10912" y="2487168"/>
            <a:ext cx="2139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6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DB for ALL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193792" y="3236976"/>
            <a:ext cx="1773936" cy="274320"/>
          </a:xfrm>
          <a:prstGeom prst="rect">
            <a:avLst/>
          </a:prstGeom>
          <a:solidFill>
            <a:srgbClr val="9B6010"/>
          </a:solidFill>
          <a:ln w="12700">
            <a:solidFill>
              <a:srgbClr val="9B601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12080" y="323697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~10,000 Stored Procedures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01168" y="1188720"/>
            <a:ext cx="2944368" cy="786384"/>
          </a:xfrm>
          <a:prstGeom prst="rect">
            <a:avLst/>
          </a:prstGeom>
          <a:solidFill>
            <a:srgbClr val="FEF0D4"/>
          </a:solidFill>
          <a:ln w="9525">
            <a:solidFill>
              <a:srgbClr val="E0B870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01168" y="1188720"/>
            <a:ext cx="64008" cy="786384"/>
          </a:xfrm>
          <a:prstGeom prst="rect">
            <a:avLst/>
          </a:prstGeom>
          <a:solidFill>
            <a:srgbClr val="9B6010"/>
          </a:solidFill>
          <a:ln w="12700">
            <a:solidFill>
              <a:srgbClr val="9B601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1280160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MuleSoft / Mule ESB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84048" y="160934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Tightly coupled integration bus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145536" y="1581912"/>
            <a:ext cx="1773936" cy="886968"/>
          </a:xfrm>
          <a:prstGeom prst="line">
            <a:avLst/>
          </a:prstGeom>
          <a:noFill/>
          <a:ln w="12700">
            <a:solidFill>
              <a:srgbClr val="E0B870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201168" y="2194560"/>
            <a:ext cx="2944368" cy="786384"/>
          </a:xfrm>
          <a:prstGeom prst="rect">
            <a:avLst/>
          </a:prstGeom>
          <a:solidFill>
            <a:srgbClr val="FEF0D4"/>
          </a:solidFill>
          <a:ln w="9525">
            <a:solidFill>
              <a:srgbClr val="E0B870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01168" y="2194560"/>
            <a:ext cx="64008" cy="786384"/>
          </a:xfrm>
          <a:prstGeom prst="rect">
            <a:avLst/>
          </a:prstGeom>
          <a:solidFill>
            <a:srgbClr val="9B6010"/>
          </a:solidFill>
          <a:ln w="12700">
            <a:solidFill>
              <a:srgbClr val="9B601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4048" y="2286000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TPS Core (Java)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84048" y="261518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 embedded in database layer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145536" y="2587752"/>
            <a:ext cx="1773936" cy="-118872"/>
          </a:xfrm>
          <a:prstGeom prst="line">
            <a:avLst/>
          </a:prstGeom>
          <a:noFill/>
          <a:ln w="12700">
            <a:solidFill>
              <a:srgbClr val="E0B870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201168" y="3200400"/>
            <a:ext cx="2944368" cy="786384"/>
          </a:xfrm>
          <a:prstGeom prst="rect">
            <a:avLst/>
          </a:prstGeom>
          <a:solidFill>
            <a:srgbClr val="FEF0D4"/>
          </a:solidFill>
          <a:ln w="9525">
            <a:solidFill>
              <a:srgbClr val="E0B870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01168" y="3200400"/>
            <a:ext cx="64008" cy="786384"/>
          </a:xfrm>
          <a:prstGeom prst="rect">
            <a:avLst/>
          </a:prstGeom>
          <a:solidFill>
            <a:srgbClr val="9B6010"/>
          </a:solidFill>
          <a:ln w="12700">
            <a:solidFill>
              <a:srgbClr val="9B601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4048" y="3291840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Jobs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84048" y="362102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Nightly runs — no real-time processing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145536" y="3593592"/>
            <a:ext cx="1773936" cy="-1124712"/>
          </a:xfrm>
          <a:prstGeom prst="line">
            <a:avLst/>
          </a:prstGeom>
          <a:noFill/>
          <a:ln w="12700">
            <a:solidFill>
              <a:srgbClr val="E0B870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>
            <a:off x="9034272" y="1188720"/>
            <a:ext cx="2944368" cy="786384"/>
          </a:xfrm>
          <a:prstGeom prst="rect">
            <a:avLst/>
          </a:prstGeom>
          <a:solidFill>
            <a:srgbClr val="F7F4F0"/>
          </a:solidFill>
          <a:ln w="9525">
            <a:solidFill>
              <a:srgbClr val="D6CCC2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9034272" y="1188720"/>
            <a:ext cx="64008" cy="786384"/>
          </a:xfrm>
          <a:prstGeom prst="rect">
            <a:avLst/>
          </a:prstGeom>
          <a:solidFill>
            <a:srgbClr val="A89580"/>
          </a:solidFill>
          <a:ln w="12700">
            <a:solidFill>
              <a:srgbClr val="A8958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98864" y="1280160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(Tightly Coupled)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9198864" y="160934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DB queries via Mule — no abstraction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7242048" y="2468880"/>
            <a:ext cx="1792224" cy="-886968"/>
          </a:xfrm>
          <a:prstGeom prst="line">
            <a:avLst/>
          </a:prstGeom>
          <a:noFill/>
          <a:ln w="12700">
            <a:solidFill>
              <a:srgbClr val="D6CCC2"/>
            </a:solidFill>
            <a:prstDash val="dash"/>
          </a:ln>
        </p:spPr>
      </p:sp>
      <p:sp>
        <p:nvSpPr>
          <p:cNvPr id="37" name="Shape 35"/>
          <p:cNvSpPr/>
          <p:nvPr/>
        </p:nvSpPr>
        <p:spPr>
          <a:xfrm>
            <a:off x="9034272" y="2194560"/>
            <a:ext cx="2944368" cy="786384"/>
          </a:xfrm>
          <a:prstGeom prst="rect">
            <a:avLst/>
          </a:prstGeom>
          <a:solidFill>
            <a:srgbClr val="F7F4F0"/>
          </a:solidFill>
          <a:ln w="9525">
            <a:solidFill>
              <a:srgbClr val="D6CCC2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9034272" y="2194560"/>
            <a:ext cx="64008" cy="786384"/>
          </a:xfrm>
          <a:prstGeom prst="rect">
            <a:avLst/>
          </a:prstGeom>
          <a:solidFill>
            <a:srgbClr val="A89580"/>
          </a:solidFill>
          <a:ln w="12700">
            <a:solidFill>
              <a:srgbClr val="A8958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198864" y="2286000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Layer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9198864" y="261518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queries on production Oracle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7242048" y="2468880"/>
            <a:ext cx="1792224" cy="118872"/>
          </a:xfrm>
          <a:prstGeom prst="line">
            <a:avLst/>
          </a:prstGeom>
          <a:noFill/>
          <a:ln w="12700">
            <a:solidFill>
              <a:srgbClr val="D6CCC2"/>
            </a:solidFill>
            <a:prstDash val="dash"/>
          </a:ln>
        </p:spPr>
      </p:sp>
      <p:sp>
        <p:nvSpPr>
          <p:cNvPr id="42" name="Shape 40"/>
          <p:cNvSpPr/>
          <p:nvPr/>
        </p:nvSpPr>
        <p:spPr>
          <a:xfrm>
            <a:off x="9034272" y="3200400"/>
            <a:ext cx="2944368" cy="786384"/>
          </a:xfrm>
          <a:prstGeom prst="rect">
            <a:avLst/>
          </a:prstGeom>
          <a:solidFill>
            <a:srgbClr val="F7F4F0"/>
          </a:solidFill>
          <a:ln w="9525">
            <a:solidFill>
              <a:srgbClr val="D6CCC2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9034272" y="3200400"/>
            <a:ext cx="64008" cy="786384"/>
          </a:xfrm>
          <a:prstGeom prst="rect">
            <a:avLst/>
          </a:prstGeom>
          <a:solidFill>
            <a:srgbClr val="A89580"/>
          </a:solidFill>
          <a:ln w="12700">
            <a:solidFill>
              <a:srgbClr val="A8958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198864" y="3291840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Integrations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9198864" y="362102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 / direct database access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7242048" y="2468880"/>
            <a:ext cx="1792224" cy="1124712"/>
          </a:xfrm>
          <a:prstGeom prst="line">
            <a:avLst/>
          </a:prstGeom>
          <a:noFill/>
          <a:ln w="12700">
            <a:solidFill>
              <a:srgbClr val="D6CCC2"/>
            </a:solidFill>
            <a:prstDash val="dash"/>
          </a:ln>
        </p:spPr>
      </p:sp>
      <p:sp>
        <p:nvSpPr>
          <p:cNvPr id="47" name="Shape 45"/>
          <p:cNvSpPr/>
          <p:nvPr/>
        </p:nvSpPr>
        <p:spPr>
          <a:xfrm>
            <a:off x="201168" y="4114800"/>
            <a:ext cx="3858768" cy="914400"/>
          </a:xfrm>
          <a:prstGeom prst="rect">
            <a:avLst/>
          </a:prstGeom>
          <a:solidFill>
            <a:srgbClr val="FEF0D4"/>
          </a:solidFill>
          <a:ln w="9525">
            <a:solidFill>
              <a:srgbClr val="D6CCC2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201168" y="4114800"/>
            <a:ext cx="64008" cy="914400"/>
          </a:xfrm>
          <a:prstGeom prst="rect">
            <a:avLst/>
          </a:prstGeom>
          <a:solidFill>
            <a:srgbClr val="9B6010"/>
          </a:solidFill>
          <a:ln w="12700">
            <a:solidFill>
              <a:srgbClr val="9B601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84048" y="420624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B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DB Anti-Pattern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384048" y="449884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services read/write same Oracle — any schema change is a system-wide event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4197096" y="4114800"/>
            <a:ext cx="3858768" cy="914400"/>
          </a:xfrm>
          <a:prstGeom prst="rect">
            <a:avLst/>
          </a:prstGeom>
          <a:solidFill>
            <a:srgbClr val="FEF0D4"/>
          </a:solidFill>
          <a:ln w="9525">
            <a:solidFill>
              <a:srgbClr val="D6CCC2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4197096" y="4114800"/>
            <a:ext cx="64008" cy="914400"/>
          </a:xfrm>
          <a:prstGeom prst="rect">
            <a:avLst/>
          </a:prstGeom>
          <a:solidFill>
            <a:srgbClr val="9B6010"/>
          </a:solidFill>
          <a:ln w="12700">
            <a:solidFill>
              <a:srgbClr val="9B601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379976" y="420624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B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Trapped in Database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4379976" y="449884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~10k stored procedures = untestable, unversionable, undocumentable business logic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8193024" y="4114800"/>
            <a:ext cx="3858768" cy="914400"/>
          </a:xfrm>
          <a:prstGeom prst="rect">
            <a:avLst/>
          </a:prstGeom>
          <a:solidFill>
            <a:srgbClr val="FEF0D4"/>
          </a:solidFill>
          <a:ln w="9525">
            <a:solidFill>
              <a:srgbClr val="D6CCC2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8193024" y="4114800"/>
            <a:ext cx="64008" cy="914400"/>
          </a:xfrm>
          <a:prstGeom prst="rect">
            <a:avLst/>
          </a:prstGeom>
          <a:solidFill>
            <a:srgbClr val="9B6010"/>
          </a:solidFill>
          <a:ln w="12700">
            <a:solidFill>
              <a:srgbClr val="9B601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375904" y="420624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B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Horizontal Scaling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8375904" y="449884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Oracle on VSI — cannot auto-scale; outages are expected, not exceptional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201168" y="5157216"/>
            <a:ext cx="3858768" cy="914400"/>
          </a:xfrm>
          <a:prstGeom prst="rect">
            <a:avLst/>
          </a:prstGeom>
          <a:solidFill>
            <a:srgbClr val="F7F4F0"/>
          </a:solidFill>
          <a:ln w="9525">
            <a:solidFill>
              <a:srgbClr val="D6CCC2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201168" y="5157216"/>
            <a:ext cx="64008" cy="914400"/>
          </a:xfrm>
          <a:prstGeom prst="rect">
            <a:avLst/>
          </a:prstGeom>
          <a:solidFill>
            <a:srgbClr val="9B6010"/>
          </a:solidFill>
          <a:ln w="12700">
            <a:solidFill>
              <a:srgbClr val="9B601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84048" y="524865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B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Batch-Only Processing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384048" y="5541264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streaming; STP capped at 20% — high manual load every transaction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4197096" y="5157216"/>
            <a:ext cx="3858768" cy="914400"/>
          </a:xfrm>
          <a:prstGeom prst="rect">
            <a:avLst/>
          </a:prstGeom>
          <a:solidFill>
            <a:srgbClr val="F7F4F0"/>
          </a:solidFill>
          <a:ln w="9525">
            <a:solidFill>
              <a:srgbClr val="D6CCC2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4197096" y="5157216"/>
            <a:ext cx="64008" cy="914400"/>
          </a:xfrm>
          <a:prstGeom prst="rect">
            <a:avLst/>
          </a:prstGeom>
          <a:solidFill>
            <a:srgbClr val="9B6010"/>
          </a:solidFill>
          <a:ln w="12700">
            <a:solidFill>
              <a:srgbClr val="9B601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379976" y="524865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B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Mule ESB Spaghetti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4379976" y="5541264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Hundreds of undocumented flows; tight coupling means any change risks outage everywhere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8193024" y="5157216"/>
            <a:ext cx="3858768" cy="914400"/>
          </a:xfrm>
          <a:prstGeom prst="rect">
            <a:avLst/>
          </a:prstGeom>
          <a:solidFill>
            <a:srgbClr val="F7F4F0"/>
          </a:solidFill>
          <a:ln w="9525">
            <a:solidFill>
              <a:srgbClr val="D6CCC2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68" name="Shape 66"/>
          <p:cNvSpPr/>
          <p:nvPr/>
        </p:nvSpPr>
        <p:spPr>
          <a:xfrm>
            <a:off x="8193024" y="5157216"/>
            <a:ext cx="64008" cy="914400"/>
          </a:xfrm>
          <a:prstGeom prst="rect">
            <a:avLst/>
          </a:prstGeom>
          <a:solidFill>
            <a:srgbClr val="9B6010"/>
          </a:solidFill>
          <a:ln w="12700">
            <a:solidFill>
              <a:srgbClr val="9B601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8375904" y="524865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B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Observability</a:t>
            </a:r>
            <a:endParaRPr lang="en-US" sz="950" dirty="0"/>
          </a:p>
        </p:txBody>
      </p:sp>
      <p:sp>
        <p:nvSpPr>
          <p:cNvPr id="70" name="Text 68"/>
          <p:cNvSpPr/>
          <p:nvPr/>
        </p:nvSpPr>
        <p:spPr>
          <a:xfrm>
            <a:off x="8375904" y="5541264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distributed tracing, no metrics — failures discovered by clients before operations team</a:t>
            </a:r>
            <a:endParaRPr lang="en-US" sz="850" dirty="0"/>
          </a:p>
        </p:txBody>
      </p:sp>
      <p:sp>
        <p:nvSpPr>
          <p:cNvPr id="71" name="Text 69"/>
          <p:cNvSpPr/>
          <p:nvPr/>
        </p:nvSpPr>
        <p:spPr>
          <a:xfrm>
            <a:off x="365760" y="6675120"/>
            <a:ext cx="11430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89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Trade Platform Migration Strategy  ·  2025–2030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5C3317"/>
          </a:solidFill>
          <a:ln/>
        </p:spPr>
      </p:sp>
      <p:sp>
        <p:nvSpPr>
          <p:cNvPr id="3" name="Text 1"/>
          <p:cNvSpPr/>
          <p:nvPr/>
        </p:nvSpPr>
        <p:spPr>
          <a:xfrm>
            <a:off x="201168" y="82296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TPS — Present State Infrastructure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201168" y="448056"/>
            <a:ext cx="8686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Monolithic Oracle-centred architecture · ~3,200 tables · ~10,000 stored procedures · single point of failure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128016" y="676656"/>
            <a:ext cx="7991856" cy="1005840"/>
          </a:xfrm>
          <a:prstGeom prst="rect">
            <a:avLst/>
          </a:prstGeom>
          <a:solidFill>
            <a:srgbClr val="F5EFE8"/>
          </a:solidFill>
          <a:ln w="6350">
            <a:solidFill>
              <a:srgbClr val="B8A89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676656"/>
            <a:ext cx="6583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spc="50" kern="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600" dirty="0"/>
          </a:p>
          <a:p>
            <a:pPr algn="ctr" indent="0" marL="0">
              <a:buNone/>
            </a:pPr>
            <a:r>
              <a:rPr lang="en-US" sz="600" b="1" spc="50" kern="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600" dirty="0"/>
          </a:p>
        </p:txBody>
      </p:sp>
      <p:sp>
        <p:nvSpPr>
          <p:cNvPr id="7" name="Shape 5"/>
          <p:cNvSpPr/>
          <p:nvPr/>
        </p:nvSpPr>
        <p:spPr>
          <a:xfrm>
            <a:off x="932688" y="786384"/>
            <a:ext cx="347472" cy="347472"/>
          </a:xfrm>
          <a:prstGeom prst="ellipse">
            <a:avLst/>
          </a:prstGeom>
          <a:solidFill>
            <a:srgbClr val="F3E8DE"/>
          </a:solidFill>
          <a:ln w="9525">
            <a:solidFill>
              <a:srgbClr val="C9A8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7863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👤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77824" y="11704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650" dirty="0"/>
          </a:p>
        </p:txBody>
      </p:sp>
      <p:sp>
        <p:nvSpPr>
          <p:cNvPr id="10" name="Shape 8"/>
          <p:cNvSpPr/>
          <p:nvPr/>
        </p:nvSpPr>
        <p:spPr>
          <a:xfrm>
            <a:off x="1463040" y="768096"/>
            <a:ext cx="1828800" cy="731520"/>
          </a:xfrm>
          <a:prstGeom prst="rect">
            <a:avLst/>
          </a:prstGeom>
          <a:solidFill>
            <a:srgbClr val="FEF0D4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17904" y="804672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2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GWT / GXT Core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517904" y="1078992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UI · no API layer</a:t>
            </a:r>
            <a:endParaRPr lang="en-US" sz="650" dirty="0"/>
          </a:p>
          <a:p>
            <a:pPr indent="0" marL="0">
              <a:buNone/>
            </a:pPr>
            <a:r>
              <a:rPr lang="en-US" sz="650" i="1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DB coupling</a:t>
            </a:r>
            <a:endParaRPr lang="en-US" sz="650" dirty="0"/>
          </a:p>
        </p:txBody>
      </p:sp>
      <p:sp>
        <p:nvSpPr>
          <p:cNvPr id="13" name="Shape 11"/>
          <p:cNvSpPr/>
          <p:nvPr/>
        </p:nvSpPr>
        <p:spPr>
          <a:xfrm>
            <a:off x="3145536" y="768096"/>
            <a:ext cx="256032" cy="1645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45536" y="768096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1463040" y="1517904"/>
            <a:ext cx="822960" cy="201168"/>
          </a:xfrm>
          <a:prstGeom prst="rect">
            <a:avLst/>
          </a:prstGeom>
          <a:solidFill>
            <a:srgbClr val="EDE6DF"/>
          </a:solidFill>
          <a:ln w="6350">
            <a:solidFill>
              <a:srgbClr val="B8A89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499616" y="1005840"/>
            <a:ext cx="713232" cy="1828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99616" y="1005840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Gemfire Cache</a:t>
            </a:r>
            <a:endParaRPr lang="en-US" sz="550" dirty="0"/>
          </a:p>
        </p:txBody>
      </p:sp>
      <p:sp>
        <p:nvSpPr>
          <p:cNvPr id="18" name="Shape 16"/>
          <p:cNvSpPr/>
          <p:nvPr/>
        </p:nvSpPr>
        <p:spPr>
          <a:xfrm>
            <a:off x="3438144" y="731520"/>
            <a:ext cx="1188720" cy="786384"/>
          </a:xfrm>
          <a:prstGeom prst="rect">
            <a:avLst/>
          </a:prstGeom>
          <a:solidFill>
            <a:srgbClr val="F7F4F0"/>
          </a:solidFill>
          <a:ln w="9525">
            <a:solidFill>
              <a:srgbClr val="D6CCC2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15">
                <a:alpha val="7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502152" y="768096"/>
            <a:ext cx="1060704" cy="118872"/>
          </a:xfrm>
          <a:prstGeom prst="rect">
            <a:avLst/>
          </a:prstGeom>
          <a:solidFill>
            <a:srgbClr val="E8E0D6"/>
          </a:solidFill>
          <a:ln w="5080">
            <a:solidFill>
              <a:srgbClr val="B8A89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462272" y="795528"/>
            <a:ext cx="64008" cy="64008"/>
          </a:xfrm>
          <a:prstGeom prst="ellipse">
            <a:avLst/>
          </a:prstGeom>
          <a:solidFill>
            <a:srgbClr val="5C7A50"/>
          </a:solidFill>
          <a:ln w="12700">
            <a:solidFill>
              <a:srgbClr val="B8A89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02152" y="914400"/>
            <a:ext cx="1060704" cy="118872"/>
          </a:xfrm>
          <a:prstGeom prst="rect">
            <a:avLst/>
          </a:prstGeom>
          <a:solidFill>
            <a:srgbClr val="EDE6DF"/>
          </a:solidFill>
          <a:ln w="5080">
            <a:solidFill>
              <a:srgbClr val="B8A89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62272" y="941832"/>
            <a:ext cx="64008" cy="64008"/>
          </a:xfrm>
          <a:prstGeom prst="ellipse">
            <a:avLst/>
          </a:prstGeom>
          <a:solidFill>
            <a:srgbClr val="5C7A50"/>
          </a:solidFill>
          <a:ln w="12700">
            <a:solidFill>
              <a:srgbClr val="B8A89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502152" y="1060704"/>
            <a:ext cx="1060704" cy="118872"/>
          </a:xfrm>
          <a:prstGeom prst="rect">
            <a:avLst/>
          </a:prstGeom>
          <a:solidFill>
            <a:srgbClr val="E8E0D6"/>
          </a:solidFill>
          <a:ln w="5080">
            <a:solidFill>
              <a:srgbClr val="B8A89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62272" y="1088136"/>
            <a:ext cx="64008" cy="64008"/>
          </a:xfrm>
          <a:prstGeom prst="ellipse">
            <a:avLst/>
          </a:prstGeom>
          <a:solidFill>
            <a:srgbClr val="B8A898"/>
          </a:solidFill>
          <a:ln w="12700">
            <a:solidFill>
              <a:srgbClr val="B8A89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502152" y="1207008"/>
            <a:ext cx="1060704" cy="118872"/>
          </a:xfrm>
          <a:prstGeom prst="rect">
            <a:avLst/>
          </a:prstGeom>
          <a:solidFill>
            <a:srgbClr val="EDE6DF"/>
          </a:solidFill>
          <a:ln w="5080">
            <a:solidFill>
              <a:srgbClr val="B8A89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462272" y="1234440"/>
            <a:ext cx="64008" cy="64008"/>
          </a:xfrm>
          <a:prstGeom prst="ellipse">
            <a:avLst/>
          </a:prstGeom>
          <a:solidFill>
            <a:srgbClr val="B8A898"/>
          </a:solidFill>
          <a:ln w="12700">
            <a:solidFill>
              <a:srgbClr val="B8A89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502152" y="1353312"/>
            <a:ext cx="1060704" cy="118872"/>
          </a:xfrm>
          <a:prstGeom prst="rect">
            <a:avLst/>
          </a:prstGeom>
          <a:solidFill>
            <a:srgbClr val="E8E0D6"/>
          </a:solidFill>
          <a:ln w="5080">
            <a:solidFill>
              <a:srgbClr val="B8A89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462272" y="1380744"/>
            <a:ext cx="64008" cy="64008"/>
          </a:xfrm>
          <a:prstGeom prst="ellipse">
            <a:avLst/>
          </a:prstGeom>
          <a:solidFill>
            <a:srgbClr val="B8A898"/>
          </a:solidFill>
          <a:ln w="12700">
            <a:solidFill>
              <a:srgbClr val="B8A89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38144" y="153619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3346704" y="1719072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i="1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Attached Storage</a:t>
            </a:r>
            <a:endParaRPr lang="en-US" sz="550" dirty="0"/>
          </a:p>
        </p:txBody>
      </p:sp>
      <p:sp>
        <p:nvSpPr>
          <p:cNvPr id="31" name="Shape 29"/>
          <p:cNvSpPr/>
          <p:nvPr/>
        </p:nvSpPr>
        <p:spPr>
          <a:xfrm>
            <a:off x="7095744" y="768096"/>
            <a:ext cx="914400" cy="731520"/>
          </a:xfrm>
          <a:prstGeom prst="rect">
            <a:avLst/>
          </a:prstGeom>
          <a:solidFill>
            <a:srgbClr val="F7F4F0"/>
          </a:solidFill>
          <a:ln w="9525">
            <a:solidFill>
              <a:srgbClr val="D6CCC2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15">
                <a:alpha val="7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7150608" y="813816"/>
            <a:ext cx="804672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SmartDX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7150608" y="1163117"/>
            <a:ext cx="804672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i="1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 generation</a:t>
            </a:r>
            <a:endParaRPr lang="en-US" sz="600" dirty="0"/>
          </a:p>
          <a:p>
            <a:pPr indent="0" marL="0">
              <a:buNone/>
            </a:pPr>
            <a:r>
              <a:rPr lang="en-US" sz="600" i="1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management</a:t>
            </a:r>
            <a:endParaRPr lang="en-US" sz="600" dirty="0"/>
          </a:p>
        </p:txBody>
      </p:sp>
      <p:sp>
        <p:nvSpPr>
          <p:cNvPr id="34" name="Shape 32"/>
          <p:cNvSpPr/>
          <p:nvPr/>
        </p:nvSpPr>
        <p:spPr>
          <a:xfrm>
            <a:off x="4937760" y="768096"/>
            <a:ext cx="2011680" cy="731520"/>
          </a:xfrm>
          <a:prstGeom prst="rect">
            <a:avLst/>
          </a:prstGeom>
          <a:solidFill>
            <a:srgbClr val="F7F4F0"/>
          </a:solidFill>
          <a:ln w="9525">
            <a:solidFill>
              <a:srgbClr val="D6CCC2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15">
                <a:alpha val="7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992624" y="813816"/>
            <a:ext cx="1901952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Batch / Autosys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4992624" y="1163117"/>
            <a:ext cx="1901952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i="1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Overnight batch only</a:t>
            </a:r>
            <a:endParaRPr lang="en-US" sz="600" dirty="0"/>
          </a:p>
          <a:p>
            <a:pPr indent="0" marL="0">
              <a:buNone/>
            </a:pPr>
            <a:r>
              <a:rPr lang="en-US" sz="600" i="1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events</a:t>
            </a:r>
            <a:endParaRPr lang="en-US" sz="600" dirty="0"/>
          </a:p>
        </p:txBody>
      </p:sp>
      <p:sp>
        <p:nvSpPr>
          <p:cNvPr id="37" name="Shape 35"/>
          <p:cNvSpPr/>
          <p:nvPr/>
        </p:nvSpPr>
        <p:spPr>
          <a:xfrm>
            <a:off x="6803136" y="768096"/>
            <a:ext cx="256032" cy="1645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03136" y="768096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1280160" y="969264"/>
            <a:ext cx="182880" cy="9144"/>
          </a:xfrm>
          <a:prstGeom prst="line">
            <a:avLst/>
          </a:prstGeom>
          <a:noFill/>
          <a:ln w="9525">
            <a:solidFill>
              <a:srgbClr val="C9A882"/>
            </a:solidFill>
            <a:prstDash val="solid"/>
            <a:tailEnd type="arrow"/>
          </a:ln>
        </p:spPr>
      </p:sp>
      <p:sp>
        <p:nvSpPr>
          <p:cNvPr id="40" name="Shape 38"/>
          <p:cNvSpPr/>
          <p:nvPr/>
        </p:nvSpPr>
        <p:spPr>
          <a:xfrm>
            <a:off x="128016" y="1737360"/>
            <a:ext cx="7991856" cy="1444752"/>
          </a:xfrm>
          <a:prstGeom prst="rect">
            <a:avLst/>
          </a:prstGeom>
          <a:solidFill>
            <a:srgbClr val="FEF0D4"/>
          </a:solidFill>
          <a:ln w="6350">
            <a:solidFill>
              <a:srgbClr val="B8A89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82880" y="1737360"/>
            <a:ext cx="658368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spc="50" kern="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600" dirty="0"/>
          </a:p>
          <a:p>
            <a:pPr algn="ctr" indent="0" marL="0">
              <a:buNone/>
            </a:pPr>
            <a:r>
              <a:rPr lang="en-US" sz="600" b="1" spc="50" kern="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600" dirty="0"/>
          </a:p>
        </p:txBody>
      </p:sp>
      <p:sp>
        <p:nvSpPr>
          <p:cNvPr id="42" name="Shape 40"/>
          <p:cNvSpPr/>
          <p:nvPr/>
        </p:nvSpPr>
        <p:spPr>
          <a:xfrm>
            <a:off x="3383280" y="2048256"/>
            <a:ext cx="2212848" cy="969264"/>
          </a:xfrm>
          <a:prstGeom prst="ellipse">
            <a:avLst/>
          </a:prstGeom>
          <a:solidFill>
            <a:srgbClr val="E8C9A0"/>
          </a:solidFill>
          <a:ln w="12700">
            <a:solidFill>
              <a:srgbClr val="E8C9A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328416" y="1975104"/>
            <a:ext cx="2322576" cy="877824"/>
          </a:xfrm>
          <a:prstGeom prst="rect">
            <a:avLst/>
          </a:prstGeom>
          <a:solidFill>
            <a:srgbClr val="FEF0D4"/>
          </a:solidFill>
          <a:ln w="25400">
            <a:solidFill>
              <a:srgbClr val="C0392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328416" y="2724912"/>
            <a:ext cx="2322576" cy="256032"/>
          </a:xfrm>
          <a:prstGeom prst="ellipse">
            <a:avLst/>
          </a:prstGeom>
          <a:solidFill>
            <a:srgbClr val="FEF0D4"/>
          </a:solidFill>
          <a:ln w="25400">
            <a:solidFill>
              <a:srgbClr val="C0392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328416" y="1847088"/>
            <a:ext cx="2322576" cy="25603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401568" y="1847088"/>
            <a:ext cx="2176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3401568" y="2048256"/>
            <a:ext cx="2176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2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TPS DATABASE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3401568" y="2304288"/>
            <a:ext cx="2176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3,200 tables · ~10k stored procs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3401568" y="2523744"/>
            <a:ext cx="2176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POINT OF FAILURE</a:t>
            </a:r>
            <a:endParaRPr lang="en-US" sz="650" dirty="0"/>
          </a:p>
        </p:txBody>
      </p:sp>
      <p:sp>
        <p:nvSpPr>
          <p:cNvPr id="50" name="Shape 48"/>
          <p:cNvSpPr/>
          <p:nvPr/>
        </p:nvSpPr>
        <p:spPr>
          <a:xfrm>
            <a:off x="5358384" y="1847088"/>
            <a:ext cx="256032" cy="1645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358384" y="184708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3877056" y="1737360"/>
            <a:ext cx="155448" cy="109728"/>
          </a:xfrm>
          <a:prstGeom prst="line">
            <a:avLst/>
          </a:prstGeom>
          <a:noFill/>
          <a:ln w="9525">
            <a:solidFill>
              <a:srgbClr val="C9A882"/>
            </a:solidFill>
            <a:prstDash val="solid"/>
            <a:tailEnd type="arrow"/>
          </a:ln>
        </p:spPr>
      </p:sp>
      <p:sp>
        <p:nvSpPr>
          <p:cNvPr id="53" name="Shape 51"/>
          <p:cNvSpPr/>
          <p:nvPr/>
        </p:nvSpPr>
        <p:spPr>
          <a:xfrm>
            <a:off x="932688" y="2578608"/>
            <a:ext cx="1188720" cy="512064"/>
          </a:xfrm>
          <a:prstGeom prst="rect">
            <a:avLst/>
          </a:prstGeom>
          <a:solidFill>
            <a:srgbClr val="F7F4F0"/>
          </a:solidFill>
          <a:ln w="9525">
            <a:solidFill>
              <a:srgbClr val="D6CCC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932688" y="2944368"/>
            <a:ext cx="1188720" cy="146304"/>
          </a:xfrm>
          <a:prstGeom prst="ellipse">
            <a:avLst/>
          </a:prstGeom>
          <a:solidFill>
            <a:srgbClr val="F7F4F0"/>
          </a:solidFill>
          <a:ln w="9525">
            <a:solidFill>
              <a:srgbClr val="D6CCC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932688" y="2505456"/>
            <a:ext cx="1188720" cy="146304"/>
          </a:xfrm>
          <a:prstGeom prst="ellipse">
            <a:avLst/>
          </a:prstGeom>
          <a:solidFill>
            <a:srgbClr val="D6CCC2"/>
          </a:solidFill>
          <a:ln w="12700">
            <a:solidFill>
              <a:srgbClr val="D6CCC2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69264" y="2615184"/>
            <a:ext cx="1115568" cy="2662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Imaging DB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2212848" y="2505456"/>
            <a:ext cx="1005840" cy="512064"/>
          </a:xfrm>
          <a:prstGeom prst="rect">
            <a:avLst/>
          </a:prstGeom>
          <a:solidFill>
            <a:srgbClr val="F7F4F0"/>
          </a:solidFill>
          <a:ln w="9525">
            <a:solidFill>
              <a:srgbClr val="D6CCC2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15">
                <a:alpha val="75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2267712" y="2505456"/>
            <a:ext cx="8961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Imaging</a:t>
            </a: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Svc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3218688" y="2523744"/>
            <a:ext cx="109728" cy="219456"/>
          </a:xfrm>
          <a:prstGeom prst="line">
            <a:avLst/>
          </a:prstGeom>
          <a:noFill/>
          <a:ln w="9525">
            <a:solidFill>
              <a:srgbClr val="C9A882"/>
            </a:solidFill>
            <a:prstDash val="solid"/>
            <a:tailEnd type="arrow"/>
          </a:ln>
        </p:spPr>
      </p:sp>
      <p:sp>
        <p:nvSpPr>
          <p:cNvPr id="60" name="Shape 58"/>
          <p:cNvSpPr/>
          <p:nvPr/>
        </p:nvSpPr>
        <p:spPr>
          <a:xfrm>
            <a:off x="3291840" y="1133856"/>
            <a:ext cx="310896" cy="603504"/>
          </a:xfrm>
          <a:prstGeom prst="line">
            <a:avLst/>
          </a:prstGeom>
          <a:noFill/>
          <a:ln w="9525">
            <a:solidFill>
              <a:srgbClr val="C9A882"/>
            </a:solidFill>
            <a:prstDash val="solid"/>
            <a:tailEnd type="arrow"/>
          </a:ln>
        </p:spPr>
      </p:sp>
      <p:sp>
        <p:nvSpPr>
          <p:cNvPr id="61" name="Shape 59"/>
          <p:cNvSpPr/>
          <p:nvPr/>
        </p:nvSpPr>
        <p:spPr>
          <a:xfrm>
            <a:off x="6986016" y="1682496"/>
            <a:ext cx="9144" cy="54864"/>
          </a:xfrm>
          <a:prstGeom prst="line">
            <a:avLst/>
          </a:prstGeom>
          <a:noFill/>
          <a:ln w="9525">
            <a:solidFill>
              <a:srgbClr val="C9A882"/>
            </a:solidFill>
            <a:prstDash val="solid"/>
            <a:tailEnd type="arrow"/>
          </a:ln>
        </p:spPr>
      </p:sp>
      <p:sp>
        <p:nvSpPr>
          <p:cNvPr id="62" name="Shape 60"/>
          <p:cNvSpPr/>
          <p:nvPr/>
        </p:nvSpPr>
        <p:spPr>
          <a:xfrm>
            <a:off x="5650992" y="1737360"/>
            <a:ext cx="1335024" cy="457200"/>
          </a:xfrm>
          <a:prstGeom prst="line">
            <a:avLst/>
          </a:prstGeom>
          <a:noFill/>
          <a:ln w="9525">
            <a:solidFill>
              <a:srgbClr val="C9A882"/>
            </a:solidFill>
            <a:prstDash val="solid"/>
            <a:tailEnd type="arrow"/>
          </a:ln>
        </p:spPr>
      </p:sp>
      <p:sp>
        <p:nvSpPr>
          <p:cNvPr id="63" name="Shape 61"/>
          <p:cNvSpPr/>
          <p:nvPr/>
        </p:nvSpPr>
        <p:spPr>
          <a:xfrm>
            <a:off x="128016" y="3236976"/>
            <a:ext cx="7991856" cy="1024128"/>
          </a:xfrm>
          <a:prstGeom prst="rect">
            <a:avLst/>
          </a:prstGeom>
          <a:solidFill>
            <a:srgbClr val="F7F4F0"/>
          </a:solidFill>
          <a:ln w="6350">
            <a:solidFill>
              <a:srgbClr val="B8A898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82880" y="3236976"/>
            <a:ext cx="65836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spc="50" kern="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</a:t>
            </a:r>
            <a:endParaRPr lang="en-US" sz="600" dirty="0"/>
          </a:p>
          <a:p>
            <a:pPr algn="ctr" indent="0" marL="0">
              <a:buNone/>
            </a:pPr>
            <a:r>
              <a:rPr lang="en-US" sz="600" b="1" spc="50" kern="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</a:t>
            </a:r>
            <a:endParaRPr lang="en-US" sz="600" dirty="0"/>
          </a:p>
        </p:txBody>
      </p:sp>
      <p:sp>
        <p:nvSpPr>
          <p:cNvPr id="65" name="Shape 63"/>
          <p:cNvSpPr/>
          <p:nvPr/>
        </p:nvSpPr>
        <p:spPr>
          <a:xfrm>
            <a:off x="932688" y="3328416"/>
            <a:ext cx="49377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dash"/>
          </a:ln>
        </p:spPr>
      </p:sp>
      <p:sp>
        <p:nvSpPr>
          <p:cNvPr id="66" name="Text 64"/>
          <p:cNvSpPr/>
          <p:nvPr/>
        </p:nvSpPr>
        <p:spPr>
          <a:xfrm>
            <a:off x="987552" y="3346704"/>
            <a:ext cx="4828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8B2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MULE ESB  — Spaghetti Integration Layer</a:t>
            </a:r>
            <a:endParaRPr lang="en-US" sz="700" dirty="0"/>
          </a:p>
        </p:txBody>
      </p:sp>
      <p:sp>
        <p:nvSpPr>
          <p:cNvPr id="67" name="Shape 65"/>
          <p:cNvSpPr/>
          <p:nvPr/>
        </p:nvSpPr>
        <p:spPr>
          <a:xfrm>
            <a:off x="5669280" y="3328416"/>
            <a:ext cx="256032" cy="1645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669280" y="3328416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987552" y="3547872"/>
            <a:ext cx="969264" cy="475488"/>
          </a:xfrm>
          <a:prstGeom prst="rect">
            <a:avLst/>
          </a:prstGeom>
          <a:solidFill>
            <a:srgbClr val="F7F4F0"/>
          </a:solidFill>
          <a:ln w="9525">
            <a:solidFill>
              <a:srgbClr val="D6CCC2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15">
                <a:alpha val="75000"/>
              </a:srgbClr>
            </a:outerShdw>
          </a:effectLst>
        </p:spPr>
      </p:sp>
      <p:sp>
        <p:nvSpPr>
          <p:cNvPr id="70" name="Text 68"/>
          <p:cNvSpPr/>
          <p:nvPr/>
        </p:nvSpPr>
        <p:spPr>
          <a:xfrm>
            <a:off x="1042416" y="3547872"/>
            <a:ext cx="8595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Pollers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2103120" y="3547872"/>
            <a:ext cx="969264" cy="475488"/>
          </a:xfrm>
          <a:prstGeom prst="rect">
            <a:avLst/>
          </a:prstGeom>
          <a:solidFill>
            <a:srgbClr val="F7F4F0"/>
          </a:solidFill>
          <a:ln w="9525">
            <a:solidFill>
              <a:srgbClr val="D6CCC2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15">
                <a:alpha val="75000"/>
              </a:srgbClr>
            </a:outerShdw>
          </a:effectLst>
        </p:spPr>
      </p:sp>
      <p:sp>
        <p:nvSpPr>
          <p:cNvPr id="72" name="Text 70"/>
          <p:cNvSpPr/>
          <p:nvPr/>
        </p:nvSpPr>
        <p:spPr>
          <a:xfrm>
            <a:off x="2157984" y="3547872"/>
            <a:ext cx="8595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Mule Flows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3218688" y="3547872"/>
            <a:ext cx="969264" cy="475488"/>
          </a:xfrm>
          <a:prstGeom prst="rect">
            <a:avLst/>
          </a:prstGeom>
          <a:solidFill>
            <a:srgbClr val="F7F4F0"/>
          </a:solidFill>
          <a:ln w="9525">
            <a:solidFill>
              <a:srgbClr val="D6CCC2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15">
                <a:alpha val="75000"/>
              </a:srgbClr>
            </a:outerShdw>
          </a:effectLst>
        </p:spPr>
      </p:sp>
      <p:sp>
        <p:nvSpPr>
          <p:cNvPr id="74" name="Text 72"/>
          <p:cNvSpPr/>
          <p:nvPr/>
        </p:nvSpPr>
        <p:spPr>
          <a:xfrm>
            <a:off x="3273552" y="3547872"/>
            <a:ext cx="8595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Mule</a:t>
            </a:r>
            <a:endParaRPr lang="en-US" sz="750" dirty="0"/>
          </a:p>
        </p:txBody>
      </p:sp>
      <p:sp>
        <p:nvSpPr>
          <p:cNvPr id="75" name="Shape 73"/>
          <p:cNvSpPr/>
          <p:nvPr/>
        </p:nvSpPr>
        <p:spPr>
          <a:xfrm>
            <a:off x="5925312" y="3328416"/>
            <a:ext cx="1188720" cy="347472"/>
          </a:xfrm>
          <a:prstGeom prst="rect">
            <a:avLst/>
          </a:prstGeom>
          <a:solidFill>
            <a:srgbClr val="F7F4F0"/>
          </a:solidFill>
          <a:ln w="9525">
            <a:solidFill>
              <a:srgbClr val="D6CCC2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15">
                <a:alpha val="75000"/>
              </a:srgbClr>
            </a:outerShdw>
          </a:effectLst>
        </p:spPr>
      </p:sp>
      <p:sp>
        <p:nvSpPr>
          <p:cNvPr id="76" name="Text 74"/>
          <p:cNvSpPr/>
          <p:nvPr/>
        </p:nvSpPr>
        <p:spPr>
          <a:xfrm>
            <a:off x="5980176" y="3328416"/>
            <a:ext cx="1078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Engine</a:t>
            </a:r>
            <a:endParaRPr lang="en-US" sz="750" dirty="0"/>
          </a:p>
        </p:txBody>
      </p:sp>
      <p:sp>
        <p:nvSpPr>
          <p:cNvPr id="77" name="Shape 75"/>
          <p:cNvSpPr/>
          <p:nvPr/>
        </p:nvSpPr>
        <p:spPr>
          <a:xfrm>
            <a:off x="5925312" y="3712464"/>
            <a:ext cx="1188720" cy="347472"/>
          </a:xfrm>
          <a:prstGeom prst="rect">
            <a:avLst/>
          </a:prstGeom>
          <a:solidFill>
            <a:srgbClr val="F7F4F0"/>
          </a:solidFill>
          <a:ln w="9525">
            <a:solidFill>
              <a:srgbClr val="D6CCC2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15">
                <a:alpha val="75000"/>
              </a:srgbClr>
            </a:outerShdw>
          </a:effectLst>
        </p:spPr>
      </p:sp>
      <p:sp>
        <p:nvSpPr>
          <p:cNvPr id="78" name="Text 76"/>
          <p:cNvSpPr/>
          <p:nvPr/>
        </p:nvSpPr>
        <p:spPr>
          <a:xfrm>
            <a:off x="5980176" y="3712464"/>
            <a:ext cx="1078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Engine</a:t>
            </a:r>
            <a:endParaRPr lang="en-US" sz="750" dirty="0"/>
          </a:p>
        </p:txBody>
      </p:sp>
      <p:sp>
        <p:nvSpPr>
          <p:cNvPr id="79" name="Shape 77"/>
          <p:cNvSpPr/>
          <p:nvPr/>
        </p:nvSpPr>
        <p:spPr>
          <a:xfrm>
            <a:off x="4489704" y="3182112"/>
            <a:ext cx="9144" cy="54864"/>
          </a:xfrm>
          <a:prstGeom prst="line">
            <a:avLst/>
          </a:prstGeom>
          <a:noFill/>
          <a:ln w="9525">
            <a:solidFill>
              <a:srgbClr val="C9A882"/>
            </a:solidFill>
            <a:prstDash val="solid"/>
            <a:tailEnd type="arrow"/>
          </a:ln>
        </p:spPr>
      </p:sp>
      <p:sp>
        <p:nvSpPr>
          <p:cNvPr id="80" name="Shape 78"/>
          <p:cNvSpPr/>
          <p:nvPr/>
        </p:nvSpPr>
        <p:spPr>
          <a:xfrm>
            <a:off x="128016" y="4315968"/>
            <a:ext cx="7991856" cy="530352"/>
          </a:xfrm>
          <a:prstGeom prst="rect">
            <a:avLst/>
          </a:prstGeom>
          <a:solidFill>
            <a:srgbClr val="F7F4F0"/>
          </a:solidFill>
          <a:ln w="6350">
            <a:solidFill>
              <a:srgbClr val="B8A898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182880" y="4315968"/>
            <a:ext cx="6583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spc="50" kern="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CONN.</a:t>
            </a:r>
            <a:endParaRPr lang="en-US" sz="600" dirty="0"/>
          </a:p>
        </p:txBody>
      </p:sp>
      <p:sp>
        <p:nvSpPr>
          <p:cNvPr id="82" name="Shape 80"/>
          <p:cNvSpPr/>
          <p:nvPr/>
        </p:nvSpPr>
        <p:spPr>
          <a:xfrm>
            <a:off x="932688" y="4379976"/>
            <a:ext cx="7095744" cy="329184"/>
          </a:xfrm>
          <a:prstGeom prst="rect">
            <a:avLst/>
          </a:prstGeom>
          <a:solidFill>
            <a:srgbClr val="EDE6DF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005840" y="4407408"/>
            <a:ext cx="16459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1005840" y="440740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/ MQ</a:t>
            </a:r>
            <a:endParaRPr lang="en-US" sz="800" dirty="0"/>
          </a:p>
        </p:txBody>
      </p:sp>
      <p:sp>
        <p:nvSpPr>
          <p:cNvPr id="85" name="Shape 83"/>
          <p:cNvSpPr/>
          <p:nvPr/>
        </p:nvSpPr>
        <p:spPr>
          <a:xfrm>
            <a:off x="2779776" y="4407408"/>
            <a:ext cx="16459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2779776" y="440740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SFTP</a:t>
            </a:r>
            <a:endParaRPr lang="en-US" sz="800" dirty="0"/>
          </a:p>
        </p:txBody>
      </p:sp>
      <p:sp>
        <p:nvSpPr>
          <p:cNvPr id="87" name="Shape 85"/>
          <p:cNvSpPr/>
          <p:nvPr/>
        </p:nvSpPr>
        <p:spPr>
          <a:xfrm>
            <a:off x="4553712" y="4407408"/>
            <a:ext cx="16459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4553712" y="440740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FCFM</a:t>
            </a:r>
            <a:endParaRPr lang="en-US" sz="800" dirty="0"/>
          </a:p>
        </p:txBody>
      </p:sp>
      <p:sp>
        <p:nvSpPr>
          <p:cNvPr id="89" name="Shape 87"/>
          <p:cNvSpPr/>
          <p:nvPr/>
        </p:nvSpPr>
        <p:spPr>
          <a:xfrm>
            <a:off x="6327648" y="4407408"/>
            <a:ext cx="16459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6327648" y="440740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</a:t>
            </a:r>
            <a:endParaRPr lang="en-US" sz="800" dirty="0"/>
          </a:p>
        </p:txBody>
      </p:sp>
      <p:sp>
        <p:nvSpPr>
          <p:cNvPr id="91" name="Text 89"/>
          <p:cNvSpPr/>
          <p:nvPr/>
        </p:nvSpPr>
        <p:spPr>
          <a:xfrm>
            <a:off x="969264" y="4352544"/>
            <a:ext cx="1828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spc="50" kern="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CONNECTIVITY LAYER</a:t>
            </a:r>
            <a:endParaRPr lang="en-US" sz="550" dirty="0"/>
          </a:p>
        </p:txBody>
      </p:sp>
      <p:sp>
        <p:nvSpPr>
          <p:cNvPr id="92" name="Shape 90"/>
          <p:cNvSpPr/>
          <p:nvPr/>
        </p:nvSpPr>
        <p:spPr>
          <a:xfrm>
            <a:off x="3968496" y="4261104"/>
            <a:ext cx="9144" cy="54864"/>
          </a:xfrm>
          <a:prstGeom prst="line">
            <a:avLst/>
          </a:prstGeom>
          <a:noFill/>
          <a:ln w="9525">
            <a:solidFill>
              <a:srgbClr val="C9A882"/>
            </a:solidFill>
            <a:prstDash val="solid"/>
            <a:tailEnd type="arrow"/>
          </a:ln>
        </p:spPr>
      </p:sp>
      <p:sp>
        <p:nvSpPr>
          <p:cNvPr id="93" name="Shape 91"/>
          <p:cNvSpPr/>
          <p:nvPr/>
        </p:nvSpPr>
        <p:spPr>
          <a:xfrm>
            <a:off x="128016" y="4901184"/>
            <a:ext cx="7991856" cy="566928"/>
          </a:xfrm>
          <a:prstGeom prst="rect">
            <a:avLst/>
          </a:prstGeom>
          <a:solidFill>
            <a:srgbClr val="F7F4F0"/>
          </a:solidFill>
          <a:ln w="6350">
            <a:solidFill>
              <a:srgbClr val="B8A898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182880" y="4901184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spc="50" kern="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ENT.</a:t>
            </a:r>
            <a:endParaRPr lang="en-US" sz="600" dirty="0"/>
          </a:p>
          <a:p>
            <a:pPr algn="ctr" indent="0" marL="0">
              <a:buNone/>
            </a:pPr>
            <a:r>
              <a:rPr lang="en-US" sz="600" b="1" spc="50" kern="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SYS.</a:t>
            </a:r>
            <a:endParaRPr lang="en-US" sz="600" dirty="0"/>
          </a:p>
        </p:txBody>
      </p:sp>
      <p:sp>
        <p:nvSpPr>
          <p:cNvPr id="95" name="Shape 93"/>
          <p:cNvSpPr/>
          <p:nvPr/>
        </p:nvSpPr>
        <p:spPr>
          <a:xfrm>
            <a:off x="932688" y="4956048"/>
            <a:ext cx="7095744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1005840" y="4992624"/>
            <a:ext cx="621792" cy="274320"/>
          </a:xfrm>
          <a:prstGeom prst="rect">
            <a:avLst/>
          </a:prstGeom>
          <a:solidFill>
            <a:srgbClr val="F7F4F0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1005840" y="4992624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EES</a:t>
            </a:r>
            <a:endParaRPr lang="en-US" sz="650" dirty="0"/>
          </a:p>
        </p:txBody>
      </p:sp>
      <p:sp>
        <p:nvSpPr>
          <p:cNvPr id="98" name="Shape 96"/>
          <p:cNvSpPr/>
          <p:nvPr/>
        </p:nvSpPr>
        <p:spPr>
          <a:xfrm>
            <a:off x="1700784" y="4992624"/>
            <a:ext cx="621792" cy="274320"/>
          </a:xfrm>
          <a:prstGeom prst="rect">
            <a:avLst/>
          </a:prstGeom>
          <a:solidFill>
            <a:srgbClr val="F7F4F0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1700784" y="4992624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</a:t>
            </a:r>
            <a:endParaRPr lang="en-US" sz="650" dirty="0"/>
          </a:p>
        </p:txBody>
      </p:sp>
      <p:sp>
        <p:nvSpPr>
          <p:cNvPr id="100" name="Shape 98"/>
          <p:cNvSpPr/>
          <p:nvPr/>
        </p:nvSpPr>
        <p:spPr>
          <a:xfrm>
            <a:off x="2395728" y="4992624"/>
            <a:ext cx="621792" cy="274320"/>
          </a:xfrm>
          <a:prstGeom prst="rect">
            <a:avLst/>
          </a:prstGeom>
          <a:solidFill>
            <a:srgbClr val="F7F4F0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2395728" y="4992624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GEMS</a:t>
            </a:r>
            <a:endParaRPr lang="en-US" sz="650" dirty="0"/>
          </a:p>
        </p:txBody>
      </p:sp>
      <p:sp>
        <p:nvSpPr>
          <p:cNvPr id="102" name="Shape 100"/>
          <p:cNvSpPr/>
          <p:nvPr/>
        </p:nvSpPr>
        <p:spPr>
          <a:xfrm>
            <a:off x="3090672" y="4992624"/>
            <a:ext cx="621792" cy="274320"/>
          </a:xfrm>
          <a:prstGeom prst="rect">
            <a:avLst/>
          </a:prstGeom>
          <a:solidFill>
            <a:srgbClr val="F7F4F0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3090672" y="4992624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RDI</a:t>
            </a:r>
            <a:endParaRPr lang="en-US" sz="650" dirty="0"/>
          </a:p>
        </p:txBody>
      </p:sp>
      <p:sp>
        <p:nvSpPr>
          <p:cNvPr id="104" name="Shape 102"/>
          <p:cNvSpPr/>
          <p:nvPr/>
        </p:nvSpPr>
        <p:spPr>
          <a:xfrm>
            <a:off x="3785616" y="4992624"/>
            <a:ext cx="621792" cy="274320"/>
          </a:xfrm>
          <a:prstGeom prst="rect">
            <a:avLst/>
          </a:prstGeom>
          <a:solidFill>
            <a:srgbClr val="F7F4F0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3785616" y="4992624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DAC</a:t>
            </a:r>
            <a:endParaRPr lang="en-US" sz="650" dirty="0"/>
          </a:p>
        </p:txBody>
      </p:sp>
      <p:sp>
        <p:nvSpPr>
          <p:cNvPr id="106" name="Shape 104"/>
          <p:cNvSpPr/>
          <p:nvPr/>
        </p:nvSpPr>
        <p:spPr>
          <a:xfrm>
            <a:off x="4480560" y="4992624"/>
            <a:ext cx="621792" cy="274320"/>
          </a:xfrm>
          <a:prstGeom prst="rect">
            <a:avLst/>
          </a:prstGeom>
          <a:solidFill>
            <a:srgbClr val="F7F4F0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4480560" y="4992624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BOMAC</a:t>
            </a:r>
            <a:endParaRPr lang="en-US" sz="650" dirty="0"/>
          </a:p>
        </p:txBody>
      </p:sp>
      <p:sp>
        <p:nvSpPr>
          <p:cNvPr id="108" name="Shape 106"/>
          <p:cNvSpPr/>
          <p:nvPr/>
        </p:nvSpPr>
        <p:spPr>
          <a:xfrm>
            <a:off x="5175504" y="4992624"/>
            <a:ext cx="621792" cy="274320"/>
          </a:xfrm>
          <a:prstGeom prst="rect">
            <a:avLst/>
          </a:prstGeom>
          <a:solidFill>
            <a:srgbClr val="F7F4F0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5175504" y="4992624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</a:t>
            </a:r>
            <a:endParaRPr lang="en-US" sz="650" dirty="0"/>
          </a:p>
        </p:txBody>
      </p:sp>
      <p:sp>
        <p:nvSpPr>
          <p:cNvPr id="110" name="Shape 108"/>
          <p:cNvSpPr/>
          <p:nvPr/>
        </p:nvSpPr>
        <p:spPr>
          <a:xfrm>
            <a:off x="5870448" y="4992624"/>
            <a:ext cx="621792" cy="274320"/>
          </a:xfrm>
          <a:prstGeom prst="rect">
            <a:avLst/>
          </a:prstGeom>
          <a:solidFill>
            <a:srgbClr val="F7F4F0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5870448" y="4992624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WDC</a:t>
            </a:r>
            <a:endParaRPr lang="en-US" sz="650" dirty="0"/>
          </a:p>
        </p:txBody>
      </p:sp>
      <p:sp>
        <p:nvSpPr>
          <p:cNvPr id="112" name="Shape 110"/>
          <p:cNvSpPr/>
          <p:nvPr/>
        </p:nvSpPr>
        <p:spPr>
          <a:xfrm>
            <a:off x="6565392" y="4992624"/>
            <a:ext cx="621792" cy="274320"/>
          </a:xfrm>
          <a:prstGeom prst="rect">
            <a:avLst/>
          </a:prstGeom>
          <a:solidFill>
            <a:srgbClr val="F7F4F0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6565392" y="4992624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GFC</a:t>
            </a:r>
            <a:endParaRPr lang="en-US" sz="650" dirty="0"/>
          </a:p>
        </p:txBody>
      </p:sp>
      <p:sp>
        <p:nvSpPr>
          <p:cNvPr id="114" name="Shape 112"/>
          <p:cNvSpPr/>
          <p:nvPr/>
        </p:nvSpPr>
        <p:spPr>
          <a:xfrm>
            <a:off x="7260336" y="4992624"/>
            <a:ext cx="621792" cy="274320"/>
          </a:xfrm>
          <a:prstGeom prst="rect">
            <a:avLst/>
          </a:prstGeom>
          <a:solidFill>
            <a:srgbClr val="F7F4F0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7260336" y="4992624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</a:t>
            </a:r>
            <a:endParaRPr lang="en-US" sz="650" dirty="0"/>
          </a:p>
        </p:txBody>
      </p:sp>
      <p:sp>
        <p:nvSpPr>
          <p:cNvPr id="116" name="Text 114"/>
          <p:cNvSpPr/>
          <p:nvPr/>
        </p:nvSpPr>
        <p:spPr>
          <a:xfrm>
            <a:off x="969264" y="4937760"/>
            <a:ext cx="2286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spc="50" kern="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SYSTEMS</a:t>
            </a:r>
            <a:endParaRPr lang="en-US" sz="550" dirty="0"/>
          </a:p>
        </p:txBody>
      </p:sp>
      <p:sp>
        <p:nvSpPr>
          <p:cNvPr id="117" name="Shape 115"/>
          <p:cNvSpPr/>
          <p:nvPr/>
        </p:nvSpPr>
        <p:spPr>
          <a:xfrm>
            <a:off x="3968496" y="4846320"/>
            <a:ext cx="9144" cy="54864"/>
          </a:xfrm>
          <a:prstGeom prst="line">
            <a:avLst/>
          </a:prstGeom>
          <a:noFill/>
          <a:ln w="9525">
            <a:solidFill>
              <a:srgbClr val="C9A882"/>
            </a:solidFill>
            <a:prstDash val="solid"/>
            <a:tailEnd type="arrow"/>
          </a:ln>
        </p:spPr>
      </p:sp>
      <p:sp>
        <p:nvSpPr>
          <p:cNvPr id="118" name="Shape 116"/>
          <p:cNvSpPr/>
          <p:nvPr/>
        </p:nvSpPr>
        <p:spPr>
          <a:xfrm>
            <a:off x="8284464" y="676656"/>
            <a:ext cx="3749040" cy="5961888"/>
          </a:xfrm>
          <a:prstGeom prst="rect">
            <a:avLst/>
          </a:prstGeom>
          <a:solidFill>
            <a:srgbClr val="F7F4F0"/>
          </a:solidFill>
          <a:ln w="9525">
            <a:solidFill>
              <a:srgbClr val="C9A882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8284464" y="676656"/>
            <a:ext cx="3749040" cy="2926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8394192" y="731520"/>
            <a:ext cx="3529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CRITICAL ISSUES</a:t>
            </a:r>
            <a:endParaRPr lang="en-US" sz="850" dirty="0"/>
          </a:p>
        </p:txBody>
      </p:sp>
      <p:sp>
        <p:nvSpPr>
          <p:cNvPr id="121" name="Shape 119"/>
          <p:cNvSpPr/>
          <p:nvPr/>
        </p:nvSpPr>
        <p:spPr>
          <a:xfrm>
            <a:off x="8375904" y="1060704"/>
            <a:ext cx="356616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B8A898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8375904" y="1060704"/>
            <a:ext cx="256032" cy="6400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8375904" y="1060704"/>
            <a:ext cx="256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700" dirty="0"/>
          </a:p>
        </p:txBody>
      </p:sp>
      <p:sp>
        <p:nvSpPr>
          <p:cNvPr id="124" name="Text 122"/>
          <p:cNvSpPr/>
          <p:nvPr/>
        </p:nvSpPr>
        <p:spPr>
          <a:xfrm>
            <a:off x="8686800" y="1106424"/>
            <a:ext cx="3218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Point of Failure</a:t>
            </a:r>
            <a:endParaRPr lang="en-US" sz="750" dirty="0"/>
          </a:p>
        </p:txBody>
      </p:sp>
      <p:sp>
        <p:nvSpPr>
          <p:cNvPr id="125" name="Text 123"/>
          <p:cNvSpPr/>
          <p:nvPr/>
        </p:nvSpPr>
        <p:spPr>
          <a:xfrm>
            <a:off x="8686800" y="1298448"/>
            <a:ext cx="3218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14 systems depend on one Oracle DB. Any schema change = system-wide risk &amp; full regression.</a:t>
            </a:r>
            <a:endParaRPr lang="en-US" sz="650" dirty="0"/>
          </a:p>
        </p:txBody>
      </p:sp>
      <p:sp>
        <p:nvSpPr>
          <p:cNvPr id="126" name="Shape 124"/>
          <p:cNvSpPr/>
          <p:nvPr/>
        </p:nvSpPr>
        <p:spPr>
          <a:xfrm>
            <a:off x="8375904" y="1760220"/>
            <a:ext cx="3566160" cy="640080"/>
          </a:xfrm>
          <a:prstGeom prst="rect">
            <a:avLst/>
          </a:prstGeom>
          <a:solidFill>
            <a:srgbClr val="EDE6DF"/>
          </a:solidFill>
          <a:ln w="6350">
            <a:solidFill>
              <a:srgbClr val="B8A898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8375904" y="1760220"/>
            <a:ext cx="256032" cy="6400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8375904" y="1760220"/>
            <a:ext cx="256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700" dirty="0"/>
          </a:p>
        </p:txBody>
      </p:sp>
      <p:sp>
        <p:nvSpPr>
          <p:cNvPr id="129" name="Text 127"/>
          <p:cNvSpPr/>
          <p:nvPr/>
        </p:nvSpPr>
        <p:spPr>
          <a:xfrm>
            <a:off x="8686800" y="1805940"/>
            <a:ext cx="3218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~10,000 Stored Procedures</a:t>
            </a:r>
            <a:endParaRPr lang="en-US" sz="750" dirty="0"/>
          </a:p>
        </p:txBody>
      </p:sp>
      <p:sp>
        <p:nvSpPr>
          <p:cNvPr id="130" name="Text 128"/>
          <p:cNvSpPr/>
          <p:nvPr/>
        </p:nvSpPr>
        <p:spPr>
          <a:xfrm>
            <a:off x="8686800" y="1997964"/>
            <a:ext cx="3218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 trapped in DB. Untestable, unversionable, undocumentable. Cannot be unit-tested.</a:t>
            </a:r>
            <a:endParaRPr lang="en-US" sz="650" dirty="0"/>
          </a:p>
        </p:txBody>
      </p:sp>
      <p:sp>
        <p:nvSpPr>
          <p:cNvPr id="131" name="Shape 129"/>
          <p:cNvSpPr/>
          <p:nvPr/>
        </p:nvSpPr>
        <p:spPr>
          <a:xfrm>
            <a:off x="8375904" y="2459736"/>
            <a:ext cx="356616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B8A898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8375904" y="2459736"/>
            <a:ext cx="256032" cy="6400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8375904" y="2459736"/>
            <a:ext cx="256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700" dirty="0"/>
          </a:p>
        </p:txBody>
      </p:sp>
      <p:sp>
        <p:nvSpPr>
          <p:cNvPr id="134" name="Text 132"/>
          <p:cNvSpPr/>
          <p:nvPr/>
        </p:nvSpPr>
        <p:spPr>
          <a:xfrm>
            <a:off x="8686800" y="2505456"/>
            <a:ext cx="3218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GWT/GXT UI</a:t>
            </a:r>
            <a:endParaRPr lang="en-US" sz="750" dirty="0"/>
          </a:p>
        </p:txBody>
      </p:sp>
      <p:sp>
        <p:nvSpPr>
          <p:cNvPr id="135" name="Text 133"/>
          <p:cNvSpPr/>
          <p:nvPr/>
        </p:nvSpPr>
        <p:spPr>
          <a:xfrm>
            <a:off x="8686800" y="2697480"/>
            <a:ext cx="3218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API layer. Direct DB coupling. Cannot scale independently. TENET migration in progress.</a:t>
            </a:r>
            <a:endParaRPr lang="en-US" sz="650" dirty="0"/>
          </a:p>
        </p:txBody>
      </p:sp>
      <p:sp>
        <p:nvSpPr>
          <p:cNvPr id="136" name="Shape 134"/>
          <p:cNvSpPr/>
          <p:nvPr/>
        </p:nvSpPr>
        <p:spPr>
          <a:xfrm>
            <a:off x="8375904" y="3159252"/>
            <a:ext cx="3566160" cy="640080"/>
          </a:xfrm>
          <a:prstGeom prst="rect">
            <a:avLst/>
          </a:prstGeom>
          <a:solidFill>
            <a:srgbClr val="EDE6DF"/>
          </a:solidFill>
          <a:ln w="6350">
            <a:solidFill>
              <a:srgbClr val="B8A898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8375904" y="3159252"/>
            <a:ext cx="256032" cy="6400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8375904" y="3159252"/>
            <a:ext cx="256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700" dirty="0"/>
          </a:p>
        </p:txBody>
      </p:sp>
      <p:sp>
        <p:nvSpPr>
          <p:cNvPr id="139" name="Text 137"/>
          <p:cNvSpPr/>
          <p:nvPr/>
        </p:nvSpPr>
        <p:spPr>
          <a:xfrm>
            <a:off x="8686800" y="3204972"/>
            <a:ext cx="3218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Mule ESB Spaghetti</a:t>
            </a:r>
            <a:endParaRPr lang="en-US" sz="750" dirty="0"/>
          </a:p>
        </p:txBody>
      </p:sp>
      <p:sp>
        <p:nvSpPr>
          <p:cNvPr id="140" name="Text 138"/>
          <p:cNvSpPr/>
          <p:nvPr/>
        </p:nvSpPr>
        <p:spPr>
          <a:xfrm>
            <a:off x="8686800" y="3396996"/>
            <a:ext cx="3218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 coupling across all systems. Any change risks outage everywhere. No event replay.</a:t>
            </a:r>
            <a:endParaRPr lang="en-US" sz="650" dirty="0"/>
          </a:p>
        </p:txBody>
      </p:sp>
      <p:sp>
        <p:nvSpPr>
          <p:cNvPr id="141" name="Shape 139"/>
          <p:cNvSpPr/>
          <p:nvPr/>
        </p:nvSpPr>
        <p:spPr>
          <a:xfrm>
            <a:off x="8375904" y="3858768"/>
            <a:ext cx="356616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B8A898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8375904" y="3858768"/>
            <a:ext cx="256032" cy="6400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8375904" y="3858768"/>
            <a:ext cx="256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700" dirty="0"/>
          </a:p>
        </p:txBody>
      </p:sp>
      <p:sp>
        <p:nvSpPr>
          <p:cNvPr id="144" name="Text 142"/>
          <p:cNvSpPr/>
          <p:nvPr/>
        </p:nvSpPr>
        <p:spPr>
          <a:xfrm>
            <a:off x="8686800" y="3904488"/>
            <a:ext cx="3218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Batch-Only Processing</a:t>
            </a:r>
            <a:endParaRPr lang="en-US" sz="750" dirty="0"/>
          </a:p>
        </p:txBody>
      </p:sp>
      <p:sp>
        <p:nvSpPr>
          <p:cNvPr id="145" name="Text 143"/>
          <p:cNvSpPr/>
          <p:nvPr/>
        </p:nvSpPr>
        <p:spPr>
          <a:xfrm>
            <a:off x="8686800" y="4096512"/>
            <a:ext cx="3218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Batch overnight jobs only. No real-time events. STP capped at ~20%. High manual load.</a:t>
            </a:r>
            <a:endParaRPr lang="en-US" sz="650" dirty="0"/>
          </a:p>
        </p:txBody>
      </p:sp>
      <p:sp>
        <p:nvSpPr>
          <p:cNvPr id="146" name="Shape 144"/>
          <p:cNvSpPr/>
          <p:nvPr/>
        </p:nvSpPr>
        <p:spPr>
          <a:xfrm>
            <a:off x="8375904" y="4558284"/>
            <a:ext cx="3566160" cy="640080"/>
          </a:xfrm>
          <a:prstGeom prst="rect">
            <a:avLst/>
          </a:prstGeom>
          <a:solidFill>
            <a:srgbClr val="EDE6DF"/>
          </a:solidFill>
          <a:ln w="6350">
            <a:solidFill>
              <a:srgbClr val="B8A898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8375904" y="4558284"/>
            <a:ext cx="256032" cy="6400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8375904" y="4558284"/>
            <a:ext cx="256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700" dirty="0"/>
          </a:p>
        </p:txBody>
      </p:sp>
      <p:sp>
        <p:nvSpPr>
          <p:cNvPr id="149" name="Text 147"/>
          <p:cNvSpPr/>
          <p:nvPr/>
        </p:nvSpPr>
        <p:spPr>
          <a:xfrm>
            <a:off x="8686800" y="4604004"/>
            <a:ext cx="3218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API Layer</a:t>
            </a:r>
            <a:endParaRPr lang="en-US" sz="750" dirty="0"/>
          </a:p>
        </p:txBody>
      </p:sp>
      <p:sp>
        <p:nvSpPr>
          <p:cNvPr id="150" name="Text 148"/>
          <p:cNvSpPr/>
          <p:nvPr/>
        </p:nvSpPr>
        <p:spPr>
          <a:xfrm>
            <a:off x="8686800" y="4796028"/>
            <a:ext cx="3218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GWT accesses Oracle directly. No service abstraction. Impossible to modernise incrementally.</a:t>
            </a:r>
            <a:endParaRPr lang="en-US" sz="650" dirty="0"/>
          </a:p>
        </p:txBody>
      </p:sp>
      <p:sp>
        <p:nvSpPr>
          <p:cNvPr id="151" name="Shape 149"/>
          <p:cNvSpPr/>
          <p:nvPr/>
        </p:nvSpPr>
        <p:spPr>
          <a:xfrm>
            <a:off x="8375904" y="5257800"/>
            <a:ext cx="356616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B8A898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8375904" y="5257800"/>
            <a:ext cx="256032" cy="6400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3" name="Text 151"/>
          <p:cNvSpPr/>
          <p:nvPr/>
        </p:nvSpPr>
        <p:spPr>
          <a:xfrm>
            <a:off x="8375904" y="5257800"/>
            <a:ext cx="256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700" dirty="0"/>
          </a:p>
        </p:txBody>
      </p:sp>
      <p:sp>
        <p:nvSpPr>
          <p:cNvPr id="154" name="Text 152"/>
          <p:cNvSpPr/>
          <p:nvPr/>
        </p:nvSpPr>
        <p:spPr>
          <a:xfrm>
            <a:off x="8686800" y="5303520"/>
            <a:ext cx="3218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 File Storage</a:t>
            </a:r>
            <a:endParaRPr lang="en-US" sz="750" dirty="0"/>
          </a:p>
        </p:txBody>
      </p:sp>
      <p:sp>
        <p:nvSpPr>
          <p:cNvPr id="155" name="Text 153"/>
          <p:cNvSpPr/>
          <p:nvPr/>
        </p:nvSpPr>
        <p:spPr>
          <a:xfrm>
            <a:off x="8686800" y="5495544"/>
            <a:ext cx="3218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File-based, non-cloud-native storage. No streaming. Tight coupling to batch jobs.</a:t>
            </a:r>
            <a:endParaRPr lang="en-US" sz="650" dirty="0"/>
          </a:p>
        </p:txBody>
      </p:sp>
      <p:sp>
        <p:nvSpPr>
          <p:cNvPr id="156" name="Shape 154"/>
          <p:cNvSpPr/>
          <p:nvPr/>
        </p:nvSpPr>
        <p:spPr>
          <a:xfrm>
            <a:off x="8375904" y="5957316"/>
            <a:ext cx="3566160" cy="640080"/>
          </a:xfrm>
          <a:prstGeom prst="rect">
            <a:avLst/>
          </a:prstGeom>
          <a:solidFill>
            <a:srgbClr val="EDE6DF"/>
          </a:solidFill>
          <a:ln w="6350">
            <a:solidFill>
              <a:srgbClr val="B8A898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8375904" y="5957316"/>
            <a:ext cx="256032" cy="6400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8" name="Text 156"/>
          <p:cNvSpPr/>
          <p:nvPr/>
        </p:nvSpPr>
        <p:spPr>
          <a:xfrm>
            <a:off x="8375904" y="5957316"/>
            <a:ext cx="256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700" dirty="0"/>
          </a:p>
        </p:txBody>
      </p:sp>
      <p:sp>
        <p:nvSpPr>
          <p:cNvPr id="159" name="Text 157"/>
          <p:cNvSpPr/>
          <p:nvPr/>
        </p:nvSpPr>
        <p:spPr>
          <a:xfrm>
            <a:off x="8686800" y="6003036"/>
            <a:ext cx="3218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3,200 DB Tables</a:t>
            </a:r>
            <a:endParaRPr lang="en-US" sz="750" dirty="0"/>
          </a:p>
        </p:txBody>
      </p:sp>
      <p:sp>
        <p:nvSpPr>
          <p:cNvPr id="160" name="Text 158"/>
          <p:cNvSpPr/>
          <p:nvPr/>
        </p:nvSpPr>
        <p:spPr>
          <a:xfrm>
            <a:off x="8686800" y="6195060"/>
            <a:ext cx="3218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schema shared across all services. No isolation between domains or teams.</a:t>
            </a:r>
            <a:endParaRPr lang="en-US" sz="650" dirty="0"/>
          </a:p>
        </p:txBody>
      </p:sp>
      <p:sp>
        <p:nvSpPr>
          <p:cNvPr id="161" name="Text 159"/>
          <p:cNvSpPr/>
          <p:nvPr/>
        </p:nvSpPr>
        <p:spPr>
          <a:xfrm>
            <a:off x="365760" y="6675120"/>
            <a:ext cx="11430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89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Trade Platform Migration Strategy  ·  2025–2030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841248"/>
          </a:xfrm>
          <a:prstGeom prst="rect">
            <a:avLst/>
          </a:prstGeom>
          <a:solidFill>
            <a:srgbClr val="5C3317"/>
          </a:solidFill>
          <a:ln/>
        </p:spPr>
      </p:sp>
      <p:sp>
        <p:nvSpPr>
          <p:cNvPr id="4" name="Shape 2"/>
          <p:cNvSpPr/>
          <p:nvPr/>
        </p:nvSpPr>
        <p:spPr>
          <a:xfrm>
            <a:off x="109728" y="841248"/>
            <a:ext cx="12051792" cy="0"/>
          </a:xfrm>
          <a:prstGeom prst="line">
            <a:avLst/>
          </a:prstGeom>
          <a:noFill/>
          <a:ln w="12700">
            <a:solidFill>
              <a:srgbClr val="C9A88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5C3317"/>
          </a:solidFill>
          <a:ln/>
        </p:spPr>
      </p:sp>
      <p:sp>
        <p:nvSpPr>
          <p:cNvPr id="6" name="Text 4"/>
          <p:cNvSpPr/>
          <p:nvPr/>
        </p:nvSpPr>
        <p:spPr>
          <a:xfrm>
            <a:off x="292608" y="91440"/>
            <a:ext cx="11521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Architecture: Event-Driven, AI-Native Platform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292608" y="585216"/>
            <a:ext cx="11521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layer independently deployable · DB-per-service · 7 9's availability · AI-powered STP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64592" y="969264"/>
            <a:ext cx="11832336" cy="914400"/>
          </a:xfrm>
          <a:prstGeom prst="rect">
            <a:avLst/>
          </a:prstGeom>
          <a:solidFill>
            <a:srgbClr val="FEF0D4"/>
          </a:solidFill>
          <a:ln w="12700">
            <a:solidFill>
              <a:srgbClr val="E0B87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" y="969264"/>
            <a:ext cx="11832336" cy="54864"/>
          </a:xfrm>
          <a:prstGeom prst="rect">
            <a:avLst/>
          </a:prstGeom>
          <a:solidFill>
            <a:srgbClr val="9B6010"/>
          </a:solidFill>
          <a:ln/>
        </p:spPr>
      </p:sp>
      <p:sp>
        <p:nvSpPr>
          <p:cNvPr id="10" name="Text 8"/>
          <p:cNvSpPr/>
          <p:nvPr/>
        </p:nvSpPr>
        <p:spPr>
          <a:xfrm>
            <a:off x="310896" y="1042416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9B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 —  REACT MICRO-FRONTENDS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310896" y="1280160"/>
            <a:ext cx="1886712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6CCC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" y="1280160"/>
            <a:ext cx="1813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234184" y="1280160"/>
            <a:ext cx="1886712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6CCC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70760" y="1280160"/>
            <a:ext cx="1813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157472" y="1280160"/>
            <a:ext cx="1886712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6CCC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94048" y="1280160"/>
            <a:ext cx="1813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IQ / Absolute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080760" y="1280160"/>
            <a:ext cx="1886712" cy="530352"/>
          </a:xfrm>
          <a:prstGeom prst="rect">
            <a:avLst/>
          </a:prstGeom>
          <a:solidFill>
            <a:srgbClr val="9B6010"/>
          </a:solidFill>
          <a:ln w="9525">
            <a:solidFill>
              <a:srgbClr val="9B601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17336" y="1280160"/>
            <a:ext cx="1813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ELC  (AI + Workflow)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8004048" y="1280160"/>
            <a:ext cx="1886712" cy="530352"/>
          </a:xfrm>
          <a:prstGeom prst="rect">
            <a:avLst/>
          </a:prstGeom>
          <a:solidFill>
            <a:srgbClr val="9B6010"/>
          </a:solidFill>
          <a:ln w="9525">
            <a:solidFill>
              <a:srgbClr val="9B601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40624" y="1280160"/>
            <a:ext cx="1813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Dashboard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9927336" y="1280160"/>
            <a:ext cx="1886712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6CCC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963912" y="1280160"/>
            <a:ext cx="1813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Toolkit  (LLM)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164592" y="2029968"/>
            <a:ext cx="11832336" cy="329184"/>
          </a:xfrm>
          <a:prstGeom prst="rect">
            <a:avLst/>
          </a:prstGeom>
          <a:solidFill>
            <a:srgbClr val="5C3317"/>
          </a:solidFill>
          <a:ln w="12700">
            <a:solidFill>
              <a:srgbClr val="5C331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9184" y="2029968"/>
            <a:ext cx="11503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  API GATEWAY  ·  Rate Limiting  ·  Auth  ·  Routing  ·  Load Balancing  ·  TLS Termination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164592" y="2505456"/>
            <a:ext cx="8083296" cy="2286000"/>
          </a:xfrm>
          <a:prstGeom prst="rect">
            <a:avLst/>
          </a:prstGeom>
          <a:solidFill>
            <a:srgbClr val="F3E8DE"/>
          </a:solidFill>
          <a:ln w="12700">
            <a:solidFill>
              <a:srgbClr val="C9A88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4592" y="2505456"/>
            <a:ext cx="8083296" cy="54864"/>
          </a:xfrm>
          <a:prstGeom prst="rect">
            <a:avLst/>
          </a:prstGeom>
          <a:solidFill>
            <a:srgbClr val="7A4520"/>
          </a:solidFill>
          <a:ln/>
        </p:spPr>
      </p:sp>
      <p:sp>
        <p:nvSpPr>
          <p:cNvPr id="27" name="Text 25"/>
          <p:cNvSpPr/>
          <p:nvPr/>
        </p:nvSpPr>
        <p:spPr>
          <a:xfrm>
            <a:off x="310896" y="257860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7A4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ELC PLATFORM  —  EVENT-DRIVEN CORE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310896" y="2798064"/>
            <a:ext cx="7790688" cy="365760"/>
          </a:xfrm>
          <a:prstGeom prst="rect">
            <a:avLst/>
          </a:prstGeom>
          <a:solidFill>
            <a:srgbClr val="5C3317"/>
          </a:solidFill>
          <a:ln w="12700">
            <a:solidFill>
              <a:srgbClr val="5C3317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20624" y="2798064"/>
            <a:ext cx="7571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 AI WORKFLOW ENGINE  (ELC)  —  Maker / Checker Automation  ·  &gt;95% Accuracy Target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10896" y="3218688"/>
            <a:ext cx="7790688" cy="292608"/>
          </a:xfrm>
          <a:prstGeom prst="rect">
            <a:avLst/>
          </a:prstGeom>
          <a:solidFill>
            <a:srgbClr val="7A4520"/>
          </a:solidFill>
          <a:ln w="12700">
            <a:solidFill>
              <a:srgbClr val="7A452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0624" y="3218688"/>
            <a:ext cx="7571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KAFKA EVENT BUS  —  Async Pub/Sub  ·  Event Replay  ·  Stream Processing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310896" y="3566160"/>
            <a:ext cx="1514246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C9A88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10896" y="3566160"/>
            <a:ext cx="1514246" cy="45720"/>
          </a:xfrm>
          <a:prstGeom prst="rect">
            <a:avLst/>
          </a:prstGeom>
          <a:solidFill>
            <a:srgbClr val="7A4520"/>
          </a:solidFill>
          <a:ln/>
        </p:spPr>
      </p:sp>
      <p:sp>
        <p:nvSpPr>
          <p:cNvPr id="34" name="Text 32"/>
          <p:cNvSpPr/>
          <p:nvPr/>
        </p:nvSpPr>
        <p:spPr>
          <a:xfrm>
            <a:off x="347472" y="3611880"/>
            <a:ext cx="144109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1880006" y="3566160"/>
            <a:ext cx="1514246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C9A88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880006" y="3566160"/>
            <a:ext cx="1514246" cy="45720"/>
          </a:xfrm>
          <a:prstGeom prst="rect">
            <a:avLst/>
          </a:prstGeom>
          <a:solidFill>
            <a:srgbClr val="7A4520"/>
          </a:solidFill>
          <a:ln/>
        </p:spPr>
      </p:sp>
      <p:sp>
        <p:nvSpPr>
          <p:cNvPr id="37" name="Text 35"/>
          <p:cNvSpPr/>
          <p:nvPr/>
        </p:nvSpPr>
        <p:spPr>
          <a:xfrm>
            <a:off x="1916582" y="3611880"/>
            <a:ext cx="144109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Processor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3449117" y="3566160"/>
            <a:ext cx="1514246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C9A88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449117" y="3566160"/>
            <a:ext cx="1514246" cy="45720"/>
          </a:xfrm>
          <a:prstGeom prst="rect">
            <a:avLst/>
          </a:prstGeom>
          <a:solidFill>
            <a:srgbClr val="7A4520"/>
          </a:solidFill>
          <a:ln/>
        </p:spPr>
      </p:sp>
      <p:sp>
        <p:nvSpPr>
          <p:cNvPr id="40" name="Text 38"/>
          <p:cNvSpPr/>
          <p:nvPr/>
        </p:nvSpPr>
        <p:spPr>
          <a:xfrm>
            <a:off x="3485693" y="3611880"/>
            <a:ext cx="144109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5018227" y="3566160"/>
            <a:ext cx="1514246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0B87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018227" y="3566160"/>
            <a:ext cx="1514246" cy="45720"/>
          </a:xfrm>
          <a:prstGeom prst="rect">
            <a:avLst/>
          </a:prstGeom>
          <a:solidFill>
            <a:srgbClr val="9B6010"/>
          </a:solidFill>
          <a:ln/>
        </p:spPr>
      </p:sp>
      <p:sp>
        <p:nvSpPr>
          <p:cNvPr id="43" name="Text 41"/>
          <p:cNvSpPr/>
          <p:nvPr/>
        </p:nvSpPr>
        <p:spPr>
          <a:xfrm>
            <a:off x="5054803" y="3611880"/>
            <a:ext cx="144109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(RAG)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6587338" y="3566160"/>
            <a:ext cx="1514246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0B87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587338" y="3566160"/>
            <a:ext cx="1514246" cy="45720"/>
          </a:xfrm>
          <a:prstGeom prst="rect">
            <a:avLst/>
          </a:prstGeom>
          <a:solidFill>
            <a:srgbClr val="9B6010"/>
          </a:solidFill>
          <a:ln/>
        </p:spPr>
      </p:sp>
      <p:sp>
        <p:nvSpPr>
          <p:cNvPr id="46" name="Text 44"/>
          <p:cNvSpPr/>
          <p:nvPr/>
        </p:nvSpPr>
        <p:spPr>
          <a:xfrm>
            <a:off x="6623914" y="3611880"/>
            <a:ext cx="144109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Sanction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Screening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310896" y="4215384"/>
            <a:ext cx="1514246" cy="603504"/>
          </a:xfrm>
          <a:prstGeom prst="rect">
            <a:avLst/>
          </a:prstGeom>
          <a:solidFill>
            <a:srgbClr val="F3E8DE"/>
          </a:solidFill>
          <a:ln w="12700">
            <a:solidFill>
              <a:srgbClr val="7A452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10896" y="4718304"/>
            <a:ext cx="1514246" cy="201168"/>
          </a:xfrm>
          <a:prstGeom prst="ellipse">
            <a:avLst/>
          </a:prstGeom>
          <a:solidFill>
            <a:srgbClr val="7A4520"/>
          </a:solidFill>
          <a:ln w="12700">
            <a:solidFill>
              <a:srgbClr val="7A452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10896" y="4114800"/>
            <a:ext cx="1514246" cy="201168"/>
          </a:xfrm>
          <a:prstGeom prst="ellipse">
            <a:avLst/>
          </a:prstGeom>
          <a:solidFill>
            <a:srgbClr val="C9A882"/>
          </a:solidFill>
          <a:ln w="12700">
            <a:solidFill>
              <a:srgbClr val="7A452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47472" y="4251960"/>
            <a:ext cx="144109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7A4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Search DB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347472" y="4526280"/>
            <a:ext cx="144109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7A4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1880006" y="4215384"/>
            <a:ext cx="1514246" cy="603504"/>
          </a:xfrm>
          <a:prstGeom prst="rect">
            <a:avLst/>
          </a:prstGeom>
          <a:solidFill>
            <a:srgbClr val="FEF0D4"/>
          </a:solidFill>
          <a:ln w="12700">
            <a:solidFill>
              <a:srgbClr val="9B601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880006" y="4718304"/>
            <a:ext cx="1514246" cy="201168"/>
          </a:xfrm>
          <a:prstGeom prst="ellipse">
            <a:avLst/>
          </a:prstGeom>
          <a:solidFill>
            <a:srgbClr val="9B6010"/>
          </a:solidFill>
          <a:ln w="12700">
            <a:solidFill>
              <a:srgbClr val="9B601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880006" y="4114800"/>
            <a:ext cx="1514246" cy="201168"/>
          </a:xfrm>
          <a:prstGeom prst="ellipse">
            <a:avLst/>
          </a:prstGeom>
          <a:solidFill>
            <a:srgbClr val="E0B870"/>
          </a:solidFill>
          <a:ln w="12700">
            <a:solidFill>
              <a:srgbClr val="9B601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916582" y="4251960"/>
            <a:ext cx="144109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B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DB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1916582" y="4526280"/>
            <a:ext cx="144109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9B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3449117" y="4215384"/>
            <a:ext cx="1514246" cy="603504"/>
          </a:xfrm>
          <a:prstGeom prst="rect">
            <a:avLst/>
          </a:prstGeom>
          <a:solidFill>
            <a:srgbClr val="F3E8DE"/>
          </a:solidFill>
          <a:ln w="12700">
            <a:solidFill>
              <a:srgbClr val="A06535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449117" y="4718304"/>
            <a:ext cx="1514246" cy="201168"/>
          </a:xfrm>
          <a:prstGeom prst="ellipse">
            <a:avLst/>
          </a:prstGeom>
          <a:solidFill>
            <a:srgbClr val="A06535"/>
          </a:solidFill>
          <a:ln w="12700">
            <a:solidFill>
              <a:srgbClr val="A06535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449117" y="4114800"/>
            <a:ext cx="1514246" cy="201168"/>
          </a:xfrm>
          <a:prstGeom prst="ellipse">
            <a:avLst/>
          </a:prstGeom>
          <a:solidFill>
            <a:srgbClr val="C9A882"/>
          </a:solidFill>
          <a:ln w="12700">
            <a:solidFill>
              <a:srgbClr val="A06535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485693" y="4251960"/>
            <a:ext cx="144109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DB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3485693" y="4526280"/>
            <a:ext cx="144109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5018227" y="4215384"/>
            <a:ext cx="1514246" cy="603504"/>
          </a:xfrm>
          <a:prstGeom prst="rect">
            <a:avLst/>
          </a:prstGeom>
          <a:solidFill>
            <a:srgbClr val="FEF0D4"/>
          </a:solidFill>
          <a:ln w="12700">
            <a:solidFill>
              <a:srgbClr val="9B601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018227" y="4718304"/>
            <a:ext cx="1514246" cy="201168"/>
          </a:xfrm>
          <a:prstGeom prst="ellipse">
            <a:avLst/>
          </a:prstGeom>
          <a:solidFill>
            <a:srgbClr val="9B6010"/>
          </a:solidFill>
          <a:ln w="12700">
            <a:solidFill>
              <a:srgbClr val="9B601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5018227" y="4114800"/>
            <a:ext cx="1514246" cy="201168"/>
          </a:xfrm>
          <a:prstGeom prst="ellipse">
            <a:avLst/>
          </a:prstGeom>
          <a:solidFill>
            <a:srgbClr val="E0B870"/>
          </a:solidFill>
          <a:ln w="12700">
            <a:solidFill>
              <a:srgbClr val="9B601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054803" y="4251960"/>
            <a:ext cx="144109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B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/ Queue</a:t>
            </a:r>
            <a:endParaRPr lang="en-US" sz="750" dirty="0"/>
          </a:p>
        </p:txBody>
      </p:sp>
      <p:sp>
        <p:nvSpPr>
          <p:cNvPr id="66" name="Text 64"/>
          <p:cNvSpPr/>
          <p:nvPr/>
        </p:nvSpPr>
        <p:spPr>
          <a:xfrm>
            <a:off x="5054803" y="4526280"/>
            <a:ext cx="144109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9B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700" dirty="0"/>
          </a:p>
        </p:txBody>
      </p:sp>
      <p:sp>
        <p:nvSpPr>
          <p:cNvPr id="67" name="Shape 65"/>
          <p:cNvSpPr/>
          <p:nvPr/>
        </p:nvSpPr>
        <p:spPr>
          <a:xfrm>
            <a:off x="6587338" y="4215384"/>
            <a:ext cx="1514246" cy="603504"/>
          </a:xfrm>
          <a:prstGeom prst="rect">
            <a:avLst/>
          </a:prstGeom>
          <a:solidFill>
            <a:srgbClr val="EDE6DF"/>
          </a:solidFill>
          <a:ln w="12700">
            <a:solidFill>
              <a:srgbClr val="7A6655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587338" y="4718304"/>
            <a:ext cx="1514246" cy="201168"/>
          </a:xfrm>
          <a:prstGeom prst="ellipse">
            <a:avLst/>
          </a:prstGeom>
          <a:solidFill>
            <a:srgbClr val="7A6655"/>
          </a:solidFill>
          <a:ln w="12700">
            <a:solidFill>
              <a:srgbClr val="7A6655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587338" y="4114800"/>
            <a:ext cx="1514246" cy="201168"/>
          </a:xfrm>
          <a:prstGeom prst="ellipse">
            <a:avLst/>
          </a:prstGeom>
          <a:solidFill>
            <a:srgbClr val="B8A898"/>
          </a:solidFill>
          <a:ln w="12700">
            <a:solidFill>
              <a:srgbClr val="7A6655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623914" y="4251960"/>
            <a:ext cx="144109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Registry</a:t>
            </a:r>
            <a:endParaRPr lang="en-US" sz="750" dirty="0"/>
          </a:p>
        </p:txBody>
      </p:sp>
      <p:sp>
        <p:nvSpPr>
          <p:cNvPr id="71" name="Text 69"/>
          <p:cNvSpPr/>
          <p:nvPr/>
        </p:nvSpPr>
        <p:spPr>
          <a:xfrm>
            <a:off x="6623914" y="4526280"/>
            <a:ext cx="144109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Confluent</a:t>
            </a:r>
            <a:endParaRPr lang="en-US" sz="700" dirty="0"/>
          </a:p>
        </p:txBody>
      </p:sp>
      <p:sp>
        <p:nvSpPr>
          <p:cNvPr id="72" name="Shape 70"/>
          <p:cNvSpPr/>
          <p:nvPr/>
        </p:nvSpPr>
        <p:spPr>
          <a:xfrm>
            <a:off x="8394192" y="2505456"/>
            <a:ext cx="3602736" cy="2286000"/>
          </a:xfrm>
          <a:prstGeom prst="rect">
            <a:avLst/>
          </a:prstGeom>
          <a:solidFill>
            <a:srgbClr val="FEF0D4"/>
          </a:solidFill>
          <a:ln w="12700">
            <a:solidFill>
              <a:srgbClr val="E0B87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394192" y="2505456"/>
            <a:ext cx="3602736" cy="54864"/>
          </a:xfrm>
          <a:prstGeom prst="rect">
            <a:avLst/>
          </a:prstGeom>
          <a:solidFill>
            <a:srgbClr val="9B6010"/>
          </a:solidFill>
          <a:ln/>
        </p:spPr>
      </p:sp>
      <p:sp>
        <p:nvSpPr>
          <p:cNvPr id="74" name="Text 72"/>
          <p:cNvSpPr/>
          <p:nvPr/>
        </p:nvSpPr>
        <p:spPr>
          <a:xfrm>
            <a:off x="8485632" y="2578608"/>
            <a:ext cx="34198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9B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 LAYER</a:t>
            </a:r>
            <a:endParaRPr lang="en-US" sz="700" dirty="0"/>
          </a:p>
        </p:txBody>
      </p:sp>
      <p:sp>
        <p:nvSpPr>
          <p:cNvPr id="75" name="Text 73"/>
          <p:cNvSpPr/>
          <p:nvPr/>
        </p:nvSpPr>
        <p:spPr>
          <a:xfrm>
            <a:off x="8485632" y="2779776"/>
            <a:ext cx="3419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B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Data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9B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8485632" y="3163824"/>
            <a:ext cx="3419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sync</a:t>
            </a:r>
            <a:endParaRPr lang="en-US" sz="750" dirty="0"/>
          </a:p>
          <a:p>
            <a:pPr algn="ctr" indent="0" marL="0">
              <a:buNone/>
            </a:pPr>
            <a:r>
              <a:rPr lang="en-US" sz="750" i="1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→ modern</a:t>
            </a:r>
            <a:endParaRPr lang="en-US" sz="750" dirty="0"/>
          </a:p>
        </p:txBody>
      </p:sp>
      <p:sp>
        <p:nvSpPr>
          <p:cNvPr id="77" name="Shape 75"/>
          <p:cNvSpPr/>
          <p:nvPr/>
        </p:nvSpPr>
        <p:spPr>
          <a:xfrm>
            <a:off x="8485632" y="3529584"/>
            <a:ext cx="3419856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E0B87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8503920" y="3529584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Debezium /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GoldenGate</a:t>
            </a:r>
            <a:endParaRPr lang="en-US" sz="750" dirty="0"/>
          </a:p>
        </p:txBody>
      </p:sp>
      <p:sp>
        <p:nvSpPr>
          <p:cNvPr id="79" name="Shape 77"/>
          <p:cNvSpPr/>
          <p:nvPr/>
        </p:nvSpPr>
        <p:spPr>
          <a:xfrm>
            <a:off x="8485632" y="3931920"/>
            <a:ext cx="3419856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E0B87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8503920" y="393192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</a:t>
            </a:r>
            <a:endParaRPr lang="en-US" sz="750" dirty="0"/>
          </a:p>
        </p:txBody>
      </p:sp>
      <p:sp>
        <p:nvSpPr>
          <p:cNvPr id="81" name="Shape 79"/>
          <p:cNvSpPr/>
          <p:nvPr/>
        </p:nvSpPr>
        <p:spPr>
          <a:xfrm>
            <a:off x="8485632" y="4334256"/>
            <a:ext cx="3419856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E0B87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8503920" y="4334256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Bi-directional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Sync</a:t>
            </a:r>
            <a:endParaRPr lang="en-US" sz="750" dirty="0"/>
          </a:p>
        </p:txBody>
      </p:sp>
      <p:sp>
        <p:nvSpPr>
          <p:cNvPr id="83" name="Shape 81"/>
          <p:cNvSpPr/>
          <p:nvPr/>
        </p:nvSpPr>
        <p:spPr>
          <a:xfrm>
            <a:off x="164592" y="4937760"/>
            <a:ext cx="11832336" cy="914400"/>
          </a:xfrm>
          <a:prstGeom prst="rect">
            <a:avLst/>
          </a:prstGeom>
          <a:solidFill>
            <a:srgbClr val="FEF0D4"/>
          </a:solidFill>
          <a:ln w="12700">
            <a:solidFill>
              <a:srgbClr val="E0B870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64592" y="4937760"/>
            <a:ext cx="11832336" cy="54864"/>
          </a:xfrm>
          <a:prstGeom prst="rect">
            <a:avLst/>
          </a:prstGeom>
          <a:solidFill>
            <a:srgbClr val="9B6010"/>
          </a:solidFill>
          <a:ln/>
        </p:spPr>
      </p:sp>
      <p:sp>
        <p:nvSpPr>
          <p:cNvPr id="85" name="Text 83"/>
          <p:cNvSpPr/>
          <p:nvPr/>
        </p:nvSpPr>
        <p:spPr>
          <a:xfrm>
            <a:off x="310896" y="5010912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9B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DOMAIN SERVICES  —  DB-PER-SERVICE  ·  INDEPENDENTLY DEPLOYABLE</a:t>
            </a:r>
            <a:endParaRPr lang="en-US" sz="700" dirty="0"/>
          </a:p>
        </p:txBody>
      </p:sp>
      <p:sp>
        <p:nvSpPr>
          <p:cNvPr id="86" name="Shape 84"/>
          <p:cNvSpPr/>
          <p:nvPr/>
        </p:nvSpPr>
        <p:spPr>
          <a:xfrm>
            <a:off x="310896" y="5212080"/>
            <a:ext cx="1609344" cy="566928"/>
          </a:xfrm>
          <a:prstGeom prst="rect">
            <a:avLst/>
          </a:prstGeom>
          <a:solidFill>
            <a:srgbClr val="FEF0D4"/>
          </a:solidFill>
          <a:ln w="19050">
            <a:solidFill>
              <a:srgbClr val="9B6010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310896" y="5212080"/>
            <a:ext cx="1609344" cy="45720"/>
          </a:xfrm>
          <a:prstGeom prst="rect">
            <a:avLst/>
          </a:prstGeom>
          <a:solidFill>
            <a:srgbClr val="9B6010"/>
          </a:solidFill>
          <a:ln/>
        </p:spPr>
      </p:sp>
      <p:sp>
        <p:nvSpPr>
          <p:cNvPr id="88" name="Text 86"/>
          <p:cNvSpPr/>
          <p:nvPr/>
        </p:nvSpPr>
        <p:spPr>
          <a:xfrm>
            <a:off x="347472" y="5257800"/>
            <a:ext cx="1536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 Domain</a:t>
            </a:r>
            <a:endParaRPr lang="en-US" sz="800" dirty="0"/>
          </a:p>
        </p:txBody>
      </p:sp>
      <p:sp>
        <p:nvSpPr>
          <p:cNvPr id="89" name="Text 87"/>
          <p:cNvSpPr/>
          <p:nvPr/>
        </p:nvSpPr>
        <p:spPr>
          <a:xfrm>
            <a:off x="347472" y="5486400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B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Read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B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(Migrating)</a:t>
            </a:r>
            <a:endParaRPr lang="en-US" sz="700" dirty="0"/>
          </a:p>
        </p:txBody>
      </p:sp>
      <p:sp>
        <p:nvSpPr>
          <p:cNvPr id="90" name="Shape 88"/>
          <p:cNvSpPr/>
          <p:nvPr/>
        </p:nvSpPr>
        <p:spPr>
          <a:xfrm>
            <a:off x="1965960" y="5212080"/>
            <a:ext cx="1609344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A882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1965960" y="5212080"/>
            <a:ext cx="1609344" cy="45720"/>
          </a:xfrm>
          <a:prstGeom prst="rect">
            <a:avLst/>
          </a:prstGeom>
          <a:solidFill>
            <a:srgbClr val="A06535"/>
          </a:solidFill>
          <a:ln/>
        </p:spPr>
      </p:sp>
      <p:sp>
        <p:nvSpPr>
          <p:cNvPr id="92" name="Text 90"/>
          <p:cNvSpPr/>
          <p:nvPr/>
        </p:nvSpPr>
        <p:spPr>
          <a:xfrm>
            <a:off x="2002536" y="5257800"/>
            <a:ext cx="1536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Participation</a:t>
            </a:r>
            <a:endParaRPr lang="en-US" sz="800" dirty="0"/>
          </a:p>
        </p:txBody>
      </p:sp>
      <p:sp>
        <p:nvSpPr>
          <p:cNvPr id="93" name="Text 91"/>
          <p:cNvSpPr/>
          <p:nvPr/>
        </p:nvSpPr>
        <p:spPr>
          <a:xfrm>
            <a:off x="2002536" y="5486400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A06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DB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A06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✓</a:t>
            </a:r>
            <a:endParaRPr lang="en-US" sz="700" dirty="0"/>
          </a:p>
        </p:txBody>
      </p:sp>
      <p:sp>
        <p:nvSpPr>
          <p:cNvPr id="94" name="Shape 92"/>
          <p:cNvSpPr/>
          <p:nvPr/>
        </p:nvSpPr>
        <p:spPr>
          <a:xfrm>
            <a:off x="3621024" y="5212080"/>
            <a:ext cx="1609344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A882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621024" y="5212080"/>
            <a:ext cx="1609344" cy="45720"/>
          </a:xfrm>
          <a:prstGeom prst="rect">
            <a:avLst/>
          </a:prstGeom>
          <a:solidFill>
            <a:srgbClr val="A06535"/>
          </a:solidFill>
          <a:ln/>
        </p:spPr>
      </p:sp>
      <p:sp>
        <p:nvSpPr>
          <p:cNvPr id="96" name="Text 94"/>
          <p:cNvSpPr/>
          <p:nvPr/>
        </p:nvSpPr>
        <p:spPr>
          <a:xfrm>
            <a:off x="3657600" y="5257800"/>
            <a:ext cx="1536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</a:t>
            </a:r>
            <a:endParaRPr lang="en-US" sz="800" dirty="0"/>
          </a:p>
        </p:txBody>
      </p:sp>
      <p:sp>
        <p:nvSpPr>
          <p:cNvPr id="97" name="Text 95"/>
          <p:cNvSpPr/>
          <p:nvPr/>
        </p:nvSpPr>
        <p:spPr>
          <a:xfrm>
            <a:off x="3657600" y="5486400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A06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DB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A06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✓</a:t>
            </a:r>
            <a:endParaRPr lang="en-US" sz="700" dirty="0"/>
          </a:p>
        </p:txBody>
      </p:sp>
      <p:sp>
        <p:nvSpPr>
          <p:cNvPr id="98" name="Shape 96"/>
          <p:cNvSpPr/>
          <p:nvPr/>
        </p:nvSpPr>
        <p:spPr>
          <a:xfrm>
            <a:off x="5276088" y="5212080"/>
            <a:ext cx="1609344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A882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5276088" y="5212080"/>
            <a:ext cx="1609344" cy="45720"/>
          </a:xfrm>
          <a:prstGeom prst="rect">
            <a:avLst/>
          </a:prstGeom>
          <a:solidFill>
            <a:srgbClr val="7A4520"/>
          </a:solidFill>
          <a:ln/>
        </p:spPr>
      </p:sp>
      <p:sp>
        <p:nvSpPr>
          <p:cNvPr id="100" name="Text 98"/>
          <p:cNvSpPr/>
          <p:nvPr/>
        </p:nvSpPr>
        <p:spPr>
          <a:xfrm>
            <a:off x="5312664" y="5257800"/>
            <a:ext cx="1536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/ AML</a:t>
            </a:r>
            <a:endParaRPr lang="en-US" sz="800" dirty="0"/>
          </a:p>
        </p:txBody>
      </p:sp>
      <p:sp>
        <p:nvSpPr>
          <p:cNvPr id="101" name="Text 99"/>
          <p:cNvSpPr/>
          <p:nvPr/>
        </p:nvSpPr>
        <p:spPr>
          <a:xfrm>
            <a:off x="5312664" y="5486400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A4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DB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7A4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700" dirty="0"/>
          </a:p>
        </p:txBody>
      </p:sp>
      <p:sp>
        <p:nvSpPr>
          <p:cNvPr id="102" name="Shape 100"/>
          <p:cNvSpPr/>
          <p:nvPr/>
        </p:nvSpPr>
        <p:spPr>
          <a:xfrm>
            <a:off x="6931152" y="5212080"/>
            <a:ext cx="1609344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A882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6931152" y="5212080"/>
            <a:ext cx="1609344" cy="45720"/>
          </a:xfrm>
          <a:prstGeom prst="rect">
            <a:avLst/>
          </a:prstGeom>
          <a:solidFill>
            <a:srgbClr val="7A4520"/>
          </a:solidFill>
          <a:ln/>
        </p:spPr>
      </p:sp>
      <p:sp>
        <p:nvSpPr>
          <p:cNvPr id="104" name="Text 102"/>
          <p:cNvSpPr/>
          <p:nvPr/>
        </p:nvSpPr>
        <p:spPr>
          <a:xfrm>
            <a:off x="6967728" y="5257800"/>
            <a:ext cx="1536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 Mgmt</a:t>
            </a:r>
            <a:endParaRPr lang="en-US" sz="800" dirty="0"/>
          </a:p>
        </p:txBody>
      </p:sp>
      <p:sp>
        <p:nvSpPr>
          <p:cNvPr id="105" name="Text 103"/>
          <p:cNvSpPr/>
          <p:nvPr/>
        </p:nvSpPr>
        <p:spPr>
          <a:xfrm>
            <a:off x="6967728" y="5486400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A4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DB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7A4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700" dirty="0"/>
          </a:p>
        </p:txBody>
      </p:sp>
      <p:sp>
        <p:nvSpPr>
          <p:cNvPr id="106" name="Shape 104"/>
          <p:cNvSpPr/>
          <p:nvPr/>
        </p:nvSpPr>
        <p:spPr>
          <a:xfrm>
            <a:off x="8586216" y="5212080"/>
            <a:ext cx="1609344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A882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8586216" y="5212080"/>
            <a:ext cx="1609344" cy="45720"/>
          </a:xfrm>
          <a:prstGeom prst="rect">
            <a:avLst/>
          </a:prstGeom>
          <a:solidFill>
            <a:srgbClr val="5C3317"/>
          </a:solidFill>
          <a:ln/>
        </p:spPr>
      </p:sp>
      <p:sp>
        <p:nvSpPr>
          <p:cNvPr id="108" name="Text 106"/>
          <p:cNvSpPr/>
          <p:nvPr/>
        </p:nvSpPr>
        <p:spPr>
          <a:xfrm>
            <a:off x="8622792" y="5257800"/>
            <a:ext cx="1536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</a:t>
            </a:r>
            <a:endParaRPr lang="en-US" sz="800" dirty="0"/>
          </a:p>
        </p:txBody>
      </p:sp>
      <p:sp>
        <p:nvSpPr>
          <p:cNvPr id="109" name="Text 107"/>
          <p:cNvSpPr/>
          <p:nvPr/>
        </p:nvSpPr>
        <p:spPr>
          <a:xfrm>
            <a:off x="8622792" y="5486400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Service</a:t>
            </a:r>
            <a:endParaRPr lang="en-US" sz="700" dirty="0"/>
          </a:p>
        </p:txBody>
      </p:sp>
      <p:sp>
        <p:nvSpPr>
          <p:cNvPr id="110" name="Shape 108"/>
          <p:cNvSpPr/>
          <p:nvPr/>
        </p:nvSpPr>
        <p:spPr>
          <a:xfrm>
            <a:off x="10241280" y="5212080"/>
            <a:ext cx="1609344" cy="566928"/>
          </a:xfrm>
          <a:prstGeom prst="rect">
            <a:avLst/>
          </a:prstGeom>
          <a:solidFill>
            <a:srgbClr val="F7F4F0"/>
          </a:solidFill>
          <a:ln w="9525">
            <a:solidFill>
              <a:srgbClr val="D6CCC2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10241280" y="5212080"/>
            <a:ext cx="1609344" cy="45720"/>
          </a:xfrm>
          <a:prstGeom prst="rect">
            <a:avLst/>
          </a:prstGeom>
          <a:solidFill>
            <a:srgbClr val="7A6655"/>
          </a:solidFill>
          <a:ln/>
        </p:spPr>
      </p:sp>
      <p:sp>
        <p:nvSpPr>
          <p:cNvPr id="112" name="Text 110"/>
          <p:cNvSpPr/>
          <p:nvPr/>
        </p:nvSpPr>
        <p:spPr>
          <a:xfrm>
            <a:off x="10277856" y="5257800"/>
            <a:ext cx="1536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Svcs</a:t>
            </a:r>
            <a:endParaRPr lang="en-US" sz="800" dirty="0"/>
          </a:p>
        </p:txBody>
      </p:sp>
      <p:sp>
        <p:nvSpPr>
          <p:cNvPr id="113" name="Text 111"/>
          <p:cNvSpPr/>
          <p:nvPr/>
        </p:nvSpPr>
        <p:spPr>
          <a:xfrm>
            <a:off x="10277856" y="5486400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Plug-in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700" dirty="0"/>
          </a:p>
        </p:txBody>
      </p:sp>
      <p:sp>
        <p:nvSpPr>
          <p:cNvPr id="114" name="Shape 112"/>
          <p:cNvSpPr/>
          <p:nvPr/>
        </p:nvSpPr>
        <p:spPr>
          <a:xfrm>
            <a:off x="164592" y="5998464"/>
            <a:ext cx="11832336" cy="621792"/>
          </a:xfrm>
          <a:prstGeom prst="rect">
            <a:avLst/>
          </a:prstGeom>
          <a:solidFill>
            <a:srgbClr val="F7F4F0"/>
          </a:solidFill>
          <a:ln w="9525">
            <a:solidFill>
              <a:srgbClr val="D6CCC2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164592" y="5998464"/>
            <a:ext cx="11832336" cy="54864"/>
          </a:xfrm>
          <a:prstGeom prst="rect">
            <a:avLst/>
          </a:prstGeom>
          <a:solidFill>
            <a:srgbClr val="5C3317"/>
          </a:solidFill>
          <a:ln/>
        </p:spPr>
      </p:sp>
      <p:sp>
        <p:nvSpPr>
          <p:cNvPr id="116" name="Text 114"/>
          <p:cNvSpPr/>
          <p:nvPr/>
        </p:nvSpPr>
        <p:spPr>
          <a:xfrm>
            <a:off x="310896" y="6071616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200" kern="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 ·  OBSERVABILITY  ·  PLATFORM ENGINEERING</a:t>
            </a:r>
            <a:endParaRPr lang="en-US" sz="650" dirty="0"/>
          </a:p>
        </p:txBody>
      </p:sp>
      <p:sp>
        <p:nvSpPr>
          <p:cNvPr id="117" name="Shape 115"/>
          <p:cNvSpPr/>
          <p:nvPr/>
        </p:nvSpPr>
        <p:spPr>
          <a:xfrm>
            <a:off x="310896" y="6272784"/>
            <a:ext cx="1885188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A06535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347472" y="6272784"/>
            <a:ext cx="18120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 Blue/Green</a:t>
            </a:r>
            <a:endParaRPr lang="en-US" sz="800" dirty="0"/>
          </a:p>
        </p:txBody>
      </p:sp>
      <p:sp>
        <p:nvSpPr>
          <p:cNvPr id="119" name="Shape 117"/>
          <p:cNvSpPr/>
          <p:nvPr/>
        </p:nvSpPr>
        <p:spPr>
          <a:xfrm>
            <a:off x="2241804" y="6272784"/>
            <a:ext cx="1885188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A06535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2278380" y="6272784"/>
            <a:ext cx="18120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IaC</a:t>
            </a:r>
            <a:endParaRPr lang="en-US" sz="800" dirty="0"/>
          </a:p>
        </p:txBody>
      </p:sp>
      <p:sp>
        <p:nvSpPr>
          <p:cNvPr id="121" name="Shape 119"/>
          <p:cNvSpPr/>
          <p:nvPr/>
        </p:nvSpPr>
        <p:spPr>
          <a:xfrm>
            <a:off x="4172712" y="6272784"/>
            <a:ext cx="1885188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A06535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4209288" y="6272784"/>
            <a:ext cx="18120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 GitOps</a:t>
            </a:r>
            <a:endParaRPr lang="en-US" sz="800" dirty="0"/>
          </a:p>
        </p:txBody>
      </p:sp>
      <p:sp>
        <p:nvSpPr>
          <p:cNvPr id="123" name="Shape 121"/>
          <p:cNvSpPr/>
          <p:nvPr/>
        </p:nvSpPr>
        <p:spPr>
          <a:xfrm>
            <a:off x="6103620" y="6272784"/>
            <a:ext cx="1885188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A06535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6140196" y="6272784"/>
            <a:ext cx="18120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+ Grafana</a:t>
            </a:r>
            <a:endParaRPr lang="en-US" sz="800" dirty="0"/>
          </a:p>
        </p:txBody>
      </p:sp>
      <p:sp>
        <p:nvSpPr>
          <p:cNvPr id="125" name="Shape 123"/>
          <p:cNvSpPr/>
          <p:nvPr/>
        </p:nvSpPr>
        <p:spPr>
          <a:xfrm>
            <a:off x="8034528" y="6272784"/>
            <a:ext cx="1885188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5C3317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8071104" y="6272784"/>
            <a:ext cx="18120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Splunk + PagerDuty</a:t>
            </a:r>
            <a:endParaRPr lang="en-US" sz="800" dirty="0"/>
          </a:p>
        </p:txBody>
      </p:sp>
      <p:sp>
        <p:nvSpPr>
          <p:cNvPr id="127" name="Shape 125"/>
          <p:cNvSpPr/>
          <p:nvPr/>
        </p:nvSpPr>
        <p:spPr>
          <a:xfrm>
            <a:off x="9965436" y="6272784"/>
            <a:ext cx="1885188" cy="292608"/>
          </a:xfrm>
          <a:prstGeom prst="rect">
            <a:avLst/>
          </a:prstGeom>
          <a:solidFill>
            <a:srgbClr val="5C3317"/>
          </a:solidFill>
          <a:ln w="12700">
            <a:solidFill>
              <a:srgbClr val="5C3317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10002012" y="6272784"/>
            <a:ext cx="18120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99.99999%  (7 Nine's)</a:t>
            </a:r>
            <a:endParaRPr lang="en-US" sz="800" dirty="0"/>
          </a:p>
        </p:txBody>
      </p:sp>
      <p:sp>
        <p:nvSpPr>
          <p:cNvPr id="129" name="Text 127"/>
          <p:cNvSpPr/>
          <p:nvPr/>
        </p:nvSpPr>
        <p:spPr>
          <a:xfrm>
            <a:off x="365760" y="6675120"/>
            <a:ext cx="11430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89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Trade Platform Migration Strategy  ·  2025–2030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5C33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"/>
            <a:ext cx="5943600" cy="877824"/>
          </a:xfrm>
          <a:prstGeom prst="rect">
            <a:avLst/>
          </a:prstGeom>
          <a:solidFill>
            <a:srgbClr val="FEF0D4"/>
          </a:solidFill>
          <a:ln w="12700">
            <a:solidFill>
              <a:srgbClr val="FEF0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008"/>
            <a:ext cx="109728" cy="877824"/>
          </a:xfrm>
          <a:prstGeom prst="rect">
            <a:avLst/>
          </a:prstGeom>
          <a:solidFill>
            <a:srgbClr val="9B6010"/>
          </a:solidFill>
          <a:ln/>
        </p:spPr>
      </p:sp>
      <p:sp>
        <p:nvSpPr>
          <p:cNvPr id="5" name="Shape 3"/>
          <p:cNvSpPr/>
          <p:nvPr/>
        </p:nvSpPr>
        <p:spPr>
          <a:xfrm>
            <a:off x="5943600" y="64008"/>
            <a:ext cx="6217920" cy="877824"/>
          </a:xfrm>
          <a:prstGeom prst="rect">
            <a:avLst/>
          </a:prstGeom>
          <a:solidFill>
            <a:srgbClr val="F3E8DE"/>
          </a:solidFill>
          <a:ln w="12700">
            <a:solidFill>
              <a:srgbClr val="DFF0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0" y="64008"/>
            <a:ext cx="64008" cy="877824"/>
          </a:xfrm>
          <a:prstGeom prst="rect">
            <a:avLst/>
          </a:prstGeom>
          <a:solidFill>
            <a:srgbClr val="A06535"/>
          </a:solidFill>
          <a:ln/>
        </p:spPr>
      </p:sp>
      <p:sp>
        <p:nvSpPr>
          <p:cNvPr id="7" name="Text 5"/>
          <p:cNvSpPr/>
          <p:nvPr/>
        </p:nvSpPr>
        <p:spPr>
          <a:xfrm>
            <a:off x="201168" y="109728"/>
            <a:ext cx="5577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B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TPS MONOLITH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01168" y="5669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constraints limiting growth to $1B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108192" y="109728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06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ELC PLATFORM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108192" y="566928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foundation built to scale beyond $1B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0" y="960120"/>
            <a:ext cx="12161520" cy="320040"/>
          </a:xfrm>
          <a:prstGeom prst="rect">
            <a:avLst/>
          </a:prstGeom>
          <a:solidFill>
            <a:srgbClr val="EDE6DF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14416" y="1115568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01168" y="1115568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State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812280" y="1115568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State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09728" y="1298448"/>
            <a:ext cx="539496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7744" y="1389888"/>
            <a:ext cx="5138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Oracle DB · 1,800 tables shared across all services · Schema change = system-wide risk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522976" y="1444752"/>
            <a:ext cx="1115568" cy="530352"/>
          </a:xfrm>
          <a:prstGeom prst="rect">
            <a:avLst/>
          </a:prstGeom>
          <a:solidFill>
            <a:srgbClr val="EDE6DF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41264" y="1463040"/>
            <a:ext cx="10789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Architecture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656832" y="1298448"/>
            <a:ext cx="64008" cy="822960"/>
          </a:xfrm>
          <a:prstGeom prst="rect">
            <a:avLst/>
          </a:prstGeom>
          <a:solidFill>
            <a:srgbClr val="A06535"/>
          </a:solidFill>
          <a:ln/>
        </p:spPr>
      </p:sp>
      <p:sp>
        <p:nvSpPr>
          <p:cNvPr id="20" name="Shape 18"/>
          <p:cNvSpPr/>
          <p:nvPr/>
        </p:nvSpPr>
        <p:spPr>
          <a:xfrm>
            <a:off x="6720840" y="1298448"/>
            <a:ext cx="5330952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0" y="1389888"/>
            <a:ext cx="50657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DB-per-Service · PostgreSQL · MongoDB · pgvector · Services independently deployable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109728" y="2203704"/>
            <a:ext cx="5394960" cy="822960"/>
          </a:xfrm>
          <a:prstGeom prst="rect">
            <a:avLst/>
          </a:prstGeom>
          <a:solidFill>
            <a:srgbClr val="F7F4F0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7744" y="2295144"/>
            <a:ext cx="5138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~10,000 stored procedures trapped in the database · Untestable, unversionable, undocumentable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522976" y="2350008"/>
            <a:ext cx="1115568" cy="530352"/>
          </a:xfrm>
          <a:prstGeom prst="rect">
            <a:avLst/>
          </a:prstGeom>
          <a:solidFill>
            <a:srgbClr val="EDE6DF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41264" y="2368296"/>
            <a:ext cx="10789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656832" y="2203704"/>
            <a:ext cx="64008" cy="822960"/>
          </a:xfrm>
          <a:prstGeom prst="rect">
            <a:avLst/>
          </a:prstGeom>
          <a:solidFill>
            <a:srgbClr val="A06535"/>
          </a:solidFill>
          <a:ln/>
        </p:spPr>
      </p:sp>
      <p:sp>
        <p:nvSpPr>
          <p:cNvPr id="27" name="Shape 25"/>
          <p:cNvSpPr/>
          <p:nvPr/>
        </p:nvSpPr>
        <p:spPr>
          <a:xfrm>
            <a:off x="6720840" y="2203704"/>
            <a:ext cx="5330952" cy="822960"/>
          </a:xfrm>
          <a:prstGeom prst="rect">
            <a:avLst/>
          </a:prstGeom>
          <a:solidFill>
            <a:srgbClr val="F3E8DE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0" y="2295144"/>
            <a:ext cx="50657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in application layer · Version-controlled · Unit-testable · Independently deployable per service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9728" y="3108960"/>
            <a:ext cx="539496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37744" y="3200400"/>
            <a:ext cx="5138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Mule ESB spaghetti · Tight coupling across all systems · Any change risks outage everywhere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522976" y="3255264"/>
            <a:ext cx="1115568" cy="530352"/>
          </a:xfrm>
          <a:prstGeom prst="rect">
            <a:avLst/>
          </a:prstGeom>
          <a:solidFill>
            <a:srgbClr val="EDE6DF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41264" y="3273552"/>
            <a:ext cx="10789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656832" y="3108960"/>
            <a:ext cx="64008" cy="822960"/>
          </a:xfrm>
          <a:prstGeom prst="rect">
            <a:avLst/>
          </a:prstGeom>
          <a:solidFill>
            <a:srgbClr val="A06535"/>
          </a:solidFill>
          <a:ln/>
        </p:spPr>
      </p:sp>
      <p:sp>
        <p:nvSpPr>
          <p:cNvPr id="34" name="Shape 32"/>
          <p:cNvSpPr/>
          <p:nvPr/>
        </p:nvSpPr>
        <p:spPr>
          <a:xfrm>
            <a:off x="6720840" y="3108960"/>
            <a:ext cx="5330952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3200400"/>
            <a:ext cx="50657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event streaming backbone · CDC via Debezium/GoldenGate · Async &amp; replay-capable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109728" y="4014216"/>
            <a:ext cx="5394960" cy="822960"/>
          </a:xfrm>
          <a:prstGeom prst="rect">
            <a:avLst/>
          </a:prstGeom>
          <a:solidFill>
            <a:srgbClr val="F7F4F0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37744" y="4105656"/>
            <a:ext cx="5138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Batch-only overnight jobs · No real-time events · STP capped at 20% — high manual load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5522976" y="4160520"/>
            <a:ext cx="1115568" cy="530352"/>
          </a:xfrm>
          <a:prstGeom prst="rect">
            <a:avLst/>
          </a:prstGeom>
          <a:solidFill>
            <a:srgbClr val="EDE6DF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41264" y="4178808"/>
            <a:ext cx="10789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6656832" y="4014216"/>
            <a:ext cx="64008" cy="822960"/>
          </a:xfrm>
          <a:prstGeom prst="rect">
            <a:avLst/>
          </a:prstGeom>
          <a:solidFill>
            <a:srgbClr val="A06535"/>
          </a:solidFill>
          <a:ln/>
        </p:spPr>
      </p:sp>
      <p:sp>
        <p:nvSpPr>
          <p:cNvPr id="41" name="Shape 39"/>
          <p:cNvSpPr/>
          <p:nvPr/>
        </p:nvSpPr>
        <p:spPr>
          <a:xfrm>
            <a:off x="6720840" y="4014216"/>
            <a:ext cx="5330952" cy="822960"/>
          </a:xfrm>
          <a:prstGeom prst="rect">
            <a:avLst/>
          </a:prstGeom>
          <a:solidFill>
            <a:srgbClr val="F3E8DE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858000" y="4105656"/>
            <a:ext cx="50657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event-driven processing · AI Workflow Engine (ELC) · STP target ~90%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109728" y="4919472"/>
            <a:ext cx="539496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37744" y="5010912"/>
            <a:ext cx="5138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Oracle instance — vertical only · VSI deployment · 3 9's — outages expected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5522976" y="5065776"/>
            <a:ext cx="1115568" cy="530352"/>
          </a:xfrm>
          <a:prstGeom prst="rect">
            <a:avLst/>
          </a:prstGeom>
          <a:solidFill>
            <a:srgbClr val="EDE6DF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541264" y="5084064"/>
            <a:ext cx="10789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6656832" y="4919472"/>
            <a:ext cx="64008" cy="822960"/>
          </a:xfrm>
          <a:prstGeom prst="rect">
            <a:avLst/>
          </a:prstGeom>
          <a:solidFill>
            <a:srgbClr val="A06535"/>
          </a:solidFill>
          <a:ln/>
        </p:spPr>
      </p:sp>
      <p:sp>
        <p:nvSpPr>
          <p:cNvPr id="48" name="Shape 46"/>
          <p:cNvSpPr/>
          <p:nvPr/>
        </p:nvSpPr>
        <p:spPr>
          <a:xfrm>
            <a:off x="6720840" y="4919472"/>
            <a:ext cx="5330952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858000" y="5010912"/>
            <a:ext cx="50657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horizontal auto-scaling · 4-cluster HA deployment · 7 9's — 99.99999% uptime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109728" y="5824728"/>
            <a:ext cx="5394960" cy="822960"/>
          </a:xfrm>
          <a:prstGeom prst="rect">
            <a:avLst/>
          </a:prstGeom>
          <a:solidFill>
            <a:srgbClr val="F7F4F0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37744" y="5916168"/>
            <a:ext cx="5138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AI integration · All document processing manual · All decisions require human review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5522976" y="5971032"/>
            <a:ext cx="1115568" cy="530352"/>
          </a:xfrm>
          <a:prstGeom prst="rect">
            <a:avLst/>
          </a:prstGeom>
          <a:solidFill>
            <a:srgbClr val="EDE6DF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541264" y="5989320"/>
            <a:ext cx="10789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Intelligence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6656832" y="5824728"/>
            <a:ext cx="64008" cy="822960"/>
          </a:xfrm>
          <a:prstGeom prst="rect">
            <a:avLst/>
          </a:prstGeom>
          <a:solidFill>
            <a:srgbClr val="A06535"/>
          </a:solidFill>
          <a:ln/>
        </p:spPr>
      </p:sp>
      <p:sp>
        <p:nvSpPr>
          <p:cNvPr id="55" name="Shape 53"/>
          <p:cNvSpPr/>
          <p:nvPr/>
        </p:nvSpPr>
        <p:spPr>
          <a:xfrm>
            <a:off x="6720840" y="5824728"/>
            <a:ext cx="5330952" cy="822960"/>
          </a:xfrm>
          <a:prstGeom prst="rect">
            <a:avLst/>
          </a:prstGeom>
          <a:solidFill>
            <a:srgbClr val="F3E8DE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858000" y="5916168"/>
            <a:ext cx="50657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LLM-native ELC · RAG + OCR pipeline · &gt;95% accuracy · Maker/Checker fully automated at R2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365760" y="6675120"/>
            <a:ext cx="11430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89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Trade Platform Migration Strategy  ·  2025–2030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841248"/>
          </a:xfrm>
          <a:prstGeom prst="rect">
            <a:avLst/>
          </a:prstGeom>
          <a:solidFill>
            <a:srgbClr val="2B5187"/>
          </a:solidFill>
          <a:ln/>
        </p:spPr>
      </p:sp>
      <p:sp>
        <p:nvSpPr>
          <p:cNvPr id="4" name="Shape 2"/>
          <p:cNvSpPr/>
          <p:nvPr/>
        </p:nvSpPr>
        <p:spPr>
          <a:xfrm>
            <a:off x="109728" y="841248"/>
            <a:ext cx="12051792" cy="0"/>
          </a:xfrm>
          <a:prstGeom prst="line">
            <a:avLst/>
          </a:prstGeom>
          <a:noFill/>
          <a:ln w="12700">
            <a:solidFill>
              <a:srgbClr val="C9A88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2B5187"/>
          </a:solidFill>
          <a:ln/>
        </p:spPr>
      </p:sp>
      <p:sp>
        <p:nvSpPr>
          <p:cNvPr id="6" name="Text 4"/>
          <p:cNvSpPr/>
          <p:nvPr/>
        </p:nvSpPr>
        <p:spPr>
          <a:xfrm>
            <a:off x="292608" y="91440"/>
            <a:ext cx="11521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Connector — API Commercialisation Layer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292608" y="585216"/>
            <a:ext cx="11521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partner · Any integration method · Platform as a revenue channel · Reach 2,000+ counterparties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846320" y="1627632"/>
            <a:ext cx="2432304" cy="1920240"/>
          </a:xfrm>
          <a:prstGeom prst="ellipse">
            <a:avLst/>
          </a:prstGeom>
          <a:solidFill>
            <a:srgbClr val="F3E8DE"/>
          </a:solidFill>
          <a:ln w="25400">
            <a:solidFill>
              <a:srgbClr val="7A4520"/>
            </a:solidFill>
            <a:prstDash val="solid"/>
          </a:ln>
          <a:effectLst>
            <a:outerShdw sx="100000" sy="100000" kx="0" ky="0" algn="bl" rotWithShape="0" blurRad="127000" dist="38100" dir="8100000">
              <a:srgbClr val="9A8868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102352" y="1810512"/>
            <a:ext cx="2011680" cy="16276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9A882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5120640" y="2066544"/>
            <a:ext cx="1975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120640" y="2450592"/>
            <a:ext cx="1975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01168" y="98755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CHANNELS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01168" y="1298448"/>
            <a:ext cx="2944368" cy="713232"/>
          </a:xfrm>
          <a:prstGeom prst="rect">
            <a:avLst/>
          </a:prstGeom>
          <a:solidFill>
            <a:srgbClr val="F3E8DE"/>
          </a:solidFill>
          <a:ln w="9525">
            <a:solidFill>
              <a:srgbClr val="C9A882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01168" y="1298448"/>
            <a:ext cx="64008" cy="713232"/>
          </a:xfrm>
          <a:prstGeom prst="rect">
            <a:avLst/>
          </a:prstGeom>
          <a:solidFill>
            <a:srgbClr val="7A4520"/>
          </a:solidFill>
          <a:ln w="12700">
            <a:solidFill>
              <a:srgbClr val="7A452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138988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84048" y="170078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integration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145536" y="1645920"/>
            <a:ext cx="1700784" cy="640080"/>
          </a:xfrm>
          <a:prstGeom prst="line">
            <a:avLst/>
          </a:prstGeom>
          <a:noFill/>
          <a:ln w="12700">
            <a:solidFill>
              <a:srgbClr val="C9A88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01168" y="2185416"/>
            <a:ext cx="2944368" cy="713232"/>
          </a:xfrm>
          <a:prstGeom prst="rect">
            <a:avLst/>
          </a:prstGeom>
          <a:solidFill>
            <a:srgbClr val="F3E8DE"/>
          </a:solidFill>
          <a:ln w="9525">
            <a:solidFill>
              <a:srgbClr val="C9A882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01168" y="2185416"/>
            <a:ext cx="64008" cy="713232"/>
          </a:xfrm>
          <a:prstGeom prst="rect">
            <a:avLst/>
          </a:prstGeom>
          <a:solidFill>
            <a:srgbClr val="7A4520"/>
          </a:solidFill>
          <a:ln w="12700">
            <a:solidFill>
              <a:srgbClr val="7A452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" y="2276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Upload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84048" y="258775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processing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145536" y="2532888"/>
            <a:ext cx="1700784" cy="-64008"/>
          </a:xfrm>
          <a:prstGeom prst="line">
            <a:avLst/>
          </a:prstGeom>
          <a:noFill/>
          <a:ln w="12700">
            <a:solidFill>
              <a:srgbClr val="C9A88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01168" y="3072384"/>
            <a:ext cx="2944368" cy="713232"/>
          </a:xfrm>
          <a:prstGeom prst="rect">
            <a:avLst/>
          </a:prstGeom>
          <a:solidFill>
            <a:srgbClr val="F3E8DE"/>
          </a:solidFill>
          <a:ln w="9525">
            <a:solidFill>
              <a:srgbClr val="C9A882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01168" y="3072384"/>
            <a:ext cx="64008" cy="713232"/>
          </a:xfrm>
          <a:prstGeom prst="rect">
            <a:avLst/>
          </a:prstGeom>
          <a:solidFill>
            <a:srgbClr val="7A4520"/>
          </a:solidFill>
          <a:ln w="12700">
            <a:solidFill>
              <a:srgbClr val="7A452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4048" y="316382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 / MQ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84048" y="347472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Messaging protocols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145536" y="3419856"/>
            <a:ext cx="1700784" cy="-768096"/>
          </a:xfrm>
          <a:prstGeom prst="line">
            <a:avLst/>
          </a:prstGeom>
          <a:noFill/>
          <a:ln w="12700">
            <a:solidFill>
              <a:srgbClr val="C9A88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01168" y="3959352"/>
            <a:ext cx="2944368" cy="713232"/>
          </a:xfrm>
          <a:prstGeom prst="rect">
            <a:avLst/>
          </a:prstGeom>
          <a:solidFill>
            <a:srgbClr val="F3E8DE"/>
          </a:solidFill>
          <a:ln w="9525">
            <a:solidFill>
              <a:srgbClr val="C9A882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01168" y="3959352"/>
            <a:ext cx="64008" cy="713232"/>
          </a:xfrm>
          <a:prstGeom prst="rect">
            <a:avLst/>
          </a:prstGeom>
          <a:solidFill>
            <a:srgbClr val="7A4520"/>
          </a:solidFill>
          <a:ln w="12700">
            <a:solidFill>
              <a:srgbClr val="7A452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4048" y="405079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Portal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84048" y="436168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/ guided entry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145536" y="4306824"/>
            <a:ext cx="1700784" cy="-1472184"/>
          </a:xfrm>
          <a:prstGeom prst="line">
            <a:avLst/>
          </a:prstGeom>
          <a:noFill/>
          <a:ln w="12700">
            <a:solidFill>
              <a:srgbClr val="C9A88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796528" y="98755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EXPANDED NETWORK REACH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8796528" y="1298448"/>
            <a:ext cx="3200400" cy="713232"/>
          </a:xfrm>
          <a:prstGeom prst="rect">
            <a:avLst/>
          </a:prstGeom>
          <a:solidFill>
            <a:srgbClr val="F3E8DE"/>
          </a:solidFill>
          <a:ln w="9525">
            <a:solidFill>
              <a:srgbClr val="C9A882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796528" y="1298448"/>
            <a:ext cx="64008" cy="713232"/>
          </a:xfrm>
          <a:prstGeom prst="rect">
            <a:avLst/>
          </a:prstGeom>
          <a:solidFill>
            <a:srgbClr val="7A4520"/>
          </a:solidFill>
          <a:ln w="12700">
            <a:solidFill>
              <a:srgbClr val="7A452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979408" y="1426464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Buyers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11338560" y="1517904"/>
            <a:ext cx="566928" cy="274320"/>
          </a:xfrm>
          <a:prstGeom prst="rect">
            <a:avLst/>
          </a:prstGeom>
          <a:solidFill>
            <a:srgbClr val="7A4520"/>
          </a:solidFill>
          <a:ln w="12700">
            <a:solidFill>
              <a:srgbClr val="7A452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1338560" y="1517904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500+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7278624" y="2286000"/>
            <a:ext cx="1517904" cy="-640080"/>
          </a:xfrm>
          <a:prstGeom prst="line">
            <a:avLst/>
          </a:prstGeom>
          <a:noFill/>
          <a:ln w="12700">
            <a:solidFill>
              <a:srgbClr val="C9A88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796528" y="2185416"/>
            <a:ext cx="3200400" cy="713232"/>
          </a:xfrm>
          <a:prstGeom prst="rect">
            <a:avLst/>
          </a:prstGeom>
          <a:solidFill>
            <a:srgbClr val="F3E8DE"/>
          </a:solidFill>
          <a:ln w="9525">
            <a:solidFill>
              <a:srgbClr val="C9A882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8796528" y="2185416"/>
            <a:ext cx="64008" cy="713232"/>
          </a:xfrm>
          <a:prstGeom prst="rect">
            <a:avLst/>
          </a:prstGeom>
          <a:solidFill>
            <a:srgbClr val="A06535"/>
          </a:solidFill>
          <a:ln w="12700">
            <a:solidFill>
              <a:srgbClr val="A0653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979408" y="2313432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Suppliers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11338560" y="2404872"/>
            <a:ext cx="566928" cy="274320"/>
          </a:xfrm>
          <a:prstGeom prst="rect">
            <a:avLst/>
          </a:prstGeom>
          <a:solidFill>
            <a:srgbClr val="A06535"/>
          </a:solidFill>
          <a:ln w="12700">
            <a:solidFill>
              <a:srgbClr val="A0653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1338560" y="240487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1,200+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7278624" y="2468880"/>
            <a:ext cx="1517904" cy="64008"/>
          </a:xfrm>
          <a:prstGeom prst="line">
            <a:avLst/>
          </a:prstGeom>
          <a:noFill/>
          <a:ln w="12700">
            <a:solidFill>
              <a:srgbClr val="C9A88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96528" y="3072384"/>
            <a:ext cx="3200400" cy="713232"/>
          </a:xfrm>
          <a:prstGeom prst="rect">
            <a:avLst/>
          </a:prstGeom>
          <a:solidFill>
            <a:srgbClr val="F3E8DE"/>
          </a:solidFill>
          <a:ln w="9525">
            <a:solidFill>
              <a:srgbClr val="C9A882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8796528" y="3072384"/>
            <a:ext cx="64008" cy="713232"/>
          </a:xfrm>
          <a:prstGeom prst="rect">
            <a:avLst/>
          </a:prstGeom>
          <a:solidFill>
            <a:srgbClr val="5C3317"/>
          </a:solidFill>
          <a:ln w="12700">
            <a:solidFill>
              <a:srgbClr val="5C331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979408" y="320040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11338560" y="3291840"/>
            <a:ext cx="566928" cy="274320"/>
          </a:xfrm>
          <a:prstGeom prst="rect">
            <a:avLst/>
          </a:prstGeom>
          <a:solidFill>
            <a:srgbClr val="5C3317"/>
          </a:solidFill>
          <a:ln w="12700">
            <a:solidFill>
              <a:srgbClr val="5C331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1338560" y="3291840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7278624" y="2651760"/>
            <a:ext cx="1517904" cy="768096"/>
          </a:xfrm>
          <a:prstGeom prst="line">
            <a:avLst/>
          </a:prstGeom>
          <a:noFill/>
          <a:ln w="12700">
            <a:solidFill>
              <a:srgbClr val="C9A88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796528" y="3959352"/>
            <a:ext cx="3200400" cy="713232"/>
          </a:xfrm>
          <a:prstGeom prst="rect">
            <a:avLst/>
          </a:prstGeom>
          <a:solidFill>
            <a:srgbClr val="FEF0D4"/>
          </a:solidFill>
          <a:ln w="9525">
            <a:solidFill>
              <a:srgbClr val="E0B870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8796528" y="3959352"/>
            <a:ext cx="64008" cy="713232"/>
          </a:xfrm>
          <a:prstGeom prst="rect">
            <a:avLst/>
          </a:prstGeom>
          <a:solidFill>
            <a:srgbClr val="9B6010"/>
          </a:solidFill>
          <a:ln w="12700">
            <a:solidFill>
              <a:srgbClr val="9B601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979408" y="408736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Corporates</a:t>
            </a:r>
            <a:endParaRPr lang="en-US" sz="1400" dirty="0"/>
          </a:p>
        </p:txBody>
      </p:sp>
      <p:sp>
        <p:nvSpPr>
          <p:cNvPr id="55" name="Shape 53"/>
          <p:cNvSpPr/>
          <p:nvPr/>
        </p:nvSpPr>
        <p:spPr>
          <a:xfrm>
            <a:off x="11338560" y="4178808"/>
            <a:ext cx="566928" cy="274320"/>
          </a:xfrm>
          <a:prstGeom prst="rect">
            <a:avLst/>
          </a:prstGeom>
          <a:solidFill>
            <a:srgbClr val="9B6010"/>
          </a:solidFill>
          <a:ln w="12700">
            <a:solidFill>
              <a:srgbClr val="9B601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1338560" y="4178808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300+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7278624" y="2834640"/>
            <a:ext cx="1517904" cy="1472184"/>
          </a:xfrm>
          <a:prstGeom prst="line">
            <a:avLst/>
          </a:prstGeom>
          <a:noFill/>
          <a:ln w="12700">
            <a:solidFill>
              <a:srgbClr val="E0B87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242816" y="382219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READY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4261104" y="4096512"/>
            <a:ext cx="1133856" cy="621792"/>
          </a:xfrm>
          <a:prstGeom prst="rect">
            <a:avLst/>
          </a:prstGeom>
          <a:solidFill>
            <a:srgbClr val="F7F4F0"/>
          </a:solidFill>
          <a:ln w="19050">
            <a:solidFill>
              <a:srgbClr val="5C3317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261104" y="4096512"/>
            <a:ext cx="1133856" cy="64008"/>
          </a:xfrm>
          <a:prstGeom prst="rect">
            <a:avLst/>
          </a:prstGeom>
          <a:solidFill>
            <a:srgbClr val="5C3317"/>
          </a:solidFill>
          <a:ln/>
        </p:spPr>
      </p:sp>
      <p:sp>
        <p:nvSpPr>
          <p:cNvPr id="61" name="Text 59"/>
          <p:cNvSpPr/>
          <p:nvPr/>
        </p:nvSpPr>
        <p:spPr>
          <a:xfrm>
            <a:off x="4315968" y="4187952"/>
            <a:ext cx="10241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20022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5504688" y="4096512"/>
            <a:ext cx="1133856" cy="621792"/>
          </a:xfrm>
          <a:prstGeom prst="rect">
            <a:avLst/>
          </a:prstGeom>
          <a:solidFill>
            <a:srgbClr val="F7F4F0"/>
          </a:solidFill>
          <a:ln w="19050">
            <a:solidFill>
              <a:srgbClr val="7A452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504688" y="4096512"/>
            <a:ext cx="1133856" cy="64008"/>
          </a:xfrm>
          <a:prstGeom prst="rect">
            <a:avLst/>
          </a:prstGeom>
          <a:solidFill>
            <a:srgbClr val="7A4520"/>
          </a:solidFill>
          <a:ln/>
        </p:spPr>
      </p:sp>
      <p:sp>
        <p:nvSpPr>
          <p:cNvPr id="64" name="Text 62"/>
          <p:cNvSpPr/>
          <p:nvPr/>
        </p:nvSpPr>
        <p:spPr>
          <a:xfrm>
            <a:off x="5559552" y="4187952"/>
            <a:ext cx="10241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A4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Services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6748272" y="4096512"/>
            <a:ext cx="1133856" cy="621792"/>
          </a:xfrm>
          <a:prstGeom prst="rect">
            <a:avLst/>
          </a:prstGeom>
          <a:solidFill>
            <a:srgbClr val="F7F4F0"/>
          </a:solidFill>
          <a:ln w="19050">
            <a:solidFill>
              <a:srgbClr val="A06535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748272" y="4096512"/>
            <a:ext cx="1133856" cy="64008"/>
          </a:xfrm>
          <a:prstGeom prst="rect">
            <a:avLst/>
          </a:prstGeom>
          <a:solidFill>
            <a:srgbClr val="A06535"/>
          </a:solidFill>
          <a:ln/>
        </p:spPr>
      </p:sp>
      <p:sp>
        <p:nvSpPr>
          <p:cNvPr id="67" name="Text 65"/>
          <p:cNvSpPr/>
          <p:nvPr/>
        </p:nvSpPr>
        <p:spPr>
          <a:xfrm>
            <a:off x="6803136" y="4187952"/>
            <a:ext cx="10241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06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Events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201168" y="4828032"/>
            <a:ext cx="5486400" cy="1591056"/>
          </a:xfrm>
          <a:prstGeom prst="rect">
            <a:avLst/>
          </a:prstGeom>
          <a:solidFill>
            <a:srgbClr val="F7F4F0"/>
          </a:solidFill>
          <a:ln w="9525">
            <a:solidFill>
              <a:srgbClr val="D6CCC2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201168" y="4828032"/>
            <a:ext cx="64008" cy="1591056"/>
          </a:xfrm>
          <a:prstGeom prst="rect">
            <a:avLst/>
          </a:prstGeom>
          <a:solidFill>
            <a:srgbClr val="5C3317"/>
          </a:solidFill>
          <a:ln w="12700">
            <a:solidFill>
              <a:srgbClr val="5C3317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84048" y="4919472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 USE CASE — SBLC Issuance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384048" y="5248656"/>
            <a:ext cx="5212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corporate client installs the SBLC Plugin on their ERP. With a single API call they issue a Standby Letter of Credit directly — no portal login, no manual entry, no email chain. The Connector validates through the AI Workflow Engine and returns a confirmed reference in seconds. Friction eliminated, volume unlocked.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6035040" y="4828032"/>
            <a:ext cx="5943600" cy="1591056"/>
          </a:xfrm>
          <a:prstGeom prst="rect">
            <a:avLst/>
          </a:prstGeom>
          <a:solidFill>
            <a:srgbClr val="FEF0D4"/>
          </a:solidFill>
          <a:ln w="9525">
            <a:solidFill>
              <a:srgbClr val="E0B870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73" name="Shape 71"/>
          <p:cNvSpPr/>
          <p:nvPr/>
        </p:nvSpPr>
        <p:spPr>
          <a:xfrm>
            <a:off x="6035040" y="4828032"/>
            <a:ext cx="64008" cy="1591056"/>
          </a:xfrm>
          <a:prstGeom prst="rect">
            <a:avLst/>
          </a:prstGeom>
          <a:solidFill>
            <a:srgbClr val="9B6010"/>
          </a:solidFill>
          <a:ln w="12700">
            <a:solidFill>
              <a:srgbClr val="9B601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236208" y="4919472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6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COMMERCIALISATION MODEL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6236208" y="5266944"/>
            <a:ext cx="5577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API subscription tiers — per-call or monthly volume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6236208" y="5495544"/>
            <a:ext cx="5577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White-label plugin licensing to bank partners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6236208" y="5724144"/>
            <a:ext cx="5577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Marketplace listing: KYC · Doc Mgmt · AI/ML modules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6236208" y="5952744"/>
            <a:ext cx="5577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Revenue share on embedded fintech partner integrations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365760" y="6675120"/>
            <a:ext cx="11430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89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Trade Platform Migration Strategy  ·  2025–2030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841248"/>
          </a:xfrm>
          <a:prstGeom prst="rect">
            <a:avLst/>
          </a:prstGeom>
          <a:solidFill>
            <a:srgbClr val="9B6010"/>
          </a:solidFill>
          <a:ln/>
        </p:spPr>
      </p:sp>
      <p:sp>
        <p:nvSpPr>
          <p:cNvPr id="4" name="Shape 2"/>
          <p:cNvSpPr/>
          <p:nvPr/>
        </p:nvSpPr>
        <p:spPr>
          <a:xfrm>
            <a:off x="109728" y="841248"/>
            <a:ext cx="12051792" cy="0"/>
          </a:xfrm>
          <a:prstGeom prst="line">
            <a:avLst/>
          </a:prstGeom>
          <a:noFill/>
          <a:ln w="12700">
            <a:solidFill>
              <a:srgbClr val="C9A88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9B6010"/>
          </a:solidFill>
          <a:ln/>
        </p:spPr>
      </p:sp>
      <p:sp>
        <p:nvSpPr>
          <p:cNvPr id="6" name="Text 4"/>
          <p:cNvSpPr/>
          <p:nvPr/>
        </p:nvSpPr>
        <p:spPr>
          <a:xfrm>
            <a:off x="292608" y="91440"/>
            <a:ext cx="11521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Duplication Crisis — Two Orgs, Same Logic, No Single Owner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292608" y="585216"/>
            <a:ext cx="11521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TPS &amp; APAR both contain duplicate Billing · Participation · CIF — any change requires all systems, all teams, full regression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01168" y="1005840"/>
            <a:ext cx="3017520" cy="5120640"/>
          </a:xfrm>
          <a:prstGeom prst="rect">
            <a:avLst/>
          </a:prstGeom>
          <a:solidFill>
            <a:srgbClr val="F7F4F0"/>
          </a:solidFill>
          <a:ln w="9525">
            <a:solidFill>
              <a:srgbClr val="D6CCC2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01168" y="1005840"/>
            <a:ext cx="3017520" cy="365760"/>
          </a:xfrm>
          <a:prstGeom prst="rect">
            <a:avLst/>
          </a:prstGeom>
          <a:solidFill>
            <a:srgbClr val="5C3317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" y="104241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ORG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47472" y="1481328"/>
            <a:ext cx="1417320" cy="256032"/>
          </a:xfrm>
          <a:prstGeom prst="rect">
            <a:avLst/>
          </a:prstGeom>
          <a:solidFill>
            <a:srgbClr val="5C3317"/>
          </a:solidFill>
          <a:ln w="12700">
            <a:solidFill>
              <a:srgbClr val="5C331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" y="148132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Shared Modules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47472" y="1847088"/>
            <a:ext cx="2706624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1865376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47472" y="2276856"/>
            <a:ext cx="2706624" cy="365760"/>
          </a:xfrm>
          <a:prstGeom prst="rect">
            <a:avLst/>
          </a:prstGeom>
          <a:solidFill>
            <a:srgbClr val="F7F4F0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2295144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 Posting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47472" y="2706624"/>
            <a:ext cx="2706624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272491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Initiation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47472" y="3136392"/>
            <a:ext cx="2706624" cy="365760"/>
          </a:xfrm>
          <a:prstGeom prst="rect">
            <a:avLst/>
          </a:prstGeom>
          <a:solidFill>
            <a:srgbClr val="F7F4F0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" y="315468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Service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47472" y="3566160"/>
            <a:ext cx="2706624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" y="358444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Navigator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47472" y="3995928"/>
            <a:ext cx="2706624" cy="365760"/>
          </a:xfrm>
          <a:prstGeom prst="rect">
            <a:avLst/>
          </a:prstGeom>
          <a:solidFill>
            <a:srgbClr val="F7F4F0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" y="4014216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 Express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47472" y="4425696"/>
            <a:ext cx="2706624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" y="4443984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47472" y="4855464"/>
            <a:ext cx="2706624" cy="365760"/>
          </a:xfrm>
          <a:prstGeom prst="rect">
            <a:avLst/>
          </a:prstGeom>
          <a:solidFill>
            <a:srgbClr val="F7F4F0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" y="487375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Sentry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47472" y="5285232"/>
            <a:ext cx="2706624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" y="530352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PUPEE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383280" y="1005840"/>
            <a:ext cx="8595360" cy="5120640"/>
          </a:xfrm>
          <a:prstGeom prst="rect">
            <a:avLst/>
          </a:prstGeom>
          <a:solidFill>
            <a:srgbClr val="FFFFFF"/>
          </a:solidFill>
          <a:ln w="9525">
            <a:solidFill>
              <a:srgbClr val="D6CCC2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383280" y="1005840"/>
            <a:ext cx="8595360" cy="365760"/>
          </a:xfrm>
          <a:prstGeom prst="rect">
            <a:avLst/>
          </a:prstGeom>
          <a:solidFill>
            <a:srgbClr val="5C3317"/>
          </a:solidFill>
          <a:ln/>
        </p:spPr>
      </p:sp>
      <p:sp>
        <p:nvSpPr>
          <p:cNvPr id="33" name="Text 31"/>
          <p:cNvSpPr/>
          <p:nvPr/>
        </p:nvSpPr>
        <p:spPr>
          <a:xfrm>
            <a:off x="3529584" y="104241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ORG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11228832" y="1078992"/>
            <a:ext cx="676656" cy="219456"/>
          </a:xfrm>
          <a:prstGeom prst="rect">
            <a:avLst/>
          </a:prstGeom>
          <a:solidFill>
            <a:srgbClr val="7A4520"/>
          </a:solidFill>
          <a:ln w="12700">
            <a:solidFill>
              <a:srgbClr val="7A452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1228832" y="1078992"/>
            <a:ext cx="676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Systems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3529584" y="1444752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&amp; Applications: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3529584" y="1719072"/>
            <a:ext cx="2578608" cy="2788920"/>
          </a:xfrm>
          <a:prstGeom prst="rect">
            <a:avLst/>
          </a:prstGeom>
          <a:solidFill>
            <a:srgbClr val="F3E8DE"/>
          </a:solidFill>
          <a:ln w="12700">
            <a:solidFill>
              <a:srgbClr val="8AADD4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529584" y="1719072"/>
            <a:ext cx="2578608" cy="310896"/>
          </a:xfrm>
          <a:prstGeom prst="rect">
            <a:avLst/>
          </a:prstGeom>
          <a:solidFill>
            <a:srgbClr val="7A4520"/>
          </a:solidFill>
          <a:ln/>
        </p:spPr>
      </p:sp>
      <p:sp>
        <p:nvSpPr>
          <p:cNvPr id="39" name="Text 37"/>
          <p:cNvSpPr/>
          <p:nvPr/>
        </p:nvSpPr>
        <p:spPr>
          <a:xfrm>
            <a:off x="3639312" y="1737360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TPS Platform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3639312" y="210312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MODULES: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3639312" y="2322576"/>
            <a:ext cx="2304288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767328" y="234086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639312" y="2743200"/>
            <a:ext cx="2304288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767328" y="276148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 Posting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639312" y="3163824"/>
            <a:ext cx="2304288" cy="347472"/>
          </a:xfrm>
          <a:prstGeom prst="rect">
            <a:avLst/>
          </a:prstGeom>
          <a:solidFill>
            <a:srgbClr val="FEF0D4"/>
          </a:solidFill>
          <a:ln w="15240">
            <a:solidFill>
              <a:srgbClr val="9B601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767328" y="318211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Participation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321808" y="3236976"/>
            <a:ext cx="512064" cy="201168"/>
          </a:xfrm>
          <a:prstGeom prst="rect">
            <a:avLst/>
          </a:prstGeom>
          <a:solidFill>
            <a:srgbClr val="9B6010"/>
          </a:solidFill>
          <a:ln w="12700">
            <a:solidFill>
              <a:srgbClr val="9B601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321808" y="3236976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3639312" y="3566160"/>
            <a:ext cx="2304288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767328" y="358444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272784" y="1719072"/>
            <a:ext cx="2578608" cy="2788920"/>
          </a:xfrm>
          <a:prstGeom prst="rect">
            <a:avLst/>
          </a:prstGeom>
          <a:solidFill>
            <a:srgbClr val="FEF0D4"/>
          </a:solidFill>
          <a:ln w="12700">
            <a:solidFill>
              <a:srgbClr val="9B6010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6272784" y="1719072"/>
            <a:ext cx="2578608" cy="310896"/>
          </a:xfrm>
          <a:prstGeom prst="rect">
            <a:avLst/>
          </a:prstGeom>
          <a:solidFill>
            <a:srgbClr val="9B6010"/>
          </a:solidFill>
          <a:ln/>
        </p:spPr>
      </p:sp>
      <p:sp>
        <p:nvSpPr>
          <p:cNvPr id="53" name="Text 51"/>
          <p:cNvSpPr/>
          <p:nvPr/>
        </p:nvSpPr>
        <p:spPr>
          <a:xfrm>
            <a:off x="6382512" y="1737360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 Platform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6382512" y="210312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MODULES: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6382512" y="2322576"/>
            <a:ext cx="2304288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510528" y="234086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6382512" y="2743200"/>
            <a:ext cx="2304288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510528" y="276148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 Posting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6382512" y="3163824"/>
            <a:ext cx="2304288" cy="347472"/>
          </a:xfrm>
          <a:prstGeom prst="rect">
            <a:avLst/>
          </a:prstGeom>
          <a:solidFill>
            <a:srgbClr val="FEE8C2"/>
          </a:solidFill>
          <a:ln w="19050">
            <a:solidFill>
              <a:srgbClr val="9B601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510528" y="318211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B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Participation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8065008" y="3236976"/>
            <a:ext cx="512064" cy="201168"/>
          </a:xfrm>
          <a:prstGeom prst="rect">
            <a:avLst/>
          </a:prstGeom>
          <a:solidFill>
            <a:srgbClr val="9B6010"/>
          </a:solidFill>
          <a:ln w="12700">
            <a:solidFill>
              <a:srgbClr val="9B601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065008" y="3236976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6382512" y="3566160"/>
            <a:ext cx="2304288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510528" y="358444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9034272" y="1938528"/>
            <a:ext cx="1389888" cy="256032"/>
          </a:xfrm>
          <a:prstGeom prst="rect">
            <a:avLst/>
          </a:prstGeom>
          <a:solidFill>
            <a:srgbClr val="F7F4F0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9070848" y="1947672"/>
            <a:ext cx="1316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TCFE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10543032" y="1938528"/>
            <a:ext cx="1389888" cy="256032"/>
          </a:xfrm>
          <a:prstGeom prst="rect">
            <a:avLst/>
          </a:prstGeom>
          <a:solidFill>
            <a:srgbClr val="F7F4F0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0579608" y="1947672"/>
            <a:ext cx="1316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TCE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9034272" y="2258568"/>
            <a:ext cx="1389888" cy="256032"/>
          </a:xfrm>
          <a:prstGeom prst="rect">
            <a:avLst/>
          </a:prstGeom>
          <a:solidFill>
            <a:srgbClr val="F7F4F0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9070848" y="2267712"/>
            <a:ext cx="1316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10543032" y="2258568"/>
            <a:ext cx="1389888" cy="256032"/>
          </a:xfrm>
          <a:prstGeom prst="rect">
            <a:avLst/>
          </a:prstGeom>
          <a:solidFill>
            <a:srgbClr val="F7F4F0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10579608" y="2267712"/>
            <a:ext cx="1316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9034272" y="2578608"/>
            <a:ext cx="1389888" cy="256032"/>
          </a:xfrm>
          <a:prstGeom prst="rect">
            <a:avLst/>
          </a:prstGeom>
          <a:solidFill>
            <a:srgbClr val="F7F4F0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9070848" y="2587752"/>
            <a:ext cx="1316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ClearTrade</a:t>
            </a:r>
            <a:endParaRPr lang="en-US" sz="750" dirty="0"/>
          </a:p>
        </p:txBody>
      </p:sp>
      <p:sp>
        <p:nvSpPr>
          <p:cNvPr id="75" name="Shape 73"/>
          <p:cNvSpPr/>
          <p:nvPr/>
        </p:nvSpPr>
        <p:spPr>
          <a:xfrm>
            <a:off x="10543032" y="2578608"/>
            <a:ext cx="1389888" cy="256032"/>
          </a:xfrm>
          <a:prstGeom prst="rect">
            <a:avLst/>
          </a:prstGeom>
          <a:solidFill>
            <a:srgbClr val="F7F4F0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10579608" y="2587752"/>
            <a:ext cx="1316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TradeSharp</a:t>
            </a:r>
            <a:endParaRPr lang="en-US" sz="750" dirty="0"/>
          </a:p>
        </p:txBody>
      </p:sp>
      <p:sp>
        <p:nvSpPr>
          <p:cNvPr id="77" name="Shape 75"/>
          <p:cNvSpPr/>
          <p:nvPr/>
        </p:nvSpPr>
        <p:spPr>
          <a:xfrm>
            <a:off x="9034272" y="2898648"/>
            <a:ext cx="1389888" cy="256032"/>
          </a:xfrm>
          <a:prstGeom prst="rect">
            <a:avLst/>
          </a:prstGeom>
          <a:solidFill>
            <a:srgbClr val="F7F4F0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9070848" y="2907792"/>
            <a:ext cx="1316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Falcon</a:t>
            </a:r>
            <a:endParaRPr lang="en-US" sz="750" dirty="0"/>
          </a:p>
        </p:txBody>
      </p:sp>
      <p:sp>
        <p:nvSpPr>
          <p:cNvPr id="79" name="Shape 77"/>
          <p:cNvSpPr/>
          <p:nvPr/>
        </p:nvSpPr>
        <p:spPr>
          <a:xfrm>
            <a:off x="10543032" y="2898648"/>
            <a:ext cx="1389888" cy="256032"/>
          </a:xfrm>
          <a:prstGeom prst="rect">
            <a:avLst/>
          </a:prstGeom>
          <a:solidFill>
            <a:srgbClr val="F7F4F0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10579608" y="2907792"/>
            <a:ext cx="1316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Inigio</a:t>
            </a:r>
            <a:endParaRPr lang="en-US" sz="750" dirty="0"/>
          </a:p>
        </p:txBody>
      </p:sp>
      <p:sp>
        <p:nvSpPr>
          <p:cNvPr id="81" name="Shape 79"/>
          <p:cNvSpPr/>
          <p:nvPr/>
        </p:nvSpPr>
        <p:spPr>
          <a:xfrm>
            <a:off x="9034272" y="3218688"/>
            <a:ext cx="1389888" cy="256032"/>
          </a:xfrm>
          <a:prstGeom prst="rect">
            <a:avLst/>
          </a:prstGeom>
          <a:solidFill>
            <a:srgbClr val="F7F4F0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9070848" y="3227832"/>
            <a:ext cx="1316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</a:t>
            </a:r>
            <a:endParaRPr lang="en-US" sz="750" dirty="0"/>
          </a:p>
        </p:txBody>
      </p:sp>
      <p:sp>
        <p:nvSpPr>
          <p:cNvPr id="83" name="Shape 81"/>
          <p:cNvSpPr/>
          <p:nvPr/>
        </p:nvSpPr>
        <p:spPr>
          <a:xfrm>
            <a:off x="10543032" y="3218688"/>
            <a:ext cx="1389888" cy="256032"/>
          </a:xfrm>
          <a:prstGeom prst="rect">
            <a:avLst/>
          </a:prstGeom>
          <a:solidFill>
            <a:srgbClr val="F7F4F0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10579608" y="3227832"/>
            <a:ext cx="1316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CRM</a:t>
            </a:r>
            <a:endParaRPr lang="en-US" sz="750" dirty="0"/>
          </a:p>
        </p:txBody>
      </p:sp>
      <p:sp>
        <p:nvSpPr>
          <p:cNvPr id="85" name="Shape 83"/>
          <p:cNvSpPr/>
          <p:nvPr/>
        </p:nvSpPr>
        <p:spPr>
          <a:xfrm>
            <a:off x="9034272" y="3538728"/>
            <a:ext cx="1389888" cy="256032"/>
          </a:xfrm>
          <a:prstGeom prst="rect">
            <a:avLst/>
          </a:prstGeom>
          <a:solidFill>
            <a:srgbClr val="F7F4F0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9070848" y="3547872"/>
            <a:ext cx="1316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SmartDX</a:t>
            </a:r>
            <a:endParaRPr lang="en-US" sz="750" dirty="0"/>
          </a:p>
        </p:txBody>
      </p:sp>
      <p:sp>
        <p:nvSpPr>
          <p:cNvPr id="87" name="Shape 85"/>
          <p:cNvSpPr/>
          <p:nvPr/>
        </p:nvSpPr>
        <p:spPr>
          <a:xfrm>
            <a:off x="10543032" y="3538728"/>
            <a:ext cx="1389888" cy="256032"/>
          </a:xfrm>
          <a:prstGeom prst="rect">
            <a:avLst/>
          </a:prstGeom>
          <a:solidFill>
            <a:srgbClr val="F7F4F0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10579608" y="3547872"/>
            <a:ext cx="1316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Integrator</a:t>
            </a:r>
            <a:endParaRPr lang="en-US" sz="750" dirty="0"/>
          </a:p>
        </p:txBody>
      </p:sp>
      <p:sp>
        <p:nvSpPr>
          <p:cNvPr id="89" name="Text 87"/>
          <p:cNvSpPr/>
          <p:nvPr/>
        </p:nvSpPr>
        <p:spPr>
          <a:xfrm>
            <a:off x="9034272" y="170078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Systems:</a:t>
            </a:r>
            <a:endParaRPr lang="en-US" sz="750" dirty="0"/>
          </a:p>
        </p:txBody>
      </p:sp>
      <p:sp>
        <p:nvSpPr>
          <p:cNvPr id="90" name="Shape 88"/>
          <p:cNvSpPr/>
          <p:nvPr/>
        </p:nvSpPr>
        <p:spPr>
          <a:xfrm>
            <a:off x="201168" y="4608576"/>
            <a:ext cx="11777472" cy="1463040"/>
          </a:xfrm>
          <a:prstGeom prst="rect">
            <a:avLst/>
          </a:prstGeom>
          <a:solidFill>
            <a:srgbClr val="FEF0D4"/>
          </a:solidFill>
          <a:ln w="12700">
            <a:solidFill>
              <a:srgbClr val="E0B870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201168" y="4608576"/>
            <a:ext cx="11777472" cy="64008"/>
          </a:xfrm>
          <a:prstGeom prst="rect">
            <a:avLst/>
          </a:prstGeom>
          <a:solidFill>
            <a:srgbClr val="9B6010"/>
          </a:solidFill>
          <a:ln/>
        </p:spPr>
      </p:sp>
      <p:sp>
        <p:nvSpPr>
          <p:cNvPr id="92" name="Text 90"/>
          <p:cNvSpPr/>
          <p:nvPr/>
        </p:nvSpPr>
        <p:spPr>
          <a:xfrm>
            <a:off x="347472" y="47000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B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Cost of Duplication</a:t>
            </a:r>
            <a:endParaRPr lang="en-US" sz="1100" dirty="0"/>
          </a:p>
        </p:txBody>
      </p:sp>
      <p:sp>
        <p:nvSpPr>
          <p:cNvPr id="93" name="Text 91"/>
          <p:cNvSpPr/>
          <p:nvPr/>
        </p:nvSpPr>
        <p:spPr>
          <a:xfrm>
            <a:off x="347472" y="501091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B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billing change?</a:t>
            </a:r>
            <a:endParaRPr lang="en-US" sz="950" dirty="0"/>
          </a:p>
        </p:txBody>
      </p:sp>
      <p:sp>
        <p:nvSpPr>
          <p:cNvPr id="94" name="Text 92"/>
          <p:cNvSpPr/>
          <p:nvPr/>
        </p:nvSpPr>
        <p:spPr>
          <a:xfrm>
            <a:off x="347472" y="5321808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TPS + APAR + full regression on both. 2× dev effort, 2× QA, 2× deployment risk.</a:t>
            </a:r>
            <a:endParaRPr lang="en-US" sz="850" dirty="0"/>
          </a:p>
        </p:txBody>
      </p:sp>
      <p:sp>
        <p:nvSpPr>
          <p:cNvPr id="95" name="Text 93"/>
          <p:cNvSpPr/>
          <p:nvPr/>
        </p:nvSpPr>
        <p:spPr>
          <a:xfrm>
            <a:off x="3291840" y="501091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B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teams mobilised</a:t>
            </a:r>
            <a:endParaRPr lang="en-US" sz="950" dirty="0"/>
          </a:p>
        </p:txBody>
      </p:sp>
      <p:sp>
        <p:nvSpPr>
          <p:cNvPr id="96" name="Text 94"/>
          <p:cNvSpPr/>
          <p:nvPr/>
        </p:nvSpPr>
        <p:spPr>
          <a:xfrm>
            <a:off x="3291840" y="5321808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Billing, CIF, Participation, Ops, QA — every change becomes a multi-team programme.</a:t>
            </a:r>
            <a:endParaRPr lang="en-US" sz="850" dirty="0"/>
          </a:p>
        </p:txBody>
      </p:sp>
      <p:sp>
        <p:nvSpPr>
          <p:cNvPr id="97" name="Text 95"/>
          <p:cNvSpPr/>
          <p:nvPr/>
        </p:nvSpPr>
        <p:spPr>
          <a:xfrm>
            <a:off x="6236208" y="501091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B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Divergent bugs</a:t>
            </a:r>
            <a:endParaRPr lang="en-US" sz="950" dirty="0"/>
          </a:p>
        </p:txBody>
      </p:sp>
      <p:sp>
        <p:nvSpPr>
          <p:cNvPr id="98" name="Text 96"/>
          <p:cNvSpPr/>
          <p:nvPr/>
        </p:nvSpPr>
        <p:spPr>
          <a:xfrm>
            <a:off x="6236208" y="5321808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logic differs across platforms — inconsistent client results across channels.</a:t>
            </a:r>
            <a:endParaRPr lang="en-US" sz="850" dirty="0"/>
          </a:p>
        </p:txBody>
      </p:sp>
      <p:sp>
        <p:nvSpPr>
          <p:cNvPr id="99" name="Text 97"/>
          <p:cNvSpPr/>
          <p:nvPr/>
        </p:nvSpPr>
        <p:spPr>
          <a:xfrm>
            <a:off x="9180576" y="501091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B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 crushed</a:t>
            </a:r>
            <a:endParaRPr lang="en-US" sz="950" dirty="0"/>
          </a:p>
        </p:txBody>
      </p:sp>
      <p:sp>
        <p:nvSpPr>
          <p:cNvPr id="100" name="Text 98"/>
          <p:cNvSpPr/>
          <p:nvPr/>
        </p:nvSpPr>
        <p:spPr>
          <a:xfrm>
            <a:off x="9180576" y="5321808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Time-to-market 3–12 months. A config change takes weeks across coordinated release trains.</a:t>
            </a:r>
            <a:endParaRPr lang="en-US" sz="850" dirty="0"/>
          </a:p>
        </p:txBody>
      </p:sp>
      <p:sp>
        <p:nvSpPr>
          <p:cNvPr id="101" name="Text 99"/>
          <p:cNvSpPr/>
          <p:nvPr/>
        </p:nvSpPr>
        <p:spPr>
          <a:xfrm>
            <a:off x="365760" y="6675120"/>
            <a:ext cx="11430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89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Trade Platform Migration Strategy  ·  2025–2030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5C3317"/>
          </a:solidFill>
          <a:ln/>
        </p:spPr>
      </p:sp>
      <p:sp>
        <p:nvSpPr>
          <p:cNvPr id="4" name="Shape 2"/>
          <p:cNvSpPr/>
          <p:nvPr/>
        </p:nvSpPr>
        <p:spPr>
          <a:xfrm>
            <a:off x="109728" y="914400"/>
            <a:ext cx="12051792" cy="0"/>
          </a:xfrm>
          <a:prstGeom prst="line">
            <a:avLst/>
          </a:prstGeom>
          <a:noFill/>
          <a:ln w="12700">
            <a:solidFill>
              <a:srgbClr val="C9A88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5C3317"/>
          </a:solidFill>
          <a:ln/>
        </p:spPr>
      </p:sp>
      <p:sp>
        <p:nvSpPr>
          <p:cNvPr id="6" name="Text 4"/>
          <p:cNvSpPr/>
          <p:nvPr/>
        </p:nvSpPr>
        <p:spPr>
          <a:xfrm>
            <a:off x="292608" y="91440"/>
            <a:ext cx="9144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Focused Domain Ownership — From Duplication to Clarity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292608" y="566928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logic has a single owner, every change is faster, cheaper, and safer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1005840"/>
            <a:ext cx="5120640" cy="4096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0B870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82880" y="1005840"/>
            <a:ext cx="5120640" cy="347472"/>
          </a:xfrm>
          <a:prstGeom prst="rect">
            <a:avLst/>
          </a:prstGeom>
          <a:solidFill>
            <a:srgbClr val="9B6010"/>
          </a:solidFill>
          <a:ln w="12700">
            <a:solidFill>
              <a:srgbClr val="9B601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0896" y="1060704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BEFORE — Duplicated Logic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10896" y="1481328"/>
            <a:ext cx="4864608" cy="877824"/>
          </a:xfrm>
          <a:prstGeom prst="rect">
            <a:avLst/>
          </a:prstGeom>
          <a:solidFill>
            <a:srgbClr val="FEF0D4"/>
          </a:solidFill>
          <a:ln w="6350">
            <a:solidFill>
              <a:srgbClr val="E0B87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2336" y="1554480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Logic  exists in: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02336" y="1847088"/>
            <a:ext cx="1444752" cy="329184"/>
          </a:xfrm>
          <a:prstGeom prst="rect">
            <a:avLst/>
          </a:prstGeom>
          <a:solidFill>
            <a:srgbClr val="FFFFFF"/>
          </a:solidFill>
          <a:ln w="15240">
            <a:solidFill>
              <a:srgbClr val="E0B87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0624" y="1865376"/>
            <a:ext cx="1408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B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TPS Platform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975104" y="1847088"/>
            <a:ext cx="1444752" cy="329184"/>
          </a:xfrm>
          <a:prstGeom prst="rect">
            <a:avLst/>
          </a:prstGeom>
          <a:solidFill>
            <a:srgbClr val="FFFFFF"/>
          </a:solidFill>
          <a:ln w="15240">
            <a:solidFill>
              <a:srgbClr val="E0B87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93392" y="1865376"/>
            <a:ext cx="1408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B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 Platform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547872" y="1847088"/>
            <a:ext cx="1444752" cy="329184"/>
          </a:xfrm>
          <a:prstGeom prst="rect">
            <a:avLst/>
          </a:prstGeom>
          <a:solidFill>
            <a:srgbClr val="FFFFFF"/>
          </a:solidFill>
          <a:ln w="15240">
            <a:solidFill>
              <a:srgbClr val="E0B87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66160" y="1865376"/>
            <a:ext cx="1408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B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10896" y="2487168"/>
            <a:ext cx="4864608" cy="877824"/>
          </a:xfrm>
          <a:prstGeom prst="rect">
            <a:avLst/>
          </a:prstGeom>
          <a:solidFill>
            <a:srgbClr val="F7F4F0"/>
          </a:solidFill>
          <a:ln w="6350">
            <a:solidFill>
              <a:srgbClr val="E0B87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2336" y="2560320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 Logic  exists in: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02336" y="2852928"/>
            <a:ext cx="1444752" cy="329184"/>
          </a:xfrm>
          <a:prstGeom prst="rect">
            <a:avLst/>
          </a:prstGeom>
          <a:solidFill>
            <a:srgbClr val="FFFFFF"/>
          </a:solidFill>
          <a:ln w="15240">
            <a:solidFill>
              <a:srgbClr val="E0B87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0624" y="2871216"/>
            <a:ext cx="1408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B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TPS Platform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1975104" y="2852928"/>
            <a:ext cx="1444752" cy="329184"/>
          </a:xfrm>
          <a:prstGeom prst="rect">
            <a:avLst/>
          </a:prstGeom>
          <a:solidFill>
            <a:srgbClr val="FFFFFF"/>
          </a:solidFill>
          <a:ln w="15240">
            <a:solidFill>
              <a:srgbClr val="E0B87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993392" y="2871216"/>
            <a:ext cx="1408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B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 Platform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10896" y="3493008"/>
            <a:ext cx="4864608" cy="877824"/>
          </a:xfrm>
          <a:prstGeom prst="rect">
            <a:avLst/>
          </a:prstGeom>
          <a:solidFill>
            <a:srgbClr val="FEF0D4"/>
          </a:solidFill>
          <a:ln w="6350">
            <a:solidFill>
              <a:srgbClr val="E0B87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02336" y="3566160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Participation Logic  exists in: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02336" y="3858768"/>
            <a:ext cx="1444752" cy="329184"/>
          </a:xfrm>
          <a:prstGeom prst="rect">
            <a:avLst/>
          </a:prstGeom>
          <a:solidFill>
            <a:srgbClr val="FFFFFF"/>
          </a:solidFill>
          <a:ln w="15240">
            <a:solidFill>
              <a:srgbClr val="E0B87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0624" y="3877056"/>
            <a:ext cx="1408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B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TPS Platform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975104" y="3858768"/>
            <a:ext cx="1444752" cy="329184"/>
          </a:xfrm>
          <a:prstGeom prst="rect">
            <a:avLst/>
          </a:prstGeom>
          <a:solidFill>
            <a:srgbClr val="FFFFFF"/>
          </a:solidFill>
          <a:ln w="15240">
            <a:solidFill>
              <a:srgbClr val="E0B87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993392" y="3877056"/>
            <a:ext cx="1408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B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10896" y="4498848"/>
            <a:ext cx="4864608" cy="585216"/>
          </a:xfrm>
          <a:prstGeom prst="rect">
            <a:avLst/>
          </a:prstGeom>
          <a:solidFill>
            <a:srgbClr val="FEF0D4"/>
          </a:solidFill>
          <a:ln w="12700">
            <a:solidFill>
              <a:srgbClr val="9B601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02336" y="4572000"/>
            <a:ext cx="47183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B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change requires all systems · all teams · full regression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824728" y="1353312"/>
            <a:ext cx="0" cy="3145536"/>
          </a:xfrm>
          <a:prstGeom prst="line">
            <a:avLst/>
          </a:prstGeom>
          <a:noFill/>
          <a:ln w="12700">
            <a:solidFill>
              <a:srgbClr val="C9A882"/>
            </a:solidFill>
            <a:prstDash val="sysDash"/>
          </a:ln>
        </p:spPr>
      </p:sp>
      <p:sp>
        <p:nvSpPr>
          <p:cNvPr id="34" name="Shape 32"/>
          <p:cNvSpPr/>
          <p:nvPr/>
        </p:nvSpPr>
        <p:spPr>
          <a:xfrm>
            <a:off x="5431536" y="2395728"/>
            <a:ext cx="786384" cy="786384"/>
          </a:xfrm>
          <a:prstGeom prst="ellipse">
            <a:avLst/>
          </a:prstGeom>
          <a:solidFill>
            <a:srgbClr val="5C3317"/>
          </a:solidFill>
          <a:ln w="12700">
            <a:solidFill>
              <a:srgbClr val="5C3317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5449824" y="241401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36" name="Shape 34"/>
          <p:cNvSpPr/>
          <p:nvPr/>
        </p:nvSpPr>
        <p:spPr>
          <a:xfrm>
            <a:off x="6345936" y="1005840"/>
            <a:ext cx="5632704" cy="4096512"/>
          </a:xfrm>
          <a:prstGeom prst="rect">
            <a:avLst/>
          </a:prstGeom>
          <a:solidFill>
            <a:srgbClr val="FFFFFF"/>
          </a:solidFill>
          <a:ln w="12700">
            <a:solidFill>
              <a:srgbClr val="C9A882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345936" y="1005840"/>
            <a:ext cx="5632704" cy="347472"/>
          </a:xfrm>
          <a:prstGeom prst="rect">
            <a:avLst/>
          </a:prstGeom>
          <a:solidFill>
            <a:srgbClr val="A06535"/>
          </a:solidFill>
          <a:ln w="12700">
            <a:solidFill>
              <a:srgbClr val="A0653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73952" y="1060704"/>
            <a:ext cx="5449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AFTER — Focused Ownership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473952" y="1481328"/>
            <a:ext cx="5376672" cy="877824"/>
          </a:xfrm>
          <a:prstGeom prst="rect">
            <a:avLst/>
          </a:prstGeom>
          <a:solidFill>
            <a:srgbClr val="FEF0D4"/>
          </a:solidFill>
          <a:ln w="9525">
            <a:solidFill>
              <a:srgbClr val="E0B87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473952" y="1481328"/>
            <a:ext cx="64008" cy="877824"/>
          </a:xfrm>
          <a:prstGeom prst="rect">
            <a:avLst/>
          </a:prstGeom>
          <a:solidFill>
            <a:srgbClr val="9B6010"/>
          </a:solidFill>
          <a:ln/>
        </p:spPr>
      </p:sp>
      <p:sp>
        <p:nvSpPr>
          <p:cNvPr id="41" name="Text 39"/>
          <p:cNvSpPr/>
          <p:nvPr/>
        </p:nvSpPr>
        <p:spPr>
          <a:xfrm>
            <a:off x="6638544" y="1572768"/>
            <a:ext cx="4169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Domain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638544" y="1883664"/>
            <a:ext cx="4169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source of truth · Own DB · Own team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10405872" y="1645920"/>
            <a:ext cx="1389888" cy="274320"/>
          </a:xfrm>
          <a:prstGeom prst="rect">
            <a:avLst/>
          </a:prstGeom>
          <a:solidFill>
            <a:srgbClr val="9B6010"/>
          </a:solidFill>
          <a:ln w="12700">
            <a:solidFill>
              <a:srgbClr val="9B601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424160" y="1664208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Team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6473952" y="2487168"/>
            <a:ext cx="5376672" cy="877824"/>
          </a:xfrm>
          <a:prstGeom prst="rect">
            <a:avLst/>
          </a:prstGeom>
          <a:solidFill>
            <a:srgbClr val="F3E8DE"/>
          </a:solidFill>
          <a:ln w="9525">
            <a:solidFill>
              <a:srgbClr val="C9A88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473952" y="2487168"/>
            <a:ext cx="64008" cy="877824"/>
          </a:xfrm>
          <a:prstGeom prst="rect">
            <a:avLst/>
          </a:prstGeom>
          <a:solidFill>
            <a:srgbClr val="7A4520"/>
          </a:solidFill>
          <a:ln/>
        </p:spPr>
      </p:sp>
      <p:sp>
        <p:nvSpPr>
          <p:cNvPr id="47" name="Text 45"/>
          <p:cNvSpPr/>
          <p:nvPr/>
        </p:nvSpPr>
        <p:spPr>
          <a:xfrm>
            <a:off x="6638544" y="2578608"/>
            <a:ext cx="4169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 Domain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6638544" y="2889504"/>
            <a:ext cx="4169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source of truth · Own DB · Own team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10405872" y="2651760"/>
            <a:ext cx="1389888" cy="274320"/>
          </a:xfrm>
          <a:prstGeom prst="rect">
            <a:avLst/>
          </a:prstGeom>
          <a:solidFill>
            <a:srgbClr val="7A4520"/>
          </a:solidFill>
          <a:ln w="12700">
            <a:solidFill>
              <a:srgbClr val="7A452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0424160" y="2670048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 Team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6473952" y="3493008"/>
            <a:ext cx="5376672" cy="877824"/>
          </a:xfrm>
          <a:prstGeom prst="rect">
            <a:avLst/>
          </a:prstGeom>
          <a:solidFill>
            <a:srgbClr val="F3E8DE"/>
          </a:solidFill>
          <a:ln w="9525">
            <a:solidFill>
              <a:srgbClr val="C9A88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473952" y="3493008"/>
            <a:ext cx="64008" cy="877824"/>
          </a:xfrm>
          <a:prstGeom prst="rect">
            <a:avLst/>
          </a:prstGeom>
          <a:solidFill>
            <a:srgbClr val="5C3317"/>
          </a:solidFill>
          <a:ln/>
        </p:spPr>
      </p:sp>
      <p:sp>
        <p:nvSpPr>
          <p:cNvPr id="53" name="Text 51"/>
          <p:cNvSpPr/>
          <p:nvPr/>
        </p:nvSpPr>
        <p:spPr>
          <a:xfrm>
            <a:off x="6638544" y="3584448"/>
            <a:ext cx="4169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Participation Domain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6638544" y="3895344"/>
            <a:ext cx="4169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source of truth · Own DB · Own team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10405872" y="3657600"/>
            <a:ext cx="1389888" cy="274320"/>
          </a:xfrm>
          <a:prstGeom prst="rect">
            <a:avLst/>
          </a:prstGeom>
          <a:solidFill>
            <a:srgbClr val="5C3317"/>
          </a:solidFill>
          <a:ln w="12700">
            <a:solidFill>
              <a:srgbClr val="5C331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0424160" y="3675888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Participation Team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6473952" y="4498848"/>
            <a:ext cx="5376672" cy="585216"/>
          </a:xfrm>
          <a:prstGeom prst="rect">
            <a:avLst/>
          </a:prstGeom>
          <a:solidFill>
            <a:srgbClr val="FEF0D4"/>
          </a:solidFill>
          <a:ln w="12700">
            <a:solidFill>
              <a:srgbClr val="E0B87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473952" y="4498848"/>
            <a:ext cx="64008" cy="585216"/>
          </a:xfrm>
          <a:prstGeom prst="rect">
            <a:avLst/>
          </a:prstGeom>
          <a:solidFill>
            <a:srgbClr val="9B6010"/>
          </a:solidFill>
          <a:ln/>
        </p:spPr>
      </p:sp>
      <p:sp>
        <p:nvSpPr>
          <p:cNvPr id="59" name="Text 57"/>
          <p:cNvSpPr/>
          <p:nvPr/>
        </p:nvSpPr>
        <p:spPr>
          <a:xfrm>
            <a:off x="6638544" y="4572000"/>
            <a:ext cx="5157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B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domain owner engages · Targeted tests only · No full regression needed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182880" y="5248656"/>
            <a:ext cx="2926080" cy="1389888"/>
          </a:xfrm>
          <a:prstGeom prst="rect">
            <a:avLst/>
          </a:prstGeom>
          <a:solidFill>
            <a:srgbClr val="FFFFFF"/>
          </a:solidFill>
          <a:ln w="9525">
            <a:solidFill>
              <a:srgbClr val="D6CCC2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182880" y="5248656"/>
            <a:ext cx="2926080" cy="64008"/>
          </a:xfrm>
          <a:prstGeom prst="rect">
            <a:avLst/>
          </a:prstGeom>
          <a:solidFill>
            <a:srgbClr val="7A4520"/>
          </a:solidFill>
          <a:ln/>
        </p:spPr>
      </p:sp>
      <p:sp>
        <p:nvSpPr>
          <p:cNvPr id="62" name="Text 60"/>
          <p:cNvSpPr/>
          <p:nvPr/>
        </p:nvSpPr>
        <p:spPr>
          <a:xfrm>
            <a:off x="310896" y="5376672"/>
            <a:ext cx="2670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SCOPE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365760" y="5650992"/>
            <a:ext cx="2560320" cy="0"/>
          </a:xfrm>
          <a:prstGeom prst="line">
            <a:avLst/>
          </a:prstGeom>
          <a:noFill/>
          <a:ln w="6350">
            <a:solidFill>
              <a:srgbClr val="EDE6D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10896" y="5724144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9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systems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310896" y="5980176"/>
            <a:ext cx="2670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4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310896" y="6181344"/>
            <a:ext cx="2670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4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domain only</a:t>
            </a:r>
            <a:endParaRPr lang="en-US" sz="1300" dirty="0"/>
          </a:p>
        </p:txBody>
      </p:sp>
      <p:sp>
        <p:nvSpPr>
          <p:cNvPr id="67" name="Shape 65"/>
          <p:cNvSpPr/>
          <p:nvPr/>
        </p:nvSpPr>
        <p:spPr>
          <a:xfrm>
            <a:off x="3145536" y="5248656"/>
            <a:ext cx="2926080" cy="1389888"/>
          </a:xfrm>
          <a:prstGeom prst="rect">
            <a:avLst/>
          </a:prstGeom>
          <a:solidFill>
            <a:srgbClr val="FFFFFF"/>
          </a:solidFill>
          <a:ln w="9525">
            <a:solidFill>
              <a:srgbClr val="D6CCC2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68" name="Shape 66"/>
          <p:cNvSpPr/>
          <p:nvPr/>
        </p:nvSpPr>
        <p:spPr>
          <a:xfrm>
            <a:off x="3145536" y="5248656"/>
            <a:ext cx="2926080" cy="64008"/>
          </a:xfrm>
          <a:prstGeom prst="rect">
            <a:avLst/>
          </a:prstGeom>
          <a:solidFill>
            <a:srgbClr val="A06535"/>
          </a:solidFill>
          <a:ln/>
        </p:spPr>
      </p:sp>
      <p:sp>
        <p:nvSpPr>
          <p:cNvPr id="69" name="Text 67"/>
          <p:cNvSpPr/>
          <p:nvPr/>
        </p:nvSpPr>
        <p:spPr>
          <a:xfrm>
            <a:off x="3273552" y="5376672"/>
            <a:ext cx="2670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MOBILISED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3328416" y="5650992"/>
            <a:ext cx="2560320" cy="0"/>
          </a:xfrm>
          <a:prstGeom prst="line">
            <a:avLst/>
          </a:prstGeom>
          <a:noFill/>
          <a:ln w="6350">
            <a:solidFill>
              <a:srgbClr val="EDE6DF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273552" y="5724144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9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teams required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3273552" y="5980176"/>
            <a:ext cx="2670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6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3273552" y="6181344"/>
            <a:ext cx="2670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06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owner only</a:t>
            </a:r>
            <a:endParaRPr lang="en-US" sz="1300" dirty="0"/>
          </a:p>
        </p:txBody>
      </p:sp>
      <p:sp>
        <p:nvSpPr>
          <p:cNvPr id="74" name="Shape 72"/>
          <p:cNvSpPr/>
          <p:nvPr/>
        </p:nvSpPr>
        <p:spPr>
          <a:xfrm>
            <a:off x="6108192" y="5248656"/>
            <a:ext cx="2926080" cy="1389888"/>
          </a:xfrm>
          <a:prstGeom prst="rect">
            <a:avLst/>
          </a:prstGeom>
          <a:solidFill>
            <a:srgbClr val="FFFFFF"/>
          </a:solidFill>
          <a:ln w="9525">
            <a:solidFill>
              <a:srgbClr val="D6CCC2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75" name="Shape 73"/>
          <p:cNvSpPr/>
          <p:nvPr/>
        </p:nvSpPr>
        <p:spPr>
          <a:xfrm>
            <a:off x="6108192" y="5248656"/>
            <a:ext cx="2926080" cy="64008"/>
          </a:xfrm>
          <a:prstGeom prst="rect">
            <a:avLst/>
          </a:prstGeom>
          <a:solidFill>
            <a:srgbClr val="5C3317"/>
          </a:solidFill>
          <a:ln/>
        </p:spPr>
      </p:sp>
      <p:sp>
        <p:nvSpPr>
          <p:cNvPr id="76" name="Text 74"/>
          <p:cNvSpPr/>
          <p:nvPr/>
        </p:nvSpPr>
        <p:spPr>
          <a:xfrm>
            <a:off x="6236208" y="5376672"/>
            <a:ext cx="2670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EFFORT</a:t>
            </a:r>
            <a:endParaRPr lang="en-US" sz="750" dirty="0"/>
          </a:p>
        </p:txBody>
      </p:sp>
      <p:sp>
        <p:nvSpPr>
          <p:cNvPr id="77" name="Shape 75"/>
          <p:cNvSpPr/>
          <p:nvPr/>
        </p:nvSpPr>
        <p:spPr>
          <a:xfrm>
            <a:off x="6291072" y="5650992"/>
            <a:ext cx="2560320" cy="0"/>
          </a:xfrm>
          <a:prstGeom prst="line">
            <a:avLst/>
          </a:prstGeom>
          <a:noFill/>
          <a:ln w="6350">
            <a:solidFill>
              <a:srgbClr val="EDE6DF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236208" y="5724144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9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regression suite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6236208" y="5980176"/>
            <a:ext cx="2670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80" name="Text 78"/>
          <p:cNvSpPr/>
          <p:nvPr/>
        </p:nvSpPr>
        <p:spPr>
          <a:xfrm>
            <a:off x="6236208" y="6181344"/>
            <a:ext cx="2670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tests</a:t>
            </a:r>
            <a:endParaRPr lang="en-US" sz="1300" dirty="0"/>
          </a:p>
        </p:txBody>
      </p:sp>
      <p:sp>
        <p:nvSpPr>
          <p:cNvPr id="81" name="Shape 79"/>
          <p:cNvSpPr/>
          <p:nvPr/>
        </p:nvSpPr>
        <p:spPr>
          <a:xfrm>
            <a:off x="9070848" y="5248656"/>
            <a:ext cx="2926080" cy="1389888"/>
          </a:xfrm>
          <a:prstGeom prst="rect">
            <a:avLst/>
          </a:prstGeom>
          <a:solidFill>
            <a:srgbClr val="FFFFFF"/>
          </a:solidFill>
          <a:ln w="9525">
            <a:solidFill>
              <a:srgbClr val="D6CCC2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82" name="Shape 80"/>
          <p:cNvSpPr/>
          <p:nvPr/>
        </p:nvSpPr>
        <p:spPr>
          <a:xfrm>
            <a:off x="9070848" y="5248656"/>
            <a:ext cx="2926080" cy="64008"/>
          </a:xfrm>
          <a:prstGeom prst="rect">
            <a:avLst/>
          </a:prstGeom>
          <a:solidFill>
            <a:srgbClr val="9B6010"/>
          </a:solidFill>
          <a:ln/>
        </p:spPr>
      </p:sp>
      <p:sp>
        <p:nvSpPr>
          <p:cNvPr id="83" name="Text 81"/>
          <p:cNvSpPr/>
          <p:nvPr/>
        </p:nvSpPr>
        <p:spPr>
          <a:xfrm>
            <a:off x="9198864" y="5376672"/>
            <a:ext cx="2670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MARKET</a:t>
            </a:r>
            <a:endParaRPr lang="en-US" sz="750" dirty="0"/>
          </a:p>
        </p:txBody>
      </p:sp>
      <p:sp>
        <p:nvSpPr>
          <p:cNvPr id="84" name="Shape 82"/>
          <p:cNvSpPr/>
          <p:nvPr/>
        </p:nvSpPr>
        <p:spPr>
          <a:xfrm>
            <a:off x="9253728" y="5650992"/>
            <a:ext cx="2560320" cy="0"/>
          </a:xfrm>
          <a:prstGeom prst="line">
            <a:avLst/>
          </a:prstGeom>
          <a:noFill/>
          <a:ln w="6350">
            <a:solidFill>
              <a:srgbClr val="EDE6DF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9198864" y="5724144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9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3–12 months</a:t>
            </a:r>
            <a:endParaRPr lang="en-US" sz="900" dirty="0"/>
          </a:p>
        </p:txBody>
      </p:sp>
      <p:sp>
        <p:nvSpPr>
          <p:cNvPr id="86" name="Text 84"/>
          <p:cNvSpPr/>
          <p:nvPr/>
        </p:nvSpPr>
        <p:spPr>
          <a:xfrm>
            <a:off x="9198864" y="5980176"/>
            <a:ext cx="2670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B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87" name="Text 85"/>
          <p:cNvSpPr/>
          <p:nvPr/>
        </p:nvSpPr>
        <p:spPr>
          <a:xfrm>
            <a:off x="9198864" y="6181344"/>
            <a:ext cx="2670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B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2–6 weeks</a:t>
            </a:r>
            <a:endParaRPr lang="en-US" sz="1300" dirty="0"/>
          </a:p>
        </p:txBody>
      </p:sp>
      <p:sp>
        <p:nvSpPr>
          <p:cNvPr id="88" name="Text 86"/>
          <p:cNvSpPr/>
          <p:nvPr/>
        </p:nvSpPr>
        <p:spPr>
          <a:xfrm>
            <a:off x="365760" y="6675120"/>
            <a:ext cx="11430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89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Trade Platform Migration Strategy  ·  2025–2030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841248"/>
          </a:xfrm>
          <a:prstGeom prst="rect">
            <a:avLst/>
          </a:prstGeom>
          <a:solidFill>
            <a:srgbClr val="5C3317"/>
          </a:solidFill>
          <a:ln/>
        </p:spPr>
      </p:sp>
      <p:sp>
        <p:nvSpPr>
          <p:cNvPr id="4" name="Shape 2"/>
          <p:cNvSpPr/>
          <p:nvPr/>
        </p:nvSpPr>
        <p:spPr>
          <a:xfrm>
            <a:off x="109728" y="841248"/>
            <a:ext cx="12051792" cy="0"/>
          </a:xfrm>
          <a:prstGeom prst="line">
            <a:avLst/>
          </a:prstGeom>
          <a:noFill/>
          <a:ln w="12700">
            <a:solidFill>
              <a:srgbClr val="C9A88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5C3317"/>
          </a:solidFill>
          <a:ln/>
        </p:spPr>
      </p:sp>
      <p:sp>
        <p:nvSpPr>
          <p:cNvPr id="6" name="Text 4"/>
          <p:cNvSpPr/>
          <p:nvPr/>
        </p:nvSpPr>
        <p:spPr>
          <a:xfrm>
            <a:off x="292608" y="91440"/>
            <a:ext cx="11521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Services Consolidated — End State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292608" y="585216"/>
            <a:ext cx="11521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Trade Shared modules + 9 Payment Shared modules · No duplication · Each domain owns its logic and data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01168" y="1005840"/>
            <a:ext cx="3017520" cy="5394960"/>
          </a:xfrm>
          <a:prstGeom prst="rect">
            <a:avLst/>
          </a:prstGeom>
          <a:solidFill>
            <a:srgbClr val="F7F4F0"/>
          </a:solidFill>
          <a:ln w="9525">
            <a:solidFill>
              <a:srgbClr val="D6CCC2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01168" y="1005840"/>
            <a:ext cx="3017520" cy="365760"/>
          </a:xfrm>
          <a:prstGeom prst="rect">
            <a:avLst/>
          </a:prstGeom>
          <a:solidFill>
            <a:srgbClr val="5C3317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" y="104241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ORG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47472" y="1481328"/>
            <a:ext cx="1417320" cy="256032"/>
          </a:xfrm>
          <a:prstGeom prst="rect">
            <a:avLst/>
          </a:prstGeom>
          <a:solidFill>
            <a:srgbClr val="5C3317"/>
          </a:solidFill>
          <a:ln w="12700">
            <a:solidFill>
              <a:srgbClr val="5C331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" y="148132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Shared Modules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47472" y="1847088"/>
            <a:ext cx="2706624" cy="365760"/>
          </a:xfrm>
          <a:prstGeom prst="rect">
            <a:avLst/>
          </a:prstGeom>
          <a:solidFill>
            <a:srgbClr val="FEF0D4"/>
          </a:solidFill>
          <a:ln w="6350">
            <a:solidFill>
              <a:srgbClr val="E0B87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1865376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633472" y="1892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B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2286000"/>
            <a:ext cx="2706624" cy="365760"/>
          </a:xfrm>
          <a:prstGeom prst="rect">
            <a:avLst/>
          </a:prstGeom>
          <a:solidFill>
            <a:srgbClr val="FEF0D4"/>
          </a:solidFill>
          <a:ln w="6350">
            <a:solidFill>
              <a:srgbClr val="E0B87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230428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 Posting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633472" y="2331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B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47472" y="2724912"/>
            <a:ext cx="2706624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" y="274320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Initiation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47472" y="3163824"/>
            <a:ext cx="2706624" cy="365760"/>
          </a:xfrm>
          <a:prstGeom prst="rect">
            <a:avLst/>
          </a:prstGeom>
          <a:solidFill>
            <a:srgbClr val="F7F4F0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" y="318211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Service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47472" y="3602736"/>
            <a:ext cx="2706624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" y="3621024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Navigator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47472" y="4041648"/>
            <a:ext cx="2706624" cy="365760"/>
          </a:xfrm>
          <a:prstGeom prst="rect">
            <a:avLst/>
          </a:prstGeom>
          <a:solidFill>
            <a:srgbClr val="F7F4F0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" y="4059936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 Express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47472" y="4480560"/>
            <a:ext cx="2706624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" y="449884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47472" y="4919472"/>
            <a:ext cx="2706624" cy="365760"/>
          </a:xfrm>
          <a:prstGeom prst="rect">
            <a:avLst/>
          </a:prstGeom>
          <a:solidFill>
            <a:srgbClr val="F7F4F0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" y="493776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Sentry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47472" y="5358384"/>
            <a:ext cx="2706624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" y="537667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PUPEE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383280" y="1005840"/>
            <a:ext cx="8595360" cy="5394960"/>
          </a:xfrm>
          <a:prstGeom prst="rect">
            <a:avLst/>
          </a:prstGeom>
          <a:solidFill>
            <a:srgbClr val="FFFFFF"/>
          </a:solidFill>
          <a:ln w="9525">
            <a:solidFill>
              <a:srgbClr val="D6CCC2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383280" y="1005840"/>
            <a:ext cx="8595360" cy="365760"/>
          </a:xfrm>
          <a:prstGeom prst="rect">
            <a:avLst/>
          </a:prstGeom>
          <a:solidFill>
            <a:srgbClr val="5C3317"/>
          </a:solidFill>
          <a:ln/>
        </p:spPr>
      </p:sp>
      <p:sp>
        <p:nvSpPr>
          <p:cNvPr id="35" name="Text 33"/>
          <p:cNvSpPr/>
          <p:nvPr/>
        </p:nvSpPr>
        <p:spPr>
          <a:xfrm>
            <a:off x="3529584" y="104241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ORG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11228832" y="1078992"/>
            <a:ext cx="676656" cy="219456"/>
          </a:xfrm>
          <a:prstGeom prst="rect">
            <a:avLst/>
          </a:prstGeom>
          <a:solidFill>
            <a:srgbClr val="7A4520"/>
          </a:solidFill>
          <a:ln w="12700">
            <a:solidFill>
              <a:srgbClr val="7A452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1228832" y="1078992"/>
            <a:ext cx="676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Systems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3529584" y="1444752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&amp; Applications: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3529584" y="1700784"/>
            <a:ext cx="1325880" cy="256032"/>
          </a:xfrm>
          <a:prstGeom prst="rect">
            <a:avLst/>
          </a:prstGeom>
          <a:solidFill>
            <a:srgbClr val="F3E8DE"/>
          </a:solidFill>
          <a:ln w="9525">
            <a:solidFill>
              <a:srgbClr val="C9A88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566160" y="1709928"/>
            <a:ext cx="1252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4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TPS Platform ●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4928616" y="1700784"/>
            <a:ext cx="1325880" cy="256032"/>
          </a:xfrm>
          <a:prstGeom prst="rect">
            <a:avLst/>
          </a:prstGeom>
          <a:solidFill>
            <a:srgbClr val="F3E8DE"/>
          </a:solidFill>
          <a:ln w="9525">
            <a:solidFill>
              <a:srgbClr val="C9A88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65192" y="1709928"/>
            <a:ext cx="1252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4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 Platform ●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6327648" y="1700784"/>
            <a:ext cx="1325880" cy="256032"/>
          </a:xfrm>
          <a:prstGeom prst="rect">
            <a:avLst/>
          </a:prstGeom>
          <a:solidFill>
            <a:srgbClr val="F7F4F0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64224" y="1709928"/>
            <a:ext cx="1252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TCFE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7726680" y="1700784"/>
            <a:ext cx="1325880" cy="256032"/>
          </a:xfrm>
          <a:prstGeom prst="rect">
            <a:avLst/>
          </a:prstGeom>
          <a:solidFill>
            <a:srgbClr val="F7F4F0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763256" y="1709928"/>
            <a:ext cx="1252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TCE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9125712" y="1700784"/>
            <a:ext cx="1325880" cy="256032"/>
          </a:xfrm>
          <a:prstGeom prst="rect">
            <a:avLst/>
          </a:prstGeom>
          <a:solidFill>
            <a:srgbClr val="F7F4F0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162288" y="1709928"/>
            <a:ext cx="1252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10524744" y="1700784"/>
            <a:ext cx="1325880" cy="256032"/>
          </a:xfrm>
          <a:prstGeom prst="rect">
            <a:avLst/>
          </a:prstGeom>
          <a:solidFill>
            <a:srgbClr val="F7F4F0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0561320" y="1709928"/>
            <a:ext cx="1252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3529584" y="2020824"/>
            <a:ext cx="1325880" cy="256032"/>
          </a:xfrm>
          <a:prstGeom prst="rect">
            <a:avLst/>
          </a:prstGeom>
          <a:solidFill>
            <a:srgbClr val="F7F4F0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566160" y="2029968"/>
            <a:ext cx="1252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ClearTrade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4928616" y="2020824"/>
            <a:ext cx="1325880" cy="256032"/>
          </a:xfrm>
          <a:prstGeom prst="rect">
            <a:avLst/>
          </a:prstGeom>
          <a:solidFill>
            <a:srgbClr val="F7F4F0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965192" y="2029968"/>
            <a:ext cx="1252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TradeSharp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6327648" y="2020824"/>
            <a:ext cx="1325880" cy="256032"/>
          </a:xfrm>
          <a:prstGeom prst="rect">
            <a:avLst/>
          </a:prstGeom>
          <a:solidFill>
            <a:srgbClr val="F7F4F0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364224" y="2029968"/>
            <a:ext cx="1252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Falcon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7726680" y="2020824"/>
            <a:ext cx="1325880" cy="256032"/>
          </a:xfrm>
          <a:prstGeom prst="rect">
            <a:avLst/>
          </a:prstGeom>
          <a:solidFill>
            <a:srgbClr val="F7F4F0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763256" y="2029968"/>
            <a:ext cx="1252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Inigio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9125712" y="2020824"/>
            <a:ext cx="1325880" cy="256032"/>
          </a:xfrm>
          <a:prstGeom prst="rect">
            <a:avLst/>
          </a:prstGeom>
          <a:solidFill>
            <a:srgbClr val="F7F4F0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9162288" y="2029968"/>
            <a:ext cx="1252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10524744" y="2020824"/>
            <a:ext cx="1325880" cy="256032"/>
          </a:xfrm>
          <a:prstGeom prst="rect">
            <a:avLst/>
          </a:prstGeom>
          <a:solidFill>
            <a:srgbClr val="F7F4F0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0561320" y="2029968"/>
            <a:ext cx="1252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CRM</a:t>
            </a:r>
            <a:endParaRPr lang="en-US" sz="700" dirty="0"/>
          </a:p>
        </p:txBody>
      </p:sp>
      <p:sp>
        <p:nvSpPr>
          <p:cNvPr id="63" name="Shape 61"/>
          <p:cNvSpPr/>
          <p:nvPr/>
        </p:nvSpPr>
        <p:spPr>
          <a:xfrm>
            <a:off x="3529584" y="2340864"/>
            <a:ext cx="1325880" cy="256032"/>
          </a:xfrm>
          <a:prstGeom prst="rect">
            <a:avLst/>
          </a:prstGeom>
          <a:solidFill>
            <a:srgbClr val="F7F4F0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566160" y="2350008"/>
            <a:ext cx="1252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SmartDX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4928616" y="2340864"/>
            <a:ext cx="1325880" cy="256032"/>
          </a:xfrm>
          <a:prstGeom prst="rect">
            <a:avLst/>
          </a:prstGeom>
          <a:solidFill>
            <a:srgbClr val="F7F4F0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965192" y="2350008"/>
            <a:ext cx="1252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Integrator</a:t>
            </a:r>
            <a:endParaRPr lang="en-US" sz="700" dirty="0"/>
          </a:p>
        </p:txBody>
      </p:sp>
      <p:sp>
        <p:nvSpPr>
          <p:cNvPr id="67" name="Shape 65"/>
          <p:cNvSpPr/>
          <p:nvPr/>
        </p:nvSpPr>
        <p:spPr>
          <a:xfrm>
            <a:off x="3401568" y="2450592"/>
            <a:ext cx="8412480" cy="2971800"/>
          </a:xfrm>
          <a:prstGeom prst="rect">
            <a:avLst/>
          </a:prstGeom>
          <a:solidFill>
            <a:srgbClr val="F7F4F0"/>
          </a:solidFill>
          <a:ln w="9525">
            <a:solidFill>
              <a:srgbClr val="D6CCC2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401568" y="2450592"/>
            <a:ext cx="8412480" cy="64008"/>
          </a:xfrm>
          <a:prstGeom prst="rect">
            <a:avLst/>
          </a:prstGeom>
          <a:solidFill>
            <a:srgbClr val="9B6010"/>
          </a:solidFill>
          <a:ln/>
        </p:spPr>
      </p:sp>
      <p:sp>
        <p:nvSpPr>
          <p:cNvPr id="69" name="Text 67"/>
          <p:cNvSpPr/>
          <p:nvPr/>
        </p:nvSpPr>
        <p:spPr>
          <a:xfrm>
            <a:off x="3547872" y="250545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B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Shared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11082528" y="2505456"/>
            <a:ext cx="640080" cy="219456"/>
          </a:xfrm>
          <a:prstGeom prst="rect">
            <a:avLst/>
          </a:prstGeom>
          <a:solidFill>
            <a:srgbClr val="9B6010"/>
          </a:solidFill>
          <a:ln w="12700">
            <a:solidFill>
              <a:srgbClr val="9B601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11082528" y="2505456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Modules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3547872" y="2834640"/>
            <a:ext cx="111556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7A4520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73" name="Shape 71"/>
          <p:cNvSpPr/>
          <p:nvPr/>
        </p:nvSpPr>
        <p:spPr>
          <a:xfrm>
            <a:off x="3547872" y="2834640"/>
            <a:ext cx="1115568" cy="64008"/>
          </a:xfrm>
          <a:prstGeom prst="rect">
            <a:avLst/>
          </a:prstGeom>
          <a:solidFill>
            <a:srgbClr val="7A4520"/>
          </a:solidFill>
          <a:ln/>
        </p:spPr>
      </p:sp>
      <p:sp>
        <p:nvSpPr>
          <p:cNvPr id="74" name="Text 72"/>
          <p:cNvSpPr/>
          <p:nvPr/>
        </p:nvSpPr>
        <p:spPr>
          <a:xfrm>
            <a:off x="3593592" y="2944368"/>
            <a:ext cx="1024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4736592" y="2834640"/>
            <a:ext cx="111556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5C3317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76" name="Shape 74"/>
          <p:cNvSpPr/>
          <p:nvPr/>
        </p:nvSpPr>
        <p:spPr>
          <a:xfrm>
            <a:off x="4736592" y="2834640"/>
            <a:ext cx="1115568" cy="64008"/>
          </a:xfrm>
          <a:prstGeom prst="rect">
            <a:avLst/>
          </a:prstGeom>
          <a:solidFill>
            <a:srgbClr val="5C3317"/>
          </a:solidFill>
          <a:ln/>
        </p:spPr>
      </p:sp>
      <p:sp>
        <p:nvSpPr>
          <p:cNvPr id="77" name="Text 75"/>
          <p:cNvSpPr/>
          <p:nvPr/>
        </p:nvSpPr>
        <p:spPr>
          <a:xfrm>
            <a:off x="4782312" y="2944368"/>
            <a:ext cx="1024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5925312" y="2834640"/>
            <a:ext cx="111556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9B6010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79" name="Shape 77"/>
          <p:cNvSpPr/>
          <p:nvPr/>
        </p:nvSpPr>
        <p:spPr>
          <a:xfrm>
            <a:off x="5925312" y="2834640"/>
            <a:ext cx="1115568" cy="64008"/>
          </a:xfrm>
          <a:prstGeom prst="rect">
            <a:avLst/>
          </a:prstGeom>
          <a:solidFill>
            <a:srgbClr val="9B6010"/>
          </a:solidFill>
          <a:ln/>
        </p:spPr>
      </p:sp>
      <p:sp>
        <p:nvSpPr>
          <p:cNvPr id="80" name="Text 78"/>
          <p:cNvSpPr/>
          <p:nvPr/>
        </p:nvSpPr>
        <p:spPr>
          <a:xfrm>
            <a:off x="5971032" y="2944368"/>
            <a:ext cx="1024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7114032" y="2834640"/>
            <a:ext cx="111556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A06535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82" name="Shape 80"/>
          <p:cNvSpPr/>
          <p:nvPr/>
        </p:nvSpPr>
        <p:spPr>
          <a:xfrm>
            <a:off x="7114032" y="2834640"/>
            <a:ext cx="1115568" cy="64008"/>
          </a:xfrm>
          <a:prstGeom prst="rect">
            <a:avLst/>
          </a:prstGeom>
          <a:solidFill>
            <a:srgbClr val="A06535"/>
          </a:solidFill>
          <a:ln/>
        </p:spPr>
      </p:sp>
      <p:sp>
        <p:nvSpPr>
          <p:cNvPr id="83" name="Text 81"/>
          <p:cNvSpPr/>
          <p:nvPr/>
        </p:nvSpPr>
        <p:spPr>
          <a:xfrm>
            <a:off x="7159752" y="2944368"/>
            <a:ext cx="1024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Ingestion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8302752" y="2834640"/>
            <a:ext cx="111556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9B6010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85" name="Shape 83"/>
          <p:cNvSpPr/>
          <p:nvPr/>
        </p:nvSpPr>
        <p:spPr>
          <a:xfrm>
            <a:off x="8302752" y="2834640"/>
            <a:ext cx="1115568" cy="64008"/>
          </a:xfrm>
          <a:prstGeom prst="rect">
            <a:avLst/>
          </a:prstGeom>
          <a:solidFill>
            <a:srgbClr val="9B6010"/>
          </a:solidFill>
          <a:ln/>
        </p:spPr>
      </p:sp>
      <p:sp>
        <p:nvSpPr>
          <p:cNvPr id="86" name="Text 84"/>
          <p:cNvSpPr/>
          <p:nvPr/>
        </p:nvSpPr>
        <p:spPr>
          <a:xfrm>
            <a:off x="8348472" y="2944368"/>
            <a:ext cx="1024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Sanction Screening</a:t>
            </a:r>
            <a:endParaRPr lang="en-US" sz="800" dirty="0"/>
          </a:p>
        </p:txBody>
      </p:sp>
      <p:sp>
        <p:nvSpPr>
          <p:cNvPr id="87" name="Shape 85"/>
          <p:cNvSpPr/>
          <p:nvPr/>
        </p:nvSpPr>
        <p:spPr>
          <a:xfrm>
            <a:off x="9491472" y="2834640"/>
            <a:ext cx="111556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7A4520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88" name="Shape 86"/>
          <p:cNvSpPr/>
          <p:nvPr/>
        </p:nvSpPr>
        <p:spPr>
          <a:xfrm>
            <a:off x="9491472" y="2834640"/>
            <a:ext cx="1115568" cy="64008"/>
          </a:xfrm>
          <a:prstGeom prst="rect">
            <a:avLst/>
          </a:prstGeom>
          <a:solidFill>
            <a:srgbClr val="7A4520"/>
          </a:solidFill>
          <a:ln/>
        </p:spPr>
      </p:sp>
      <p:sp>
        <p:nvSpPr>
          <p:cNvPr id="89" name="Text 87"/>
          <p:cNvSpPr/>
          <p:nvPr/>
        </p:nvSpPr>
        <p:spPr>
          <a:xfrm>
            <a:off x="9537192" y="2944368"/>
            <a:ext cx="1024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800" dirty="0"/>
          </a:p>
        </p:txBody>
      </p:sp>
      <p:sp>
        <p:nvSpPr>
          <p:cNvPr id="90" name="Shape 88"/>
          <p:cNvSpPr/>
          <p:nvPr/>
        </p:nvSpPr>
        <p:spPr>
          <a:xfrm>
            <a:off x="10680192" y="2834640"/>
            <a:ext cx="111556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5C3317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91" name="Shape 89"/>
          <p:cNvSpPr/>
          <p:nvPr/>
        </p:nvSpPr>
        <p:spPr>
          <a:xfrm>
            <a:off x="10680192" y="2834640"/>
            <a:ext cx="1115568" cy="64008"/>
          </a:xfrm>
          <a:prstGeom prst="rect">
            <a:avLst/>
          </a:prstGeom>
          <a:solidFill>
            <a:srgbClr val="5C3317"/>
          </a:solidFill>
          <a:ln/>
        </p:spPr>
      </p:sp>
      <p:sp>
        <p:nvSpPr>
          <p:cNvPr id="92" name="Text 90"/>
          <p:cNvSpPr/>
          <p:nvPr/>
        </p:nvSpPr>
        <p:spPr>
          <a:xfrm>
            <a:off x="10725912" y="2944368"/>
            <a:ext cx="1024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Distribution</a:t>
            </a:r>
            <a:endParaRPr lang="en-US" sz="800" dirty="0"/>
          </a:p>
        </p:txBody>
      </p:sp>
      <p:sp>
        <p:nvSpPr>
          <p:cNvPr id="93" name="Shape 91"/>
          <p:cNvSpPr/>
          <p:nvPr/>
        </p:nvSpPr>
        <p:spPr>
          <a:xfrm>
            <a:off x="3547872" y="3456432"/>
            <a:ext cx="111556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9B6010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94" name="Shape 92"/>
          <p:cNvSpPr/>
          <p:nvPr/>
        </p:nvSpPr>
        <p:spPr>
          <a:xfrm>
            <a:off x="3547872" y="3456432"/>
            <a:ext cx="1115568" cy="64008"/>
          </a:xfrm>
          <a:prstGeom prst="rect">
            <a:avLst/>
          </a:prstGeom>
          <a:solidFill>
            <a:srgbClr val="9B6010"/>
          </a:solidFill>
          <a:ln/>
        </p:spPr>
      </p:sp>
      <p:sp>
        <p:nvSpPr>
          <p:cNvPr id="95" name="Text 93"/>
          <p:cNvSpPr/>
          <p:nvPr/>
        </p:nvSpPr>
        <p:spPr>
          <a:xfrm>
            <a:off x="3593592" y="3566160"/>
            <a:ext cx="1024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 Mgmt</a:t>
            </a:r>
            <a:endParaRPr lang="en-US" sz="800" dirty="0"/>
          </a:p>
        </p:txBody>
      </p:sp>
      <p:sp>
        <p:nvSpPr>
          <p:cNvPr id="96" name="Shape 94"/>
          <p:cNvSpPr/>
          <p:nvPr/>
        </p:nvSpPr>
        <p:spPr>
          <a:xfrm>
            <a:off x="4736592" y="3456432"/>
            <a:ext cx="111556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A06535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97" name="Shape 95"/>
          <p:cNvSpPr/>
          <p:nvPr/>
        </p:nvSpPr>
        <p:spPr>
          <a:xfrm>
            <a:off x="4736592" y="3456432"/>
            <a:ext cx="1115568" cy="64008"/>
          </a:xfrm>
          <a:prstGeom prst="rect">
            <a:avLst/>
          </a:prstGeom>
          <a:solidFill>
            <a:srgbClr val="A06535"/>
          </a:solidFill>
          <a:ln/>
        </p:spPr>
      </p:sp>
      <p:sp>
        <p:nvSpPr>
          <p:cNvPr id="98" name="Text 96"/>
          <p:cNvSpPr/>
          <p:nvPr/>
        </p:nvSpPr>
        <p:spPr>
          <a:xfrm>
            <a:off x="4782312" y="3566160"/>
            <a:ext cx="1024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Mgmt</a:t>
            </a:r>
            <a:endParaRPr lang="en-US" sz="800" dirty="0"/>
          </a:p>
        </p:txBody>
      </p:sp>
      <p:sp>
        <p:nvSpPr>
          <p:cNvPr id="99" name="Shape 97"/>
          <p:cNvSpPr/>
          <p:nvPr/>
        </p:nvSpPr>
        <p:spPr>
          <a:xfrm>
            <a:off x="5925312" y="3456432"/>
            <a:ext cx="111556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9B6010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100" name="Shape 98"/>
          <p:cNvSpPr/>
          <p:nvPr/>
        </p:nvSpPr>
        <p:spPr>
          <a:xfrm>
            <a:off x="5925312" y="3456432"/>
            <a:ext cx="1115568" cy="64008"/>
          </a:xfrm>
          <a:prstGeom prst="rect">
            <a:avLst/>
          </a:prstGeom>
          <a:solidFill>
            <a:srgbClr val="9B6010"/>
          </a:solidFill>
          <a:ln/>
        </p:spPr>
      </p:sp>
      <p:sp>
        <p:nvSpPr>
          <p:cNvPr id="101" name="Text 99"/>
          <p:cNvSpPr/>
          <p:nvPr/>
        </p:nvSpPr>
        <p:spPr>
          <a:xfrm>
            <a:off x="5971032" y="3566160"/>
            <a:ext cx="1024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Mgmt</a:t>
            </a:r>
            <a:endParaRPr lang="en-US" sz="800" dirty="0"/>
          </a:p>
        </p:txBody>
      </p:sp>
      <p:sp>
        <p:nvSpPr>
          <p:cNvPr id="102" name="Shape 100"/>
          <p:cNvSpPr/>
          <p:nvPr/>
        </p:nvSpPr>
        <p:spPr>
          <a:xfrm>
            <a:off x="7114032" y="3456432"/>
            <a:ext cx="111556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5C3317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103" name="Shape 101"/>
          <p:cNvSpPr/>
          <p:nvPr/>
        </p:nvSpPr>
        <p:spPr>
          <a:xfrm>
            <a:off x="7114032" y="3456432"/>
            <a:ext cx="1115568" cy="64008"/>
          </a:xfrm>
          <a:prstGeom prst="rect">
            <a:avLst/>
          </a:prstGeom>
          <a:solidFill>
            <a:srgbClr val="5C3317"/>
          </a:solidFill>
          <a:ln/>
        </p:spPr>
      </p:sp>
      <p:sp>
        <p:nvSpPr>
          <p:cNvPr id="104" name="Text 102"/>
          <p:cNvSpPr/>
          <p:nvPr/>
        </p:nvSpPr>
        <p:spPr>
          <a:xfrm>
            <a:off x="7159752" y="3566160"/>
            <a:ext cx="1024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 Extraction</a:t>
            </a:r>
            <a:endParaRPr lang="en-US" sz="800" dirty="0"/>
          </a:p>
        </p:txBody>
      </p:sp>
      <p:sp>
        <p:nvSpPr>
          <p:cNvPr id="105" name="Shape 103"/>
          <p:cNvSpPr/>
          <p:nvPr/>
        </p:nvSpPr>
        <p:spPr>
          <a:xfrm>
            <a:off x="8302752" y="3456432"/>
            <a:ext cx="111556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A06535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106" name="Shape 104"/>
          <p:cNvSpPr/>
          <p:nvPr/>
        </p:nvSpPr>
        <p:spPr>
          <a:xfrm>
            <a:off x="8302752" y="3456432"/>
            <a:ext cx="1115568" cy="64008"/>
          </a:xfrm>
          <a:prstGeom prst="rect">
            <a:avLst/>
          </a:prstGeom>
          <a:solidFill>
            <a:srgbClr val="A06535"/>
          </a:solidFill>
          <a:ln/>
        </p:spPr>
      </p:sp>
      <p:sp>
        <p:nvSpPr>
          <p:cNvPr id="107" name="Text 105"/>
          <p:cNvSpPr/>
          <p:nvPr/>
        </p:nvSpPr>
        <p:spPr>
          <a:xfrm>
            <a:off x="8348472" y="3566160"/>
            <a:ext cx="1024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</a:t>
            </a:r>
            <a:endParaRPr lang="en-US" sz="800" dirty="0"/>
          </a:p>
        </p:txBody>
      </p:sp>
      <p:sp>
        <p:nvSpPr>
          <p:cNvPr id="108" name="Shape 106"/>
          <p:cNvSpPr/>
          <p:nvPr/>
        </p:nvSpPr>
        <p:spPr>
          <a:xfrm>
            <a:off x="9491472" y="3456432"/>
            <a:ext cx="111556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7A4520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109" name="Shape 107"/>
          <p:cNvSpPr/>
          <p:nvPr/>
        </p:nvSpPr>
        <p:spPr>
          <a:xfrm>
            <a:off x="9491472" y="3456432"/>
            <a:ext cx="1115568" cy="64008"/>
          </a:xfrm>
          <a:prstGeom prst="rect">
            <a:avLst/>
          </a:prstGeom>
          <a:solidFill>
            <a:srgbClr val="7A4520"/>
          </a:solidFill>
          <a:ln/>
        </p:spPr>
      </p:sp>
      <p:sp>
        <p:nvSpPr>
          <p:cNvPr id="110" name="Text 108"/>
          <p:cNvSpPr/>
          <p:nvPr/>
        </p:nvSpPr>
        <p:spPr>
          <a:xfrm>
            <a:off x="9537192" y="3566160"/>
            <a:ext cx="1024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TBML</a:t>
            </a:r>
            <a:endParaRPr lang="en-US" sz="800" dirty="0"/>
          </a:p>
        </p:txBody>
      </p:sp>
      <p:sp>
        <p:nvSpPr>
          <p:cNvPr id="111" name="Shape 109"/>
          <p:cNvSpPr/>
          <p:nvPr/>
        </p:nvSpPr>
        <p:spPr>
          <a:xfrm>
            <a:off x="10680192" y="3456432"/>
            <a:ext cx="111556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9B6010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112" name="Shape 110"/>
          <p:cNvSpPr/>
          <p:nvPr/>
        </p:nvSpPr>
        <p:spPr>
          <a:xfrm>
            <a:off x="10680192" y="3456432"/>
            <a:ext cx="1115568" cy="64008"/>
          </a:xfrm>
          <a:prstGeom prst="rect">
            <a:avLst/>
          </a:prstGeom>
          <a:solidFill>
            <a:srgbClr val="9B6010"/>
          </a:solidFill>
          <a:ln/>
        </p:spPr>
      </p:sp>
      <p:sp>
        <p:nvSpPr>
          <p:cNvPr id="113" name="Text 111"/>
          <p:cNvSpPr/>
          <p:nvPr/>
        </p:nvSpPr>
        <p:spPr>
          <a:xfrm>
            <a:off x="10725912" y="3566160"/>
            <a:ext cx="1024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Data</a:t>
            </a:r>
            <a:endParaRPr lang="en-US" sz="800" dirty="0"/>
          </a:p>
        </p:txBody>
      </p:sp>
      <p:sp>
        <p:nvSpPr>
          <p:cNvPr id="114" name="Text 112"/>
          <p:cNvSpPr/>
          <p:nvPr/>
        </p:nvSpPr>
        <p:spPr>
          <a:xfrm>
            <a:off x="365760" y="6675120"/>
            <a:ext cx="11430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89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Trade Platform Migration Strategy  ·  2025–2030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5C3317"/>
          </a:solidFill>
          <a:ln/>
        </p:spPr>
      </p:sp>
      <p:sp>
        <p:nvSpPr>
          <p:cNvPr id="4" name="Shape 2"/>
          <p:cNvSpPr/>
          <p:nvPr/>
        </p:nvSpPr>
        <p:spPr>
          <a:xfrm>
            <a:off x="109728" y="914400"/>
            <a:ext cx="12051792" cy="0"/>
          </a:xfrm>
          <a:prstGeom prst="line">
            <a:avLst/>
          </a:prstGeom>
          <a:noFill/>
          <a:ln w="12700">
            <a:solidFill>
              <a:srgbClr val="C9A88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5C3317"/>
          </a:solidFill>
          <a:ln/>
        </p:spPr>
      </p:sp>
      <p:sp>
        <p:nvSpPr>
          <p:cNvPr id="6" name="Text 4"/>
          <p:cNvSpPr/>
          <p:nvPr/>
        </p:nvSpPr>
        <p:spPr>
          <a:xfrm>
            <a:off x="292608" y="91440"/>
            <a:ext cx="8686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Architecture — 2030 North Star View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8778240" y="128016"/>
            <a:ext cx="3273552" cy="292608"/>
          </a:xfrm>
          <a:prstGeom prst="rect">
            <a:avLst/>
          </a:prstGeom>
          <a:solidFill>
            <a:srgbClr val="F0EFF9"/>
          </a:solidFill>
          <a:ln w="12700">
            <a:solidFill>
              <a:srgbClr val="9B98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78240" y="128016"/>
            <a:ext cx="64008" cy="292608"/>
          </a:xfrm>
          <a:prstGeom prst="rect">
            <a:avLst/>
          </a:prstGeom>
          <a:solidFill>
            <a:srgbClr val="5B5EA6"/>
          </a:solidFill>
          <a:ln/>
        </p:spPr>
      </p:sp>
      <p:sp>
        <p:nvSpPr>
          <p:cNvPr id="9" name="Text 7"/>
          <p:cNvSpPr/>
          <p:nvPr/>
        </p:nvSpPr>
        <p:spPr>
          <a:xfrm>
            <a:off x="8869680" y="128016"/>
            <a:ext cx="3090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5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Indigo = AI-Agentic Domain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92608" y="566928"/>
            <a:ext cx="11612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AI-orchestrated end-to-end flows · Context extraction · Autonomous decision-making · Agentic processing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91440" y="969264"/>
            <a:ext cx="1280160" cy="5376672"/>
          </a:xfrm>
          <a:prstGeom prst="rect">
            <a:avLst/>
          </a:prstGeom>
          <a:solidFill>
            <a:srgbClr val="F7F4F0"/>
          </a:solidFill>
          <a:ln w="9525">
            <a:solidFill>
              <a:srgbClr val="D6CCC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" y="969264"/>
            <a:ext cx="1280160" cy="54864"/>
          </a:xfrm>
          <a:prstGeom prst="rect">
            <a:avLst/>
          </a:prstGeom>
          <a:solidFill>
            <a:srgbClr val="5C3317"/>
          </a:solidFill>
          <a:ln/>
        </p:spPr>
      </p:sp>
      <p:sp>
        <p:nvSpPr>
          <p:cNvPr id="13" name="Text 11"/>
          <p:cNvSpPr/>
          <p:nvPr/>
        </p:nvSpPr>
        <p:spPr>
          <a:xfrm>
            <a:off x="164592" y="1060704"/>
            <a:ext cx="1133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50" kern="0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LOGIN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182880" y="1335024"/>
            <a:ext cx="10972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1168" y="1335024"/>
            <a:ext cx="106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App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(TCFE)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82880" y="1719072"/>
            <a:ext cx="10972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01168" y="1719072"/>
            <a:ext cx="106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Discounting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82880" y="2103120"/>
            <a:ext cx="10972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01168" y="2103120"/>
            <a:ext cx="106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82880" y="2487168"/>
            <a:ext cx="10972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01168" y="2487168"/>
            <a:ext cx="106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182880" y="2871216"/>
            <a:ext cx="10972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01168" y="2871216"/>
            <a:ext cx="106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182880" y="3291840"/>
            <a:ext cx="1097280" cy="0"/>
          </a:xfrm>
          <a:prstGeom prst="line">
            <a:avLst/>
          </a:prstGeom>
          <a:noFill/>
          <a:ln w="6350">
            <a:solidFill>
              <a:srgbClr val="D6CCC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64592" y="3364992"/>
            <a:ext cx="1133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A06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CHANNELS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182880" y="3639312"/>
            <a:ext cx="1097280" cy="310896"/>
          </a:xfrm>
          <a:prstGeom prst="rect">
            <a:avLst/>
          </a:prstGeom>
          <a:solidFill>
            <a:srgbClr val="F3E8DE"/>
          </a:solidFill>
          <a:ln w="6350">
            <a:solidFill>
              <a:srgbClr val="C9A88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1168" y="3639312"/>
            <a:ext cx="106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4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182880" y="4023360"/>
            <a:ext cx="1097280" cy="310896"/>
          </a:xfrm>
          <a:prstGeom prst="rect">
            <a:avLst/>
          </a:prstGeom>
          <a:solidFill>
            <a:srgbClr val="F3E8DE"/>
          </a:solidFill>
          <a:ln w="6350">
            <a:solidFill>
              <a:srgbClr val="C9A88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01168" y="4023360"/>
            <a:ext cx="106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4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Apps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182880" y="4407408"/>
            <a:ext cx="1097280" cy="310896"/>
          </a:xfrm>
          <a:prstGeom prst="rect">
            <a:avLst/>
          </a:prstGeom>
          <a:solidFill>
            <a:srgbClr val="F3E8DE"/>
          </a:solidFill>
          <a:ln w="6350">
            <a:solidFill>
              <a:srgbClr val="C9A88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01168" y="4407408"/>
            <a:ext cx="106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4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FI's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182880" y="4791456"/>
            <a:ext cx="1097280" cy="310896"/>
          </a:xfrm>
          <a:prstGeom prst="rect">
            <a:avLst/>
          </a:prstGeom>
          <a:solidFill>
            <a:srgbClr val="F3E8DE"/>
          </a:solidFill>
          <a:ln w="6350">
            <a:solidFill>
              <a:srgbClr val="C9A88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01168" y="4791456"/>
            <a:ext cx="106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4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182880" y="5175504"/>
            <a:ext cx="1097280" cy="310896"/>
          </a:xfrm>
          <a:prstGeom prst="rect">
            <a:avLst/>
          </a:prstGeom>
          <a:solidFill>
            <a:srgbClr val="F3E8DE"/>
          </a:solidFill>
          <a:ln w="6350">
            <a:solidFill>
              <a:srgbClr val="C9A88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01168" y="5175504"/>
            <a:ext cx="106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4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 Party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389888" y="2249424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389888" y="4078224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A4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1572768" y="969264"/>
            <a:ext cx="1225296" cy="5376672"/>
          </a:xfrm>
          <a:prstGeom prst="rect">
            <a:avLst/>
          </a:prstGeom>
          <a:solidFill>
            <a:srgbClr val="F7F4F0"/>
          </a:solidFill>
          <a:ln w="9525">
            <a:solidFill>
              <a:srgbClr val="D6CCC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572768" y="969264"/>
            <a:ext cx="1225296" cy="54864"/>
          </a:xfrm>
          <a:prstGeom prst="rect">
            <a:avLst/>
          </a:prstGeom>
          <a:solidFill>
            <a:srgbClr val="5C3317"/>
          </a:solidFill>
          <a:ln/>
        </p:spPr>
      </p:sp>
      <p:sp>
        <p:nvSpPr>
          <p:cNvPr id="40" name="Text 38"/>
          <p:cNvSpPr/>
          <p:nvPr/>
        </p:nvSpPr>
        <p:spPr>
          <a:xfrm>
            <a:off x="1645920" y="1060704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CONNECTOR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1664208" y="1316736"/>
            <a:ext cx="1042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i="1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Initiate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1664208" y="1536192"/>
            <a:ext cx="1042416" cy="256032"/>
          </a:xfrm>
          <a:prstGeom prst="rect">
            <a:avLst/>
          </a:prstGeom>
          <a:solidFill>
            <a:srgbClr val="F3E8DE"/>
          </a:solidFill>
          <a:ln w="9525">
            <a:solidFill>
              <a:srgbClr val="C9A88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700784" y="1536192"/>
            <a:ext cx="969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1664208" y="1865376"/>
            <a:ext cx="1042416" cy="256032"/>
          </a:xfrm>
          <a:prstGeom prst="rect">
            <a:avLst/>
          </a:prstGeom>
          <a:solidFill>
            <a:srgbClr val="F3E8DE"/>
          </a:solidFill>
          <a:ln w="9525">
            <a:solidFill>
              <a:srgbClr val="C9A88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700784" y="1865376"/>
            <a:ext cx="969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Invoices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1664208" y="2194560"/>
            <a:ext cx="1042416" cy="256032"/>
          </a:xfrm>
          <a:prstGeom prst="rect">
            <a:avLst/>
          </a:prstGeom>
          <a:solidFill>
            <a:srgbClr val="F3E8DE"/>
          </a:solidFill>
          <a:ln w="9525">
            <a:solidFill>
              <a:srgbClr val="C9A88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700784" y="2194560"/>
            <a:ext cx="969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Standby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1664208" y="2523744"/>
            <a:ext cx="1042416" cy="256032"/>
          </a:xfrm>
          <a:prstGeom prst="rect">
            <a:avLst/>
          </a:prstGeom>
          <a:solidFill>
            <a:srgbClr val="F3E8DE"/>
          </a:solidFill>
          <a:ln w="9525">
            <a:solidFill>
              <a:srgbClr val="C9A88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700784" y="2523744"/>
            <a:ext cx="969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L/c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1664208" y="2852928"/>
            <a:ext cx="1042416" cy="256032"/>
          </a:xfrm>
          <a:prstGeom prst="rect">
            <a:avLst/>
          </a:prstGeom>
          <a:solidFill>
            <a:srgbClr val="F3E8DE"/>
          </a:solidFill>
          <a:ln w="9525">
            <a:solidFill>
              <a:srgbClr val="C9A88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700784" y="2852928"/>
            <a:ext cx="969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Misc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1664208" y="3328416"/>
            <a:ext cx="1042416" cy="0"/>
          </a:xfrm>
          <a:prstGeom prst="line">
            <a:avLst/>
          </a:prstGeom>
          <a:noFill/>
          <a:ln w="6350">
            <a:solidFill>
              <a:srgbClr val="D6CCC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664208" y="3401568"/>
            <a:ext cx="1042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i="1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1664208" y="3621024"/>
            <a:ext cx="1042416" cy="256032"/>
          </a:xfrm>
          <a:prstGeom prst="rect">
            <a:avLst/>
          </a:prstGeom>
          <a:solidFill>
            <a:srgbClr val="FEF0D4"/>
          </a:solidFill>
          <a:ln w="9525">
            <a:solidFill>
              <a:srgbClr val="E0B87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700784" y="3621024"/>
            <a:ext cx="969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B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1664208" y="3950208"/>
            <a:ext cx="1042416" cy="256032"/>
          </a:xfrm>
          <a:prstGeom prst="rect">
            <a:avLst/>
          </a:prstGeom>
          <a:solidFill>
            <a:srgbClr val="FEF0D4"/>
          </a:solidFill>
          <a:ln w="9525">
            <a:solidFill>
              <a:srgbClr val="E0B87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700784" y="3950208"/>
            <a:ext cx="969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B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Letters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1664208" y="4279392"/>
            <a:ext cx="1042416" cy="256032"/>
          </a:xfrm>
          <a:prstGeom prst="rect">
            <a:avLst/>
          </a:prstGeom>
          <a:solidFill>
            <a:srgbClr val="FEF0D4"/>
          </a:solidFill>
          <a:ln w="9525">
            <a:solidFill>
              <a:srgbClr val="E0B87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700784" y="4279392"/>
            <a:ext cx="969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B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1664208" y="4608576"/>
            <a:ext cx="1042416" cy="256032"/>
          </a:xfrm>
          <a:prstGeom prst="rect">
            <a:avLst/>
          </a:prstGeom>
          <a:solidFill>
            <a:srgbClr val="FEF0D4"/>
          </a:solidFill>
          <a:ln w="9525">
            <a:solidFill>
              <a:srgbClr val="E0B87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700784" y="4608576"/>
            <a:ext cx="969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B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Misc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2816352" y="2249424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2816352" y="4078224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B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3781410" y="969264"/>
            <a:ext cx="4452396" cy="292608"/>
          </a:xfrm>
          <a:prstGeom prst="rect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927714" y="969264"/>
            <a:ext cx="41597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TwC AGENTIC FLOWS  —  AI ORCHESTRATION LAYER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6007608" y="1261872"/>
            <a:ext cx="0" cy="146304"/>
          </a:xfrm>
          <a:prstGeom prst="line">
            <a:avLst/>
          </a:prstGeom>
          <a:noFill/>
          <a:ln w="19050">
            <a:solidFill>
              <a:srgbClr val="9B98CC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999232" y="1426464"/>
            <a:ext cx="2737622" cy="2578608"/>
          </a:xfrm>
          <a:prstGeom prst="rect">
            <a:avLst/>
          </a:prstGeom>
          <a:solidFill>
            <a:srgbClr val="F0EFF9"/>
          </a:solidFill>
          <a:ln w="19050">
            <a:solidFill>
              <a:srgbClr val="9B98CC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68" name="Shape 66"/>
          <p:cNvSpPr/>
          <p:nvPr/>
        </p:nvSpPr>
        <p:spPr>
          <a:xfrm>
            <a:off x="2999232" y="1426464"/>
            <a:ext cx="2737622" cy="54864"/>
          </a:xfrm>
          <a:prstGeom prst="rect">
            <a:avLst/>
          </a:prstGeom>
          <a:solidFill>
            <a:srgbClr val="5B5EA6"/>
          </a:solidFill>
          <a:ln/>
        </p:spPr>
      </p:sp>
      <p:sp>
        <p:nvSpPr>
          <p:cNvPr id="69" name="Text 67"/>
          <p:cNvSpPr/>
          <p:nvPr/>
        </p:nvSpPr>
        <p:spPr>
          <a:xfrm>
            <a:off x="3108960" y="1517904"/>
            <a:ext cx="209754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5B5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&amp; DECISION ENGINE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4950470" y="1499616"/>
            <a:ext cx="694944" cy="173736"/>
          </a:xfrm>
          <a:prstGeom prst="rect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950470" y="1499616"/>
            <a:ext cx="694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AGENTIC</a:t>
            </a:r>
            <a:endParaRPr lang="en-US" sz="600" dirty="0"/>
          </a:p>
        </p:txBody>
      </p:sp>
      <p:sp>
        <p:nvSpPr>
          <p:cNvPr id="72" name="Shape 70"/>
          <p:cNvSpPr/>
          <p:nvPr/>
        </p:nvSpPr>
        <p:spPr>
          <a:xfrm>
            <a:off x="3108960" y="1792224"/>
            <a:ext cx="1195075" cy="640080"/>
          </a:xfrm>
          <a:prstGeom prst="rect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73" name="Shape 71"/>
          <p:cNvSpPr/>
          <p:nvPr/>
        </p:nvSpPr>
        <p:spPr>
          <a:xfrm>
            <a:off x="3108960" y="1792224"/>
            <a:ext cx="1195075" cy="54864"/>
          </a:xfrm>
          <a:prstGeom prst="rect">
            <a:avLst/>
          </a:prstGeom>
          <a:solidFill>
            <a:srgbClr val="7472B8"/>
          </a:solidFill>
          <a:ln/>
        </p:spPr>
      </p:sp>
      <p:sp>
        <p:nvSpPr>
          <p:cNvPr id="74" name="Text 72"/>
          <p:cNvSpPr/>
          <p:nvPr/>
        </p:nvSpPr>
        <p:spPr>
          <a:xfrm>
            <a:off x="3163824" y="1847088"/>
            <a:ext cx="108534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4084579" y="1828800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4349755" y="1792224"/>
            <a:ext cx="1195075" cy="640080"/>
          </a:xfrm>
          <a:prstGeom prst="rect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77" name="Shape 75"/>
          <p:cNvSpPr/>
          <p:nvPr/>
        </p:nvSpPr>
        <p:spPr>
          <a:xfrm>
            <a:off x="4349755" y="1792224"/>
            <a:ext cx="1195075" cy="54864"/>
          </a:xfrm>
          <a:prstGeom prst="rect">
            <a:avLst/>
          </a:prstGeom>
          <a:solidFill>
            <a:srgbClr val="7472B8"/>
          </a:solidFill>
          <a:ln/>
        </p:spPr>
      </p:sp>
      <p:sp>
        <p:nvSpPr>
          <p:cNvPr id="78" name="Text 76"/>
          <p:cNvSpPr/>
          <p:nvPr/>
        </p:nvSpPr>
        <p:spPr>
          <a:xfrm>
            <a:off x="4404619" y="1847088"/>
            <a:ext cx="108534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ICC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5325374" y="1828800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3108960" y="2523744"/>
            <a:ext cx="1195075" cy="640080"/>
          </a:xfrm>
          <a:prstGeom prst="rect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81" name="Shape 79"/>
          <p:cNvSpPr/>
          <p:nvPr/>
        </p:nvSpPr>
        <p:spPr>
          <a:xfrm>
            <a:off x="3108960" y="2523744"/>
            <a:ext cx="1195075" cy="54864"/>
          </a:xfrm>
          <a:prstGeom prst="rect">
            <a:avLst/>
          </a:prstGeom>
          <a:solidFill>
            <a:srgbClr val="7472B8"/>
          </a:solidFill>
          <a:ln/>
        </p:spPr>
      </p:sp>
      <p:sp>
        <p:nvSpPr>
          <p:cNvPr id="82" name="Text 80"/>
          <p:cNvSpPr/>
          <p:nvPr/>
        </p:nvSpPr>
        <p:spPr>
          <a:xfrm>
            <a:off x="3163824" y="2578608"/>
            <a:ext cx="108534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TBML</a:t>
            </a:r>
            <a:endParaRPr lang="en-US" sz="900" dirty="0"/>
          </a:p>
        </p:txBody>
      </p:sp>
      <p:sp>
        <p:nvSpPr>
          <p:cNvPr id="83" name="Text 81"/>
          <p:cNvSpPr/>
          <p:nvPr/>
        </p:nvSpPr>
        <p:spPr>
          <a:xfrm>
            <a:off x="4084579" y="2560320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4349755" y="2523744"/>
            <a:ext cx="1195075" cy="640080"/>
          </a:xfrm>
          <a:prstGeom prst="rect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85" name="Shape 83"/>
          <p:cNvSpPr/>
          <p:nvPr/>
        </p:nvSpPr>
        <p:spPr>
          <a:xfrm>
            <a:off x="4349755" y="2523744"/>
            <a:ext cx="1195075" cy="54864"/>
          </a:xfrm>
          <a:prstGeom prst="rect">
            <a:avLst/>
          </a:prstGeom>
          <a:solidFill>
            <a:srgbClr val="7472B8"/>
          </a:solidFill>
          <a:ln/>
        </p:spPr>
      </p:sp>
      <p:sp>
        <p:nvSpPr>
          <p:cNvPr id="86" name="Text 84"/>
          <p:cNvSpPr/>
          <p:nvPr/>
        </p:nvSpPr>
        <p:spPr>
          <a:xfrm>
            <a:off x="4404619" y="2578608"/>
            <a:ext cx="108534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NOUNS</a:t>
            </a:r>
            <a:endParaRPr lang="en-US" sz="900" dirty="0"/>
          </a:p>
        </p:txBody>
      </p:sp>
      <p:sp>
        <p:nvSpPr>
          <p:cNvPr id="87" name="Text 85"/>
          <p:cNvSpPr/>
          <p:nvPr/>
        </p:nvSpPr>
        <p:spPr>
          <a:xfrm>
            <a:off x="5325374" y="2560320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800" dirty="0"/>
          </a:p>
        </p:txBody>
      </p:sp>
      <p:sp>
        <p:nvSpPr>
          <p:cNvPr id="88" name="Shape 86"/>
          <p:cNvSpPr/>
          <p:nvPr/>
        </p:nvSpPr>
        <p:spPr>
          <a:xfrm>
            <a:off x="3108960" y="3255264"/>
            <a:ext cx="1195075" cy="640080"/>
          </a:xfrm>
          <a:prstGeom prst="rect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89" name="Shape 87"/>
          <p:cNvSpPr/>
          <p:nvPr/>
        </p:nvSpPr>
        <p:spPr>
          <a:xfrm>
            <a:off x="3108960" y="3255264"/>
            <a:ext cx="1195075" cy="54864"/>
          </a:xfrm>
          <a:prstGeom prst="rect">
            <a:avLst/>
          </a:prstGeom>
          <a:solidFill>
            <a:srgbClr val="7472B8"/>
          </a:solidFill>
          <a:ln/>
        </p:spPr>
      </p:sp>
      <p:sp>
        <p:nvSpPr>
          <p:cNvPr id="90" name="Text 88"/>
          <p:cNvSpPr/>
          <p:nvPr/>
        </p:nvSpPr>
        <p:spPr>
          <a:xfrm>
            <a:off x="3163824" y="3310128"/>
            <a:ext cx="108534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TEMPLATING</a:t>
            </a:r>
            <a:endParaRPr lang="en-US" sz="900" dirty="0"/>
          </a:p>
        </p:txBody>
      </p:sp>
      <p:sp>
        <p:nvSpPr>
          <p:cNvPr id="91" name="Text 89"/>
          <p:cNvSpPr/>
          <p:nvPr/>
        </p:nvSpPr>
        <p:spPr>
          <a:xfrm>
            <a:off x="4084579" y="3291840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800" dirty="0"/>
          </a:p>
        </p:txBody>
      </p:sp>
      <p:sp>
        <p:nvSpPr>
          <p:cNvPr id="92" name="Shape 90"/>
          <p:cNvSpPr/>
          <p:nvPr/>
        </p:nvSpPr>
        <p:spPr>
          <a:xfrm>
            <a:off x="4349755" y="3255264"/>
            <a:ext cx="1195075" cy="640080"/>
          </a:xfrm>
          <a:prstGeom prst="rect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93" name="Shape 91"/>
          <p:cNvSpPr/>
          <p:nvPr/>
        </p:nvSpPr>
        <p:spPr>
          <a:xfrm>
            <a:off x="4349755" y="3255264"/>
            <a:ext cx="1195075" cy="54864"/>
          </a:xfrm>
          <a:prstGeom prst="rect">
            <a:avLst/>
          </a:prstGeom>
          <a:solidFill>
            <a:srgbClr val="7472B8"/>
          </a:solidFill>
          <a:ln/>
        </p:spPr>
      </p:sp>
      <p:sp>
        <p:nvSpPr>
          <p:cNvPr id="94" name="Text 92"/>
          <p:cNvSpPr/>
          <p:nvPr/>
        </p:nvSpPr>
        <p:spPr>
          <a:xfrm>
            <a:off x="4404619" y="3310128"/>
            <a:ext cx="108534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WORKABILITY</a:t>
            </a:r>
            <a:endParaRPr lang="en-US" sz="900" dirty="0"/>
          </a:p>
        </p:txBody>
      </p:sp>
      <p:sp>
        <p:nvSpPr>
          <p:cNvPr id="95" name="Text 93"/>
          <p:cNvSpPr/>
          <p:nvPr/>
        </p:nvSpPr>
        <p:spPr>
          <a:xfrm>
            <a:off x="5325374" y="3291840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800" dirty="0"/>
          </a:p>
        </p:txBody>
      </p:sp>
      <p:sp>
        <p:nvSpPr>
          <p:cNvPr id="96" name="Shape 94"/>
          <p:cNvSpPr/>
          <p:nvPr/>
        </p:nvSpPr>
        <p:spPr>
          <a:xfrm>
            <a:off x="5810006" y="1426464"/>
            <a:ext cx="3205978" cy="2578608"/>
          </a:xfrm>
          <a:prstGeom prst="rect">
            <a:avLst/>
          </a:prstGeom>
          <a:solidFill>
            <a:srgbClr val="F0EFF9"/>
          </a:solidFill>
          <a:ln w="19050">
            <a:solidFill>
              <a:srgbClr val="9B98CC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97" name="Shape 95"/>
          <p:cNvSpPr/>
          <p:nvPr/>
        </p:nvSpPr>
        <p:spPr>
          <a:xfrm>
            <a:off x="5810006" y="1426464"/>
            <a:ext cx="3205978" cy="54864"/>
          </a:xfrm>
          <a:prstGeom prst="rect">
            <a:avLst/>
          </a:prstGeom>
          <a:solidFill>
            <a:srgbClr val="5B5EA6"/>
          </a:solidFill>
          <a:ln/>
        </p:spPr>
      </p:sp>
      <p:sp>
        <p:nvSpPr>
          <p:cNvPr id="98" name="Text 96"/>
          <p:cNvSpPr/>
          <p:nvPr/>
        </p:nvSpPr>
        <p:spPr>
          <a:xfrm>
            <a:off x="5919734" y="1517904"/>
            <a:ext cx="236473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5B5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ENGINE</a:t>
            </a:r>
            <a:endParaRPr lang="en-US" sz="750" dirty="0"/>
          </a:p>
        </p:txBody>
      </p:sp>
      <p:sp>
        <p:nvSpPr>
          <p:cNvPr id="99" name="Shape 97"/>
          <p:cNvSpPr/>
          <p:nvPr/>
        </p:nvSpPr>
        <p:spPr>
          <a:xfrm>
            <a:off x="8266176" y="1499616"/>
            <a:ext cx="694944" cy="173736"/>
          </a:xfrm>
          <a:prstGeom prst="rect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8266176" y="1499616"/>
            <a:ext cx="694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AGENTIC</a:t>
            </a:r>
            <a:endParaRPr lang="en-US" sz="600" dirty="0"/>
          </a:p>
        </p:txBody>
      </p:sp>
      <p:sp>
        <p:nvSpPr>
          <p:cNvPr id="101" name="Shape 99"/>
          <p:cNvSpPr/>
          <p:nvPr/>
        </p:nvSpPr>
        <p:spPr>
          <a:xfrm>
            <a:off x="5727710" y="2587752"/>
            <a:ext cx="100584" cy="256032"/>
          </a:xfrm>
          <a:prstGeom prst="rect">
            <a:avLst/>
          </a:prstGeom>
          <a:solidFill>
            <a:srgbClr val="9B98CC"/>
          </a:solidFill>
          <a:ln w="12700">
            <a:solidFill>
              <a:srgbClr val="9B98CC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5681990" y="2532888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03" name="Shape 101"/>
          <p:cNvSpPr/>
          <p:nvPr/>
        </p:nvSpPr>
        <p:spPr>
          <a:xfrm>
            <a:off x="5938022" y="1792224"/>
            <a:ext cx="2949946" cy="950976"/>
          </a:xfrm>
          <a:prstGeom prst="rect">
            <a:avLst/>
          </a:prstGeom>
          <a:solidFill>
            <a:srgbClr val="E8E7F4"/>
          </a:solidFill>
          <a:ln w="12700">
            <a:solidFill>
              <a:srgbClr val="9B98CC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5938022" y="1792224"/>
            <a:ext cx="2949946" cy="54864"/>
          </a:xfrm>
          <a:prstGeom prst="rect">
            <a:avLst/>
          </a:prstGeom>
          <a:solidFill>
            <a:srgbClr val="7472B8"/>
          </a:solidFill>
          <a:ln/>
        </p:spPr>
      </p:sp>
      <p:sp>
        <p:nvSpPr>
          <p:cNvPr id="105" name="Text 103"/>
          <p:cNvSpPr/>
          <p:nvPr/>
        </p:nvSpPr>
        <p:spPr>
          <a:xfrm>
            <a:off x="5974598" y="1792224"/>
            <a:ext cx="287679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5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5B5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</a:t>
            </a:r>
            <a:endParaRPr lang="en-US" sz="1300" dirty="0"/>
          </a:p>
        </p:txBody>
      </p:sp>
      <p:sp>
        <p:nvSpPr>
          <p:cNvPr id="106" name="Shape 104"/>
          <p:cNvSpPr/>
          <p:nvPr/>
        </p:nvSpPr>
        <p:spPr>
          <a:xfrm>
            <a:off x="5938022" y="2852928"/>
            <a:ext cx="2949946" cy="1115568"/>
          </a:xfrm>
          <a:prstGeom prst="rect">
            <a:avLst/>
          </a:prstGeom>
          <a:solidFill>
            <a:srgbClr val="E8E7F4"/>
          </a:solidFill>
          <a:ln w="12700">
            <a:solidFill>
              <a:srgbClr val="9B98CC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5938022" y="2852928"/>
            <a:ext cx="2949946" cy="54864"/>
          </a:xfrm>
          <a:prstGeom prst="rect">
            <a:avLst/>
          </a:prstGeom>
          <a:solidFill>
            <a:srgbClr val="7472B8"/>
          </a:solidFill>
          <a:ln/>
        </p:spPr>
      </p:sp>
      <p:sp>
        <p:nvSpPr>
          <p:cNvPr id="108" name="Text 106"/>
          <p:cNvSpPr/>
          <p:nvPr/>
        </p:nvSpPr>
        <p:spPr>
          <a:xfrm>
            <a:off x="5974598" y="2852928"/>
            <a:ext cx="287679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5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5B5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</a:t>
            </a:r>
            <a:endParaRPr lang="en-US" sz="1300" dirty="0"/>
          </a:p>
        </p:txBody>
      </p:sp>
      <p:sp>
        <p:nvSpPr>
          <p:cNvPr id="109" name="Shape 107"/>
          <p:cNvSpPr/>
          <p:nvPr/>
        </p:nvSpPr>
        <p:spPr>
          <a:xfrm>
            <a:off x="4231162" y="4005072"/>
            <a:ext cx="0" cy="201168"/>
          </a:xfrm>
          <a:prstGeom prst="line">
            <a:avLst/>
          </a:prstGeom>
          <a:noFill/>
          <a:ln w="19050">
            <a:solidFill>
              <a:srgbClr val="C9A882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4066570" y="4041648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06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⇅</a:t>
            </a:r>
            <a:endParaRPr lang="en-US" sz="1300" dirty="0"/>
          </a:p>
        </p:txBody>
      </p:sp>
      <p:sp>
        <p:nvSpPr>
          <p:cNvPr id="111" name="Shape 109"/>
          <p:cNvSpPr/>
          <p:nvPr/>
        </p:nvSpPr>
        <p:spPr>
          <a:xfrm>
            <a:off x="7412995" y="4005072"/>
            <a:ext cx="0" cy="201168"/>
          </a:xfrm>
          <a:prstGeom prst="line">
            <a:avLst/>
          </a:prstGeom>
          <a:noFill/>
          <a:ln w="19050">
            <a:solidFill>
              <a:srgbClr val="C9A882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7248403" y="4041648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06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⇅</a:t>
            </a:r>
            <a:endParaRPr lang="en-US" sz="1300" dirty="0"/>
          </a:p>
        </p:txBody>
      </p:sp>
      <p:sp>
        <p:nvSpPr>
          <p:cNvPr id="113" name="Shape 111"/>
          <p:cNvSpPr/>
          <p:nvPr/>
        </p:nvSpPr>
        <p:spPr>
          <a:xfrm>
            <a:off x="2999232" y="4242816"/>
            <a:ext cx="6016752" cy="2066544"/>
          </a:xfrm>
          <a:prstGeom prst="rect">
            <a:avLst/>
          </a:prstGeom>
          <a:solidFill>
            <a:srgbClr val="FEF0D4"/>
          </a:solidFill>
          <a:ln w="12700">
            <a:solidFill>
              <a:srgbClr val="E0B870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2999232" y="4242816"/>
            <a:ext cx="6016752" cy="54864"/>
          </a:xfrm>
          <a:prstGeom prst="rect">
            <a:avLst/>
          </a:prstGeom>
          <a:solidFill>
            <a:srgbClr val="9B6010"/>
          </a:solidFill>
          <a:ln/>
        </p:spPr>
      </p:sp>
      <p:sp>
        <p:nvSpPr>
          <p:cNvPr id="115" name="Text 113"/>
          <p:cNvSpPr/>
          <p:nvPr/>
        </p:nvSpPr>
        <p:spPr>
          <a:xfrm>
            <a:off x="3127248" y="433425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9B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PLATFORM  —  Shared Domain Services</a:t>
            </a:r>
            <a:endParaRPr lang="en-US" sz="800" dirty="0"/>
          </a:p>
        </p:txBody>
      </p:sp>
      <p:sp>
        <p:nvSpPr>
          <p:cNvPr id="116" name="Shape 114"/>
          <p:cNvSpPr/>
          <p:nvPr/>
        </p:nvSpPr>
        <p:spPr>
          <a:xfrm>
            <a:off x="3127248" y="4608576"/>
            <a:ext cx="1108253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E0B870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3127248" y="4608576"/>
            <a:ext cx="1108253" cy="45720"/>
          </a:xfrm>
          <a:prstGeom prst="rect">
            <a:avLst/>
          </a:prstGeom>
          <a:solidFill>
            <a:srgbClr val="9B6010"/>
          </a:solidFill>
          <a:ln/>
        </p:spPr>
      </p:sp>
      <p:sp>
        <p:nvSpPr>
          <p:cNvPr id="118" name="Text 116"/>
          <p:cNvSpPr/>
          <p:nvPr/>
        </p:nvSpPr>
        <p:spPr>
          <a:xfrm>
            <a:off x="3163824" y="4663440"/>
            <a:ext cx="103510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B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</a:t>
            </a:r>
            <a:endParaRPr lang="en-US" sz="850" dirty="0"/>
          </a:p>
        </p:txBody>
      </p:sp>
      <p:sp>
        <p:nvSpPr>
          <p:cNvPr id="119" name="Shape 117"/>
          <p:cNvSpPr/>
          <p:nvPr/>
        </p:nvSpPr>
        <p:spPr>
          <a:xfrm>
            <a:off x="4290365" y="4608576"/>
            <a:ext cx="1108253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E0B870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4290365" y="4608576"/>
            <a:ext cx="1108253" cy="45720"/>
          </a:xfrm>
          <a:prstGeom prst="rect">
            <a:avLst/>
          </a:prstGeom>
          <a:solidFill>
            <a:srgbClr val="9B6010"/>
          </a:solidFill>
          <a:ln/>
        </p:spPr>
      </p:sp>
      <p:sp>
        <p:nvSpPr>
          <p:cNvPr id="121" name="Text 119"/>
          <p:cNvSpPr/>
          <p:nvPr/>
        </p:nvSpPr>
        <p:spPr>
          <a:xfrm>
            <a:off x="4326941" y="4663440"/>
            <a:ext cx="103510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B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</a:t>
            </a:r>
            <a:endParaRPr lang="en-US" sz="850" dirty="0"/>
          </a:p>
        </p:txBody>
      </p:sp>
      <p:sp>
        <p:nvSpPr>
          <p:cNvPr id="122" name="Shape 120"/>
          <p:cNvSpPr/>
          <p:nvPr/>
        </p:nvSpPr>
        <p:spPr>
          <a:xfrm>
            <a:off x="5453482" y="4608576"/>
            <a:ext cx="1108253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E0B870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5453482" y="4608576"/>
            <a:ext cx="1108253" cy="45720"/>
          </a:xfrm>
          <a:prstGeom prst="rect">
            <a:avLst/>
          </a:prstGeom>
          <a:solidFill>
            <a:srgbClr val="9B6010"/>
          </a:solidFill>
          <a:ln/>
        </p:spPr>
      </p:sp>
      <p:sp>
        <p:nvSpPr>
          <p:cNvPr id="124" name="Text 122"/>
          <p:cNvSpPr/>
          <p:nvPr/>
        </p:nvSpPr>
        <p:spPr>
          <a:xfrm>
            <a:off x="5490058" y="4663440"/>
            <a:ext cx="103510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B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</a:t>
            </a:r>
            <a:endParaRPr lang="en-US" sz="850" dirty="0"/>
          </a:p>
        </p:txBody>
      </p:sp>
      <p:sp>
        <p:nvSpPr>
          <p:cNvPr id="125" name="Shape 123"/>
          <p:cNvSpPr/>
          <p:nvPr/>
        </p:nvSpPr>
        <p:spPr>
          <a:xfrm>
            <a:off x="6616598" y="4608576"/>
            <a:ext cx="1108253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E0B870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6616598" y="4608576"/>
            <a:ext cx="1108253" cy="45720"/>
          </a:xfrm>
          <a:prstGeom prst="rect">
            <a:avLst/>
          </a:prstGeom>
          <a:solidFill>
            <a:srgbClr val="9B6010"/>
          </a:solidFill>
          <a:ln/>
        </p:spPr>
      </p:sp>
      <p:sp>
        <p:nvSpPr>
          <p:cNvPr id="127" name="Text 125"/>
          <p:cNvSpPr/>
          <p:nvPr/>
        </p:nvSpPr>
        <p:spPr>
          <a:xfrm>
            <a:off x="6653174" y="4663440"/>
            <a:ext cx="103510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B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9B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</a:t>
            </a:r>
            <a:endParaRPr lang="en-US" sz="850" dirty="0"/>
          </a:p>
        </p:txBody>
      </p:sp>
      <p:sp>
        <p:nvSpPr>
          <p:cNvPr id="128" name="Shape 126"/>
          <p:cNvSpPr/>
          <p:nvPr/>
        </p:nvSpPr>
        <p:spPr>
          <a:xfrm>
            <a:off x="7779715" y="4608576"/>
            <a:ext cx="1108253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E0B870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7779715" y="4608576"/>
            <a:ext cx="1108253" cy="45720"/>
          </a:xfrm>
          <a:prstGeom prst="rect">
            <a:avLst/>
          </a:prstGeom>
          <a:solidFill>
            <a:srgbClr val="9B6010"/>
          </a:solidFill>
          <a:ln/>
        </p:spPr>
      </p:sp>
      <p:sp>
        <p:nvSpPr>
          <p:cNvPr id="130" name="Text 128"/>
          <p:cNvSpPr/>
          <p:nvPr/>
        </p:nvSpPr>
        <p:spPr>
          <a:xfrm>
            <a:off x="7816291" y="4663440"/>
            <a:ext cx="103510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B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9B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850" dirty="0"/>
          </a:p>
        </p:txBody>
      </p:sp>
      <p:sp>
        <p:nvSpPr>
          <p:cNvPr id="131" name="Shape 129"/>
          <p:cNvSpPr/>
          <p:nvPr/>
        </p:nvSpPr>
        <p:spPr>
          <a:xfrm>
            <a:off x="3127248" y="5212080"/>
            <a:ext cx="1108253" cy="493776"/>
          </a:xfrm>
          <a:prstGeom prst="rect">
            <a:avLst/>
          </a:prstGeom>
          <a:solidFill>
            <a:srgbClr val="F0EFF9"/>
          </a:solidFill>
          <a:ln w="19050">
            <a:solidFill>
              <a:srgbClr val="9B98CC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3127248" y="5212080"/>
            <a:ext cx="1108253" cy="45720"/>
          </a:xfrm>
          <a:prstGeom prst="rect">
            <a:avLst/>
          </a:prstGeom>
          <a:solidFill>
            <a:srgbClr val="5B5EA6"/>
          </a:solidFill>
          <a:ln/>
        </p:spPr>
      </p:sp>
      <p:sp>
        <p:nvSpPr>
          <p:cNvPr id="133" name="Text 131"/>
          <p:cNvSpPr/>
          <p:nvPr/>
        </p:nvSpPr>
        <p:spPr>
          <a:xfrm>
            <a:off x="3163824" y="5266944"/>
            <a:ext cx="79735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B5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5B5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850" dirty="0"/>
          </a:p>
        </p:txBody>
      </p:sp>
      <p:sp>
        <p:nvSpPr>
          <p:cNvPr id="134" name="Shape 132"/>
          <p:cNvSpPr/>
          <p:nvPr/>
        </p:nvSpPr>
        <p:spPr>
          <a:xfrm>
            <a:off x="3467405" y="5248656"/>
            <a:ext cx="694944" cy="173736"/>
          </a:xfrm>
          <a:prstGeom prst="rect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3467405" y="5248656"/>
            <a:ext cx="694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AGENTIC</a:t>
            </a:r>
            <a:endParaRPr lang="en-US" sz="600" dirty="0"/>
          </a:p>
        </p:txBody>
      </p:sp>
      <p:sp>
        <p:nvSpPr>
          <p:cNvPr id="136" name="Shape 134"/>
          <p:cNvSpPr/>
          <p:nvPr/>
        </p:nvSpPr>
        <p:spPr>
          <a:xfrm>
            <a:off x="4290365" y="5212080"/>
            <a:ext cx="1108253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E0B870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4290365" y="5212080"/>
            <a:ext cx="1108253" cy="45720"/>
          </a:xfrm>
          <a:prstGeom prst="rect">
            <a:avLst/>
          </a:prstGeom>
          <a:solidFill>
            <a:srgbClr val="9B6010"/>
          </a:solidFill>
          <a:ln/>
        </p:spPr>
      </p:sp>
      <p:sp>
        <p:nvSpPr>
          <p:cNvPr id="138" name="Text 136"/>
          <p:cNvSpPr/>
          <p:nvPr/>
        </p:nvSpPr>
        <p:spPr>
          <a:xfrm>
            <a:off x="4326941" y="5266944"/>
            <a:ext cx="103510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B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</a:t>
            </a:r>
            <a:endParaRPr lang="en-US" sz="850" dirty="0"/>
          </a:p>
        </p:txBody>
      </p:sp>
      <p:sp>
        <p:nvSpPr>
          <p:cNvPr id="139" name="Shape 137"/>
          <p:cNvSpPr/>
          <p:nvPr/>
        </p:nvSpPr>
        <p:spPr>
          <a:xfrm>
            <a:off x="5453482" y="5212080"/>
            <a:ext cx="1108253" cy="493776"/>
          </a:xfrm>
          <a:prstGeom prst="rect">
            <a:avLst/>
          </a:prstGeom>
          <a:solidFill>
            <a:srgbClr val="F0EFF9"/>
          </a:solidFill>
          <a:ln w="19050">
            <a:solidFill>
              <a:srgbClr val="9B98CC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5453482" y="5212080"/>
            <a:ext cx="1108253" cy="45720"/>
          </a:xfrm>
          <a:prstGeom prst="rect">
            <a:avLst/>
          </a:prstGeom>
          <a:solidFill>
            <a:srgbClr val="5B5EA6"/>
          </a:solidFill>
          <a:ln/>
        </p:spPr>
      </p:sp>
      <p:sp>
        <p:nvSpPr>
          <p:cNvPr id="141" name="Text 139"/>
          <p:cNvSpPr/>
          <p:nvPr/>
        </p:nvSpPr>
        <p:spPr>
          <a:xfrm>
            <a:off x="5490058" y="5266944"/>
            <a:ext cx="79735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B5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Sanction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5B5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Screening</a:t>
            </a:r>
            <a:endParaRPr lang="en-US" sz="850" dirty="0"/>
          </a:p>
        </p:txBody>
      </p:sp>
      <p:sp>
        <p:nvSpPr>
          <p:cNvPr id="142" name="Shape 140"/>
          <p:cNvSpPr/>
          <p:nvPr/>
        </p:nvSpPr>
        <p:spPr>
          <a:xfrm>
            <a:off x="5793638" y="5248656"/>
            <a:ext cx="694944" cy="173736"/>
          </a:xfrm>
          <a:prstGeom prst="rect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5793638" y="5248656"/>
            <a:ext cx="694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AGENTIC</a:t>
            </a:r>
            <a:endParaRPr lang="en-US" sz="600" dirty="0"/>
          </a:p>
        </p:txBody>
      </p:sp>
      <p:sp>
        <p:nvSpPr>
          <p:cNvPr id="144" name="Shape 142"/>
          <p:cNvSpPr/>
          <p:nvPr/>
        </p:nvSpPr>
        <p:spPr>
          <a:xfrm>
            <a:off x="6616598" y="5212080"/>
            <a:ext cx="1108253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E0B870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6616598" y="5212080"/>
            <a:ext cx="1108253" cy="45720"/>
          </a:xfrm>
          <a:prstGeom prst="rect">
            <a:avLst/>
          </a:prstGeom>
          <a:solidFill>
            <a:srgbClr val="9B6010"/>
          </a:solidFill>
          <a:ln/>
        </p:spPr>
      </p:sp>
      <p:sp>
        <p:nvSpPr>
          <p:cNvPr id="146" name="Text 144"/>
          <p:cNvSpPr/>
          <p:nvPr/>
        </p:nvSpPr>
        <p:spPr>
          <a:xfrm>
            <a:off x="6653174" y="5266944"/>
            <a:ext cx="103510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B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9B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850" dirty="0"/>
          </a:p>
        </p:txBody>
      </p:sp>
      <p:sp>
        <p:nvSpPr>
          <p:cNvPr id="147" name="Shape 145"/>
          <p:cNvSpPr/>
          <p:nvPr/>
        </p:nvSpPr>
        <p:spPr>
          <a:xfrm>
            <a:off x="7779715" y="5212080"/>
            <a:ext cx="1108253" cy="493776"/>
          </a:xfrm>
          <a:prstGeom prst="rect">
            <a:avLst/>
          </a:prstGeom>
          <a:solidFill>
            <a:srgbClr val="F0EFF9"/>
          </a:solidFill>
          <a:ln w="19050">
            <a:solidFill>
              <a:srgbClr val="9B98CC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7779715" y="5212080"/>
            <a:ext cx="1108253" cy="45720"/>
          </a:xfrm>
          <a:prstGeom prst="rect">
            <a:avLst/>
          </a:prstGeom>
          <a:solidFill>
            <a:srgbClr val="5B5EA6"/>
          </a:solidFill>
          <a:ln/>
        </p:spPr>
      </p:sp>
      <p:sp>
        <p:nvSpPr>
          <p:cNvPr id="149" name="Text 147"/>
          <p:cNvSpPr/>
          <p:nvPr/>
        </p:nvSpPr>
        <p:spPr>
          <a:xfrm>
            <a:off x="7816291" y="5266944"/>
            <a:ext cx="79735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B5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</a:t>
            </a:r>
            <a:endParaRPr lang="en-US" sz="850" dirty="0"/>
          </a:p>
        </p:txBody>
      </p:sp>
      <p:sp>
        <p:nvSpPr>
          <p:cNvPr id="150" name="Shape 148"/>
          <p:cNvSpPr/>
          <p:nvPr/>
        </p:nvSpPr>
        <p:spPr>
          <a:xfrm>
            <a:off x="8119872" y="5248656"/>
            <a:ext cx="694944" cy="173736"/>
          </a:xfrm>
          <a:prstGeom prst="rect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</p:spPr>
      </p:sp>
      <p:sp>
        <p:nvSpPr>
          <p:cNvPr id="151" name="Text 149"/>
          <p:cNvSpPr/>
          <p:nvPr/>
        </p:nvSpPr>
        <p:spPr>
          <a:xfrm>
            <a:off x="8119872" y="5248656"/>
            <a:ext cx="694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AGENTIC</a:t>
            </a:r>
            <a:endParaRPr lang="en-US" sz="600" dirty="0"/>
          </a:p>
        </p:txBody>
      </p:sp>
      <p:sp>
        <p:nvSpPr>
          <p:cNvPr id="152" name="Text 150"/>
          <p:cNvSpPr/>
          <p:nvPr/>
        </p:nvSpPr>
        <p:spPr>
          <a:xfrm>
            <a:off x="9034272" y="1742846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53" name="Text 151"/>
          <p:cNvSpPr/>
          <p:nvPr/>
        </p:nvSpPr>
        <p:spPr>
          <a:xfrm>
            <a:off x="9034272" y="5069434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B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54" name="Shape 152"/>
          <p:cNvSpPr/>
          <p:nvPr/>
        </p:nvSpPr>
        <p:spPr>
          <a:xfrm>
            <a:off x="9217152" y="969264"/>
            <a:ext cx="2907792" cy="2816352"/>
          </a:xfrm>
          <a:prstGeom prst="rect">
            <a:avLst/>
          </a:prstGeom>
          <a:solidFill>
            <a:srgbClr val="F3E8DE"/>
          </a:solidFill>
          <a:ln w="9525">
            <a:solidFill>
              <a:srgbClr val="C9A882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9217152" y="969264"/>
            <a:ext cx="2907792" cy="54864"/>
          </a:xfrm>
          <a:prstGeom prst="rect">
            <a:avLst/>
          </a:prstGeom>
          <a:solidFill>
            <a:srgbClr val="5C3317"/>
          </a:solidFill>
          <a:ln/>
        </p:spPr>
      </p:sp>
      <p:sp>
        <p:nvSpPr>
          <p:cNvPr id="156" name="Text 154"/>
          <p:cNvSpPr/>
          <p:nvPr/>
        </p:nvSpPr>
        <p:spPr>
          <a:xfrm>
            <a:off x="9308592" y="1060704"/>
            <a:ext cx="2724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A06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JPM PLATFORM</a:t>
            </a:r>
            <a:endParaRPr lang="en-US" sz="750" dirty="0"/>
          </a:p>
        </p:txBody>
      </p:sp>
      <p:sp>
        <p:nvSpPr>
          <p:cNvPr id="157" name="Shape 155"/>
          <p:cNvSpPr/>
          <p:nvPr/>
        </p:nvSpPr>
        <p:spPr>
          <a:xfrm>
            <a:off x="9326880" y="1353312"/>
            <a:ext cx="2688336" cy="384048"/>
          </a:xfrm>
          <a:prstGeom prst="rect">
            <a:avLst/>
          </a:prstGeom>
          <a:solidFill>
            <a:srgbClr val="7A4520"/>
          </a:solidFill>
          <a:ln w="12700">
            <a:solidFill>
              <a:srgbClr val="7A4520"/>
            </a:solidFill>
            <a:prstDash val="solid"/>
          </a:ln>
        </p:spPr>
      </p:sp>
      <p:sp>
        <p:nvSpPr>
          <p:cNvPr id="158" name="Text 156"/>
          <p:cNvSpPr/>
          <p:nvPr/>
        </p:nvSpPr>
        <p:spPr>
          <a:xfrm>
            <a:off x="9345168" y="135331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</a:t>
            </a:r>
            <a:endParaRPr lang="en-US" sz="1000" dirty="0"/>
          </a:p>
        </p:txBody>
      </p:sp>
      <p:sp>
        <p:nvSpPr>
          <p:cNvPr id="159" name="Shape 157"/>
          <p:cNvSpPr/>
          <p:nvPr/>
        </p:nvSpPr>
        <p:spPr>
          <a:xfrm>
            <a:off x="9326880" y="1819656"/>
            <a:ext cx="2688336" cy="384048"/>
          </a:xfrm>
          <a:prstGeom prst="rect">
            <a:avLst/>
          </a:prstGeom>
          <a:solidFill>
            <a:srgbClr val="7A4520"/>
          </a:solidFill>
          <a:ln w="12700">
            <a:solidFill>
              <a:srgbClr val="7A4520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9345168" y="1819656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LOANS</a:t>
            </a:r>
            <a:endParaRPr lang="en-US" sz="1000" dirty="0"/>
          </a:p>
        </p:txBody>
      </p:sp>
      <p:sp>
        <p:nvSpPr>
          <p:cNvPr id="161" name="Shape 159"/>
          <p:cNvSpPr/>
          <p:nvPr/>
        </p:nvSpPr>
        <p:spPr>
          <a:xfrm>
            <a:off x="9326880" y="2286000"/>
            <a:ext cx="2688336" cy="384048"/>
          </a:xfrm>
          <a:prstGeom prst="rect">
            <a:avLst/>
          </a:prstGeom>
          <a:solidFill>
            <a:srgbClr val="7A4520"/>
          </a:solidFill>
          <a:ln w="12700">
            <a:solidFill>
              <a:srgbClr val="7A4520"/>
            </a:solidFill>
            <a:prstDash val="solid"/>
          </a:ln>
        </p:spPr>
      </p:sp>
      <p:sp>
        <p:nvSpPr>
          <p:cNvPr id="162" name="Text 160"/>
          <p:cNvSpPr/>
          <p:nvPr/>
        </p:nvSpPr>
        <p:spPr>
          <a:xfrm>
            <a:off x="9345168" y="228600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SWIFTS</a:t>
            </a:r>
            <a:endParaRPr lang="en-US" sz="1000" dirty="0"/>
          </a:p>
        </p:txBody>
      </p:sp>
      <p:sp>
        <p:nvSpPr>
          <p:cNvPr id="163" name="Shape 161"/>
          <p:cNvSpPr/>
          <p:nvPr/>
        </p:nvSpPr>
        <p:spPr>
          <a:xfrm>
            <a:off x="9326880" y="2752344"/>
            <a:ext cx="2688336" cy="384048"/>
          </a:xfrm>
          <a:prstGeom prst="rect">
            <a:avLst/>
          </a:prstGeom>
          <a:solidFill>
            <a:srgbClr val="7A4520"/>
          </a:solidFill>
          <a:ln w="12700">
            <a:solidFill>
              <a:srgbClr val="7A4520"/>
            </a:solidFill>
            <a:prstDash val="solid"/>
          </a:ln>
        </p:spPr>
      </p:sp>
      <p:sp>
        <p:nvSpPr>
          <p:cNvPr id="164" name="Text 162"/>
          <p:cNvSpPr/>
          <p:nvPr/>
        </p:nvSpPr>
        <p:spPr>
          <a:xfrm>
            <a:off x="9345168" y="2752344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</a:t>
            </a:r>
            <a:endParaRPr lang="en-US" sz="1000" dirty="0"/>
          </a:p>
        </p:txBody>
      </p:sp>
      <p:sp>
        <p:nvSpPr>
          <p:cNvPr id="165" name="Shape 163"/>
          <p:cNvSpPr/>
          <p:nvPr/>
        </p:nvSpPr>
        <p:spPr>
          <a:xfrm>
            <a:off x="9326880" y="3218688"/>
            <a:ext cx="2688336" cy="384048"/>
          </a:xfrm>
          <a:prstGeom prst="rect">
            <a:avLst/>
          </a:prstGeom>
          <a:solidFill>
            <a:srgbClr val="7A4520"/>
          </a:solidFill>
          <a:ln w="12700">
            <a:solidFill>
              <a:srgbClr val="7A4520"/>
            </a:solidFill>
            <a:prstDash val="solid"/>
          </a:ln>
        </p:spPr>
      </p:sp>
      <p:sp>
        <p:nvSpPr>
          <p:cNvPr id="166" name="Text 164"/>
          <p:cNvSpPr/>
          <p:nvPr/>
        </p:nvSpPr>
        <p:spPr>
          <a:xfrm>
            <a:off x="9345168" y="321868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IDA</a:t>
            </a:r>
            <a:endParaRPr lang="en-US" sz="1000" dirty="0"/>
          </a:p>
        </p:txBody>
      </p:sp>
      <p:sp>
        <p:nvSpPr>
          <p:cNvPr id="167" name="Shape 165"/>
          <p:cNvSpPr/>
          <p:nvPr/>
        </p:nvSpPr>
        <p:spPr>
          <a:xfrm>
            <a:off x="12134088" y="969264"/>
            <a:ext cx="0" cy="5376672"/>
          </a:xfrm>
          <a:prstGeom prst="line">
            <a:avLst/>
          </a:prstGeom>
          <a:noFill/>
          <a:ln w="9525">
            <a:solidFill>
              <a:srgbClr val="D6CCC2"/>
            </a:solidFill>
            <a:prstDash val="dash"/>
          </a:ln>
        </p:spPr>
      </p:sp>
      <p:sp>
        <p:nvSpPr>
          <p:cNvPr id="168" name="Shape 166"/>
          <p:cNvSpPr/>
          <p:nvPr/>
        </p:nvSpPr>
        <p:spPr>
          <a:xfrm>
            <a:off x="9217152" y="3895344"/>
            <a:ext cx="2907792" cy="2450592"/>
          </a:xfrm>
          <a:prstGeom prst="rect">
            <a:avLst/>
          </a:prstGeom>
          <a:solidFill>
            <a:srgbClr val="F7F4F0"/>
          </a:solidFill>
          <a:ln w="9525">
            <a:solidFill>
              <a:srgbClr val="D6CCC2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9217152" y="3895344"/>
            <a:ext cx="2907792" cy="54864"/>
          </a:xfrm>
          <a:prstGeom prst="rect">
            <a:avLst/>
          </a:prstGeom>
          <a:solidFill>
            <a:srgbClr val="5C3317"/>
          </a:solidFill>
          <a:ln/>
        </p:spPr>
      </p:sp>
      <p:sp>
        <p:nvSpPr>
          <p:cNvPr id="170" name="Text 168"/>
          <p:cNvSpPr/>
          <p:nvPr/>
        </p:nvSpPr>
        <p:spPr>
          <a:xfrm>
            <a:off x="9308592" y="3986784"/>
            <a:ext cx="2724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JPM DATA LAKE</a:t>
            </a:r>
            <a:endParaRPr lang="en-US" sz="750" dirty="0"/>
          </a:p>
        </p:txBody>
      </p:sp>
      <p:sp>
        <p:nvSpPr>
          <p:cNvPr id="171" name="Shape 169"/>
          <p:cNvSpPr/>
          <p:nvPr/>
        </p:nvSpPr>
        <p:spPr>
          <a:xfrm>
            <a:off x="9326880" y="4279392"/>
            <a:ext cx="2688336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172" name="Text 170"/>
          <p:cNvSpPr/>
          <p:nvPr/>
        </p:nvSpPr>
        <p:spPr>
          <a:xfrm>
            <a:off x="9345168" y="4279392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</a:t>
            </a:r>
            <a:endParaRPr lang="en-US" sz="950" dirty="0"/>
          </a:p>
        </p:txBody>
      </p:sp>
      <p:sp>
        <p:nvSpPr>
          <p:cNvPr id="173" name="Shape 171"/>
          <p:cNvSpPr/>
          <p:nvPr/>
        </p:nvSpPr>
        <p:spPr>
          <a:xfrm>
            <a:off x="9326880" y="4828032"/>
            <a:ext cx="2688336" cy="438912"/>
          </a:xfrm>
          <a:prstGeom prst="rect">
            <a:avLst/>
          </a:prstGeom>
          <a:solidFill>
            <a:srgbClr val="F0EFF9"/>
          </a:solidFill>
          <a:ln w="15240">
            <a:solidFill>
              <a:srgbClr val="9B98CC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9326880" y="4828032"/>
            <a:ext cx="2688336" cy="45720"/>
          </a:xfrm>
          <a:prstGeom prst="rect">
            <a:avLst/>
          </a:prstGeom>
          <a:solidFill>
            <a:srgbClr val="5B5EA6"/>
          </a:solidFill>
          <a:ln/>
        </p:spPr>
      </p:sp>
      <p:sp>
        <p:nvSpPr>
          <p:cNvPr id="175" name="Text 173"/>
          <p:cNvSpPr/>
          <p:nvPr/>
        </p:nvSpPr>
        <p:spPr>
          <a:xfrm>
            <a:off x="9345168" y="4828032"/>
            <a:ext cx="22494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B5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950" dirty="0"/>
          </a:p>
        </p:txBody>
      </p:sp>
      <p:sp>
        <p:nvSpPr>
          <p:cNvPr id="176" name="Shape 174"/>
          <p:cNvSpPr/>
          <p:nvPr/>
        </p:nvSpPr>
        <p:spPr>
          <a:xfrm>
            <a:off x="11247120" y="4946904"/>
            <a:ext cx="694944" cy="173736"/>
          </a:xfrm>
          <a:prstGeom prst="rect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</p:spPr>
      </p:sp>
      <p:sp>
        <p:nvSpPr>
          <p:cNvPr id="177" name="Text 175"/>
          <p:cNvSpPr/>
          <p:nvPr/>
        </p:nvSpPr>
        <p:spPr>
          <a:xfrm>
            <a:off x="11247120" y="4946904"/>
            <a:ext cx="694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AGENTIC</a:t>
            </a:r>
            <a:endParaRPr lang="en-US" sz="600" dirty="0"/>
          </a:p>
        </p:txBody>
      </p:sp>
      <p:sp>
        <p:nvSpPr>
          <p:cNvPr id="178" name="Shape 176"/>
          <p:cNvSpPr/>
          <p:nvPr/>
        </p:nvSpPr>
        <p:spPr>
          <a:xfrm>
            <a:off x="9326880" y="5376672"/>
            <a:ext cx="2688336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179" name="Text 177"/>
          <p:cNvSpPr/>
          <p:nvPr/>
        </p:nvSpPr>
        <p:spPr>
          <a:xfrm>
            <a:off x="9345168" y="5376672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 REPORTING</a:t>
            </a:r>
            <a:endParaRPr lang="en-US" sz="950" dirty="0"/>
          </a:p>
        </p:txBody>
      </p:sp>
      <p:sp>
        <p:nvSpPr>
          <p:cNvPr id="180" name="Text 178"/>
          <p:cNvSpPr/>
          <p:nvPr/>
        </p:nvSpPr>
        <p:spPr>
          <a:xfrm>
            <a:off x="365760" y="6675120"/>
            <a:ext cx="11430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89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Trade Platform Migration Strategy  ·  2025–2030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841248"/>
          </a:xfrm>
          <a:prstGeom prst="rect">
            <a:avLst/>
          </a:prstGeom>
          <a:solidFill>
            <a:srgbClr val="5C3317"/>
          </a:solidFill>
          <a:ln/>
        </p:spPr>
      </p:sp>
      <p:sp>
        <p:nvSpPr>
          <p:cNvPr id="4" name="Shape 2"/>
          <p:cNvSpPr/>
          <p:nvPr/>
        </p:nvSpPr>
        <p:spPr>
          <a:xfrm>
            <a:off x="109728" y="841248"/>
            <a:ext cx="12051792" cy="0"/>
          </a:xfrm>
          <a:prstGeom prst="line">
            <a:avLst/>
          </a:prstGeom>
          <a:noFill/>
          <a:ln w="12700">
            <a:solidFill>
              <a:srgbClr val="C9A88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5C3317"/>
          </a:solidFill>
          <a:ln/>
        </p:spPr>
      </p:sp>
      <p:sp>
        <p:nvSpPr>
          <p:cNvPr id="6" name="Text 4"/>
          <p:cNvSpPr/>
          <p:nvPr/>
        </p:nvSpPr>
        <p:spPr>
          <a:xfrm>
            <a:off x="292608" y="91440"/>
            <a:ext cx="11521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5-Year Migration Roadmap  ·  2025 → 2030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292608" y="585216"/>
            <a:ext cx="11521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Foundation · Business Capabilities · AI Automation · Infrastructure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83664" y="987552"/>
            <a:ext cx="1986077" cy="420624"/>
          </a:xfrm>
          <a:prstGeom prst="rect">
            <a:avLst/>
          </a:prstGeom>
          <a:solidFill>
            <a:srgbClr val="C8B89A"/>
          </a:solidFill>
          <a:ln w="12700">
            <a:solidFill>
              <a:srgbClr val="C8B8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11680" y="987552"/>
            <a:ext cx="109234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R0  STABILISE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976006" y="987552"/>
            <a:ext cx="87387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906317" y="987552"/>
            <a:ext cx="4008730" cy="420624"/>
          </a:xfrm>
          <a:prstGeom prst="rect">
            <a:avLst/>
          </a:prstGeom>
          <a:solidFill>
            <a:srgbClr val="7A4520"/>
          </a:solidFill>
          <a:ln w="12700">
            <a:solidFill>
              <a:srgbClr val="7A45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34333" y="987552"/>
            <a:ext cx="220480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  MODERNISE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111118" y="987552"/>
            <a:ext cx="176384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2026–2027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7951622" y="987552"/>
            <a:ext cx="4008730" cy="420624"/>
          </a:xfrm>
          <a:prstGeom prst="rect">
            <a:avLst/>
          </a:prstGeom>
          <a:solidFill>
            <a:srgbClr val="5C3317"/>
          </a:solidFill>
          <a:ln w="12700">
            <a:solidFill>
              <a:srgbClr val="5C331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79638" y="987552"/>
            <a:ext cx="220480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  SCALE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156424" y="987552"/>
            <a:ext cx="176384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2028–2030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1883664" y="987552"/>
            <a:ext cx="0" cy="5413248"/>
          </a:xfrm>
          <a:prstGeom prst="line">
            <a:avLst/>
          </a:prstGeom>
          <a:noFill/>
          <a:ln w="12700">
            <a:solidFill>
              <a:srgbClr val="B8A89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83664" y="1444752"/>
            <a:ext cx="202265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906317" y="987552"/>
            <a:ext cx="0" cy="5413248"/>
          </a:xfrm>
          <a:prstGeom prst="line">
            <a:avLst/>
          </a:prstGeom>
          <a:noFill/>
          <a:ln w="6350">
            <a:solidFill>
              <a:srgbClr val="EDE6DF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3906317" y="1444752"/>
            <a:ext cx="202265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28970" y="987552"/>
            <a:ext cx="0" cy="5413248"/>
          </a:xfrm>
          <a:prstGeom prst="line">
            <a:avLst/>
          </a:prstGeom>
          <a:noFill/>
          <a:ln w="6350">
            <a:solidFill>
              <a:srgbClr val="EDE6DF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5928970" y="1444752"/>
            <a:ext cx="202265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951622" y="987552"/>
            <a:ext cx="0" cy="5413248"/>
          </a:xfrm>
          <a:prstGeom prst="line">
            <a:avLst/>
          </a:prstGeom>
          <a:noFill/>
          <a:ln w="6350">
            <a:solidFill>
              <a:srgbClr val="EDE6DF"/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7951622" y="1444752"/>
            <a:ext cx="202265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9974275" y="987552"/>
            <a:ext cx="0" cy="5413248"/>
          </a:xfrm>
          <a:prstGeom prst="line">
            <a:avLst/>
          </a:prstGeom>
          <a:noFill/>
          <a:ln w="6350">
            <a:solidFill>
              <a:srgbClr val="EDE6DF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9974275" y="1444752"/>
            <a:ext cx="202265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2029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11996928" y="987552"/>
            <a:ext cx="0" cy="5413248"/>
          </a:xfrm>
          <a:prstGeom prst="line">
            <a:avLst/>
          </a:prstGeom>
          <a:noFill/>
          <a:ln w="12700">
            <a:solidFill>
              <a:srgbClr val="B8A89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996928" y="1444752"/>
            <a:ext cx="202265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91440" y="1700784"/>
            <a:ext cx="1737360" cy="969264"/>
          </a:xfrm>
          <a:prstGeom prst="rect">
            <a:avLst/>
          </a:prstGeom>
          <a:solidFill>
            <a:srgbClr val="5C3317"/>
          </a:solidFill>
          <a:ln w="12700">
            <a:solidFill>
              <a:srgbClr val="5C331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28016" y="1792224"/>
            <a:ext cx="16459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1883664" y="1700784"/>
            <a:ext cx="10113264" cy="969264"/>
          </a:xfrm>
          <a:prstGeom prst="rect">
            <a:avLst/>
          </a:prstGeom>
          <a:solidFill>
            <a:srgbClr val="FFFFFF"/>
          </a:solidFill>
          <a:ln w="6350">
            <a:solidFill>
              <a:srgbClr val="EDE6D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975104" y="1764792"/>
            <a:ext cx="1839773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5C3317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1975104" y="1764792"/>
            <a:ext cx="1839773" cy="45720"/>
          </a:xfrm>
          <a:prstGeom prst="rect">
            <a:avLst/>
          </a:prstGeom>
          <a:solidFill>
            <a:srgbClr val="5C3317"/>
          </a:solidFill>
          <a:ln/>
        </p:spPr>
      </p:sp>
      <p:sp>
        <p:nvSpPr>
          <p:cNvPr id="34" name="Text 32"/>
          <p:cNvSpPr/>
          <p:nvPr/>
        </p:nvSpPr>
        <p:spPr>
          <a:xfrm>
            <a:off x="2066544" y="1819656"/>
            <a:ext cx="165689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Stabilise &amp; Document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2066544" y="2029968"/>
            <a:ext cx="165689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Audit Oracle/Mule (1.8k tables, 10k procs)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2066544" y="2176272"/>
            <a:ext cx="165689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Map all E2E workflows end-to-end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2066544" y="2322576"/>
            <a:ext cx="165689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Quick-win STP: 20% → 40%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2066544" y="2468880"/>
            <a:ext cx="165689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Architecture decision records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3997757" y="1764792"/>
            <a:ext cx="3862426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5C3317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3997757" y="1764792"/>
            <a:ext cx="3862426" cy="45720"/>
          </a:xfrm>
          <a:prstGeom prst="rect">
            <a:avLst/>
          </a:prstGeom>
          <a:solidFill>
            <a:srgbClr val="5C3317"/>
          </a:solidFill>
          <a:ln/>
        </p:spPr>
      </p:sp>
      <p:sp>
        <p:nvSpPr>
          <p:cNvPr id="41" name="Text 39"/>
          <p:cNvSpPr/>
          <p:nvPr/>
        </p:nvSpPr>
        <p:spPr>
          <a:xfrm>
            <a:off x="4089197" y="1819656"/>
            <a:ext cx="367954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Decouple &amp; Modernise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089197" y="2029968"/>
            <a:ext cx="367954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Provider-agnostic processing layer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4089197" y="2176272"/>
            <a:ext cx="367954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Micro-frontend + shared toolkit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4089197" y="2322576"/>
            <a:ext cx="367954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Kafka event-driven core live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4089197" y="2468880"/>
            <a:ext cx="367954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Off VSI — containerised K8s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8043062" y="1764792"/>
            <a:ext cx="3862426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5C3317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8043062" y="1764792"/>
            <a:ext cx="3862426" cy="45720"/>
          </a:xfrm>
          <a:prstGeom prst="rect">
            <a:avLst/>
          </a:prstGeom>
          <a:solidFill>
            <a:srgbClr val="5C3317"/>
          </a:solidFill>
          <a:ln/>
        </p:spPr>
      </p:sp>
      <p:sp>
        <p:nvSpPr>
          <p:cNvPr id="48" name="Text 46"/>
          <p:cNvSpPr/>
          <p:nvPr/>
        </p:nvSpPr>
        <p:spPr>
          <a:xfrm>
            <a:off x="8134502" y="1819656"/>
            <a:ext cx="367954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 at Scale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8134502" y="2029968"/>
            <a:ext cx="367954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4-cluster HA, auto-scaling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8134502" y="2176272"/>
            <a:ext cx="367954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Full CI/CD GitOps pipeline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8134502" y="2322576"/>
            <a:ext cx="367954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7 Nine's availability SLA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8134502" y="2468880"/>
            <a:ext cx="367954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Blue/green zero-downtime deploys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91440" y="2715768"/>
            <a:ext cx="1737360" cy="969264"/>
          </a:xfrm>
          <a:prstGeom prst="rect">
            <a:avLst/>
          </a:prstGeom>
          <a:solidFill>
            <a:srgbClr val="A06535"/>
          </a:solidFill>
          <a:ln w="12700">
            <a:solidFill>
              <a:srgbClr val="A0653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28016" y="2807208"/>
            <a:ext cx="16459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1883664" y="2715768"/>
            <a:ext cx="10113264" cy="969264"/>
          </a:xfrm>
          <a:prstGeom prst="rect">
            <a:avLst/>
          </a:prstGeom>
          <a:solidFill>
            <a:srgbClr val="F7F4F0"/>
          </a:solidFill>
          <a:ln w="6350">
            <a:solidFill>
              <a:srgbClr val="EDE6D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975104" y="2779776"/>
            <a:ext cx="1839773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A06535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1975104" y="2779776"/>
            <a:ext cx="1839773" cy="45720"/>
          </a:xfrm>
          <a:prstGeom prst="rect">
            <a:avLst/>
          </a:prstGeom>
          <a:solidFill>
            <a:srgbClr val="A06535"/>
          </a:solidFill>
          <a:ln/>
        </p:spPr>
      </p:sp>
      <p:sp>
        <p:nvSpPr>
          <p:cNvPr id="58" name="Text 56"/>
          <p:cNvSpPr/>
          <p:nvPr/>
        </p:nvSpPr>
        <p:spPr>
          <a:xfrm>
            <a:off x="2066544" y="2834640"/>
            <a:ext cx="165689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06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Parity Must-Haves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2066544" y="3044952"/>
            <a:ext cx="165689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Unified client UX across channels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2066544" y="3191256"/>
            <a:ext cx="165689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Portfolio + deal dashboards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2066544" y="3337560"/>
            <a:ext cx="165689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Improved channel onboarding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2066544" y="3483864"/>
            <a:ext cx="165689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Quick wins: high-value pain points</a:t>
            </a:r>
            <a:endParaRPr lang="en-US" sz="700" dirty="0"/>
          </a:p>
        </p:txBody>
      </p:sp>
      <p:sp>
        <p:nvSpPr>
          <p:cNvPr id="63" name="Shape 61"/>
          <p:cNvSpPr/>
          <p:nvPr/>
        </p:nvSpPr>
        <p:spPr>
          <a:xfrm>
            <a:off x="3997757" y="2779776"/>
            <a:ext cx="3862426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A06535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3997757" y="2779776"/>
            <a:ext cx="3862426" cy="45720"/>
          </a:xfrm>
          <a:prstGeom prst="rect">
            <a:avLst/>
          </a:prstGeom>
          <a:solidFill>
            <a:srgbClr val="A06535"/>
          </a:solidFill>
          <a:ln/>
        </p:spPr>
      </p:sp>
      <p:sp>
        <p:nvSpPr>
          <p:cNvPr id="65" name="Text 63"/>
          <p:cNvSpPr/>
          <p:nvPr/>
        </p:nvSpPr>
        <p:spPr>
          <a:xfrm>
            <a:off x="4089197" y="2834640"/>
            <a:ext cx="367954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06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Differentiation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4089197" y="3044952"/>
            <a:ext cx="367954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Tokenisation capabilities live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4089197" y="3191256"/>
            <a:ext cx="367954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Fintech integration (WCA)</a:t>
            </a:r>
            <a:endParaRPr lang="en-US" sz="700" dirty="0"/>
          </a:p>
        </p:txBody>
      </p:sp>
      <p:sp>
        <p:nvSpPr>
          <p:cNvPr id="68" name="Text 66"/>
          <p:cNvSpPr/>
          <p:nvPr/>
        </p:nvSpPr>
        <p:spPr>
          <a:xfrm>
            <a:off x="4089197" y="3337560"/>
            <a:ext cx="367954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Structured working capital</a:t>
            </a:r>
            <a:endParaRPr lang="en-US" sz="700" dirty="0"/>
          </a:p>
        </p:txBody>
      </p:sp>
      <p:sp>
        <p:nvSpPr>
          <p:cNvPr id="69" name="Text 67"/>
          <p:cNvSpPr/>
          <p:nvPr/>
        </p:nvSpPr>
        <p:spPr>
          <a:xfrm>
            <a:off x="4089197" y="3483864"/>
            <a:ext cx="367954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GSCF-like distribution models</a:t>
            </a:r>
            <a:endParaRPr lang="en-US" sz="700" dirty="0"/>
          </a:p>
        </p:txBody>
      </p:sp>
      <p:sp>
        <p:nvSpPr>
          <p:cNvPr id="70" name="Shape 68"/>
          <p:cNvSpPr/>
          <p:nvPr/>
        </p:nvSpPr>
        <p:spPr>
          <a:xfrm>
            <a:off x="8043062" y="2779776"/>
            <a:ext cx="3862426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A06535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71" name="Shape 69"/>
          <p:cNvSpPr/>
          <p:nvPr/>
        </p:nvSpPr>
        <p:spPr>
          <a:xfrm>
            <a:off x="8043062" y="2779776"/>
            <a:ext cx="3862426" cy="45720"/>
          </a:xfrm>
          <a:prstGeom prst="rect">
            <a:avLst/>
          </a:prstGeom>
          <a:solidFill>
            <a:srgbClr val="A06535"/>
          </a:solidFill>
          <a:ln/>
        </p:spPr>
      </p:sp>
      <p:sp>
        <p:nvSpPr>
          <p:cNvPr id="72" name="Text 70"/>
          <p:cNvSpPr/>
          <p:nvPr/>
        </p:nvSpPr>
        <p:spPr>
          <a:xfrm>
            <a:off x="8134502" y="2834640"/>
            <a:ext cx="367954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06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Leadership</a:t>
            </a:r>
            <a:endParaRPr lang="en-US" sz="850" dirty="0"/>
          </a:p>
        </p:txBody>
      </p:sp>
      <p:sp>
        <p:nvSpPr>
          <p:cNvPr id="73" name="Text 71"/>
          <p:cNvSpPr/>
          <p:nvPr/>
        </p:nvSpPr>
        <p:spPr>
          <a:xfrm>
            <a:off x="8134502" y="3044952"/>
            <a:ext cx="367954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Trade distribution platform</a:t>
            </a:r>
            <a:endParaRPr lang="en-US" sz="700" dirty="0"/>
          </a:p>
        </p:txBody>
      </p:sp>
      <p:sp>
        <p:nvSpPr>
          <p:cNvPr id="74" name="Text 72"/>
          <p:cNvSpPr/>
          <p:nvPr/>
        </p:nvSpPr>
        <p:spPr>
          <a:xfrm>
            <a:off x="8134502" y="3191256"/>
            <a:ext cx="367954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$1B revenue architecture</a:t>
            </a:r>
            <a:endParaRPr lang="en-US" sz="700" dirty="0"/>
          </a:p>
        </p:txBody>
      </p:sp>
      <p:sp>
        <p:nvSpPr>
          <p:cNvPr id="75" name="Text 73"/>
          <p:cNvSpPr/>
          <p:nvPr/>
        </p:nvSpPr>
        <p:spPr>
          <a:xfrm>
            <a:off x="8134502" y="3337560"/>
            <a:ext cx="367954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Unified commercial accelerator</a:t>
            </a:r>
            <a:endParaRPr lang="en-US" sz="700" dirty="0"/>
          </a:p>
        </p:txBody>
      </p:sp>
      <p:sp>
        <p:nvSpPr>
          <p:cNvPr id="76" name="Text 74"/>
          <p:cNvSpPr/>
          <p:nvPr/>
        </p:nvSpPr>
        <p:spPr>
          <a:xfrm>
            <a:off x="8134502" y="3483864"/>
            <a:ext cx="367954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Data &amp; analytics product</a:t>
            </a:r>
            <a:endParaRPr lang="en-US" sz="700" dirty="0"/>
          </a:p>
        </p:txBody>
      </p:sp>
      <p:sp>
        <p:nvSpPr>
          <p:cNvPr id="77" name="Shape 75"/>
          <p:cNvSpPr/>
          <p:nvPr/>
        </p:nvSpPr>
        <p:spPr>
          <a:xfrm>
            <a:off x="91440" y="3730752"/>
            <a:ext cx="1737360" cy="969264"/>
          </a:xfrm>
          <a:prstGeom prst="rect">
            <a:avLst/>
          </a:prstGeom>
          <a:solidFill>
            <a:srgbClr val="7A4520"/>
          </a:solidFill>
          <a:ln w="12700">
            <a:solidFill>
              <a:srgbClr val="7A452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128016" y="3822192"/>
            <a:ext cx="16459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750" dirty="0"/>
          </a:p>
        </p:txBody>
      </p:sp>
      <p:sp>
        <p:nvSpPr>
          <p:cNvPr id="79" name="Shape 77"/>
          <p:cNvSpPr/>
          <p:nvPr/>
        </p:nvSpPr>
        <p:spPr>
          <a:xfrm>
            <a:off x="1883664" y="3730752"/>
            <a:ext cx="10113264" cy="969264"/>
          </a:xfrm>
          <a:prstGeom prst="rect">
            <a:avLst/>
          </a:prstGeom>
          <a:solidFill>
            <a:srgbClr val="FFFFFF"/>
          </a:solidFill>
          <a:ln w="6350">
            <a:solidFill>
              <a:srgbClr val="EDE6DF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1975104" y="3794760"/>
            <a:ext cx="1839773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7A4520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81" name="Shape 79"/>
          <p:cNvSpPr/>
          <p:nvPr/>
        </p:nvSpPr>
        <p:spPr>
          <a:xfrm>
            <a:off x="1975104" y="3794760"/>
            <a:ext cx="1839773" cy="45720"/>
          </a:xfrm>
          <a:prstGeom prst="rect">
            <a:avLst/>
          </a:prstGeom>
          <a:solidFill>
            <a:srgbClr val="7A4520"/>
          </a:solidFill>
          <a:ln/>
        </p:spPr>
      </p:sp>
      <p:sp>
        <p:nvSpPr>
          <p:cNvPr id="82" name="Text 80"/>
          <p:cNvSpPr/>
          <p:nvPr/>
        </p:nvSpPr>
        <p:spPr>
          <a:xfrm>
            <a:off x="2066544" y="3849624"/>
            <a:ext cx="165689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A4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Baseline (R0)</a:t>
            </a:r>
            <a:endParaRPr lang="en-US" sz="850" dirty="0"/>
          </a:p>
        </p:txBody>
      </p:sp>
      <p:sp>
        <p:nvSpPr>
          <p:cNvPr id="83" name="Text 81"/>
          <p:cNvSpPr/>
          <p:nvPr/>
        </p:nvSpPr>
        <p:spPr>
          <a:xfrm>
            <a:off x="2066544" y="4059936"/>
            <a:ext cx="165689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OCR + document ingestion pipeline</a:t>
            </a:r>
            <a:endParaRPr lang="en-US" sz="700" dirty="0"/>
          </a:p>
        </p:txBody>
      </p:sp>
      <p:sp>
        <p:nvSpPr>
          <p:cNvPr id="84" name="Text 82"/>
          <p:cNvSpPr/>
          <p:nvPr/>
        </p:nvSpPr>
        <p:spPr>
          <a:xfrm>
            <a:off x="2066544" y="4206240"/>
            <a:ext cx="165689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RAG on trade finance corpus</a:t>
            </a:r>
            <a:endParaRPr lang="en-US" sz="700" dirty="0"/>
          </a:p>
        </p:txBody>
      </p:sp>
      <p:sp>
        <p:nvSpPr>
          <p:cNvPr id="85" name="Text 83"/>
          <p:cNvSpPr/>
          <p:nvPr/>
        </p:nvSpPr>
        <p:spPr>
          <a:xfrm>
            <a:off x="2066544" y="4352544"/>
            <a:ext cx="165689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Maker accuracy baseline &gt;90%</a:t>
            </a:r>
            <a:endParaRPr lang="en-US" sz="700" dirty="0"/>
          </a:p>
        </p:txBody>
      </p:sp>
      <p:sp>
        <p:nvSpPr>
          <p:cNvPr id="86" name="Text 84"/>
          <p:cNvSpPr/>
          <p:nvPr/>
        </p:nvSpPr>
        <p:spPr>
          <a:xfrm>
            <a:off x="2066544" y="4498848"/>
            <a:ext cx="165689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Human-in-loop feedback loops</a:t>
            </a:r>
            <a:endParaRPr lang="en-US" sz="700" dirty="0"/>
          </a:p>
        </p:txBody>
      </p:sp>
      <p:sp>
        <p:nvSpPr>
          <p:cNvPr id="87" name="Shape 85"/>
          <p:cNvSpPr/>
          <p:nvPr/>
        </p:nvSpPr>
        <p:spPr>
          <a:xfrm>
            <a:off x="3997757" y="3794760"/>
            <a:ext cx="3862426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7A4520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88" name="Shape 86"/>
          <p:cNvSpPr/>
          <p:nvPr/>
        </p:nvSpPr>
        <p:spPr>
          <a:xfrm>
            <a:off x="3997757" y="3794760"/>
            <a:ext cx="3862426" cy="45720"/>
          </a:xfrm>
          <a:prstGeom prst="rect">
            <a:avLst/>
          </a:prstGeom>
          <a:solidFill>
            <a:srgbClr val="7A4520"/>
          </a:solidFill>
          <a:ln/>
        </p:spPr>
      </p:sp>
      <p:sp>
        <p:nvSpPr>
          <p:cNvPr id="89" name="Text 87"/>
          <p:cNvSpPr/>
          <p:nvPr/>
        </p:nvSpPr>
        <p:spPr>
          <a:xfrm>
            <a:off x="4089197" y="3849624"/>
            <a:ext cx="367954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A4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(R1)</a:t>
            </a:r>
            <a:endParaRPr lang="en-US" sz="850" dirty="0"/>
          </a:p>
        </p:txBody>
      </p:sp>
      <p:sp>
        <p:nvSpPr>
          <p:cNvPr id="90" name="Text 88"/>
          <p:cNvSpPr/>
          <p:nvPr/>
        </p:nvSpPr>
        <p:spPr>
          <a:xfrm>
            <a:off x="4089197" y="4059936"/>
            <a:ext cx="367954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Semi-automated Maker role</a:t>
            </a:r>
            <a:endParaRPr lang="en-US" sz="700" dirty="0"/>
          </a:p>
        </p:txBody>
      </p:sp>
      <p:sp>
        <p:nvSpPr>
          <p:cNvPr id="91" name="Text 89"/>
          <p:cNvSpPr/>
          <p:nvPr/>
        </p:nvSpPr>
        <p:spPr>
          <a:xfrm>
            <a:off x="4089197" y="4206240"/>
            <a:ext cx="367954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90–95% accuracy in production</a:t>
            </a:r>
            <a:endParaRPr lang="en-US" sz="700" dirty="0"/>
          </a:p>
        </p:txBody>
      </p:sp>
      <p:sp>
        <p:nvSpPr>
          <p:cNvPr id="92" name="Text 90"/>
          <p:cNvSpPr/>
          <p:nvPr/>
        </p:nvSpPr>
        <p:spPr>
          <a:xfrm>
            <a:off x="4089197" y="4352544"/>
            <a:ext cx="367954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Model retraining pipelines</a:t>
            </a:r>
            <a:endParaRPr lang="en-US" sz="700" dirty="0"/>
          </a:p>
        </p:txBody>
      </p:sp>
      <p:sp>
        <p:nvSpPr>
          <p:cNvPr id="93" name="Text 91"/>
          <p:cNvSpPr/>
          <p:nvPr/>
        </p:nvSpPr>
        <p:spPr>
          <a:xfrm>
            <a:off x="4089197" y="4498848"/>
            <a:ext cx="367954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Checker AI assist — pilot</a:t>
            </a:r>
            <a:endParaRPr lang="en-US" sz="700" dirty="0"/>
          </a:p>
        </p:txBody>
      </p:sp>
      <p:sp>
        <p:nvSpPr>
          <p:cNvPr id="94" name="Shape 92"/>
          <p:cNvSpPr/>
          <p:nvPr/>
        </p:nvSpPr>
        <p:spPr>
          <a:xfrm>
            <a:off x="8043062" y="3794760"/>
            <a:ext cx="3862426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7A4520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95" name="Shape 93"/>
          <p:cNvSpPr/>
          <p:nvPr/>
        </p:nvSpPr>
        <p:spPr>
          <a:xfrm>
            <a:off x="8043062" y="3794760"/>
            <a:ext cx="3862426" cy="45720"/>
          </a:xfrm>
          <a:prstGeom prst="rect">
            <a:avLst/>
          </a:prstGeom>
          <a:solidFill>
            <a:srgbClr val="7A4520"/>
          </a:solidFill>
          <a:ln/>
        </p:spPr>
      </p:sp>
      <p:sp>
        <p:nvSpPr>
          <p:cNvPr id="96" name="Text 94"/>
          <p:cNvSpPr/>
          <p:nvPr/>
        </p:nvSpPr>
        <p:spPr>
          <a:xfrm>
            <a:off x="8134502" y="3849624"/>
            <a:ext cx="367954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A4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(R2)</a:t>
            </a:r>
            <a:endParaRPr lang="en-US" sz="850" dirty="0"/>
          </a:p>
        </p:txBody>
      </p:sp>
      <p:sp>
        <p:nvSpPr>
          <p:cNvPr id="97" name="Text 95"/>
          <p:cNvSpPr/>
          <p:nvPr/>
        </p:nvSpPr>
        <p:spPr>
          <a:xfrm>
            <a:off x="8134502" y="4059936"/>
            <a:ext cx="367954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Full Maker automation live</a:t>
            </a:r>
            <a:endParaRPr lang="en-US" sz="700" dirty="0"/>
          </a:p>
        </p:txBody>
      </p:sp>
      <p:sp>
        <p:nvSpPr>
          <p:cNvPr id="98" name="Text 96"/>
          <p:cNvSpPr/>
          <p:nvPr/>
        </p:nvSpPr>
        <p:spPr>
          <a:xfrm>
            <a:off x="8134502" y="4206240"/>
            <a:ext cx="367954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AI Checker — exceptions only</a:t>
            </a:r>
            <a:endParaRPr lang="en-US" sz="700" dirty="0"/>
          </a:p>
        </p:txBody>
      </p:sp>
      <p:sp>
        <p:nvSpPr>
          <p:cNvPr id="99" name="Text 97"/>
          <p:cNvSpPr/>
          <p:nvPr/>
        </p:nvSpPr>
        <p:spPr>
          <a:xfrm>
            <a:off x="8134502" y="4352544"/>
            <a:ext cx="367954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&gt;95% accuracy · ~90% STP</a:t>
            </a:r>
            <a:endParaRPr lang="en-US" sz="700" dirty="0"/>
          </a:p>
        </p:txBody>
      </p:sp>
      <p:sp>
        <p:nvSpPr>
          <p:cNvPr id="100" name="Text 98"/>
          <p:cNvSpPr/>
          <p:nvPr/>
        </p:nvSpPr>
        <p:spPr>
          <a:xfrm>
            <a:off x="8134502" y="4498848"/>
            <a:ext cx="367954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Human reserved for edge cases</a:t>
            </a:r>
            <a:endParaRPr lang="en-US" sz="700" dirty="0"/>
          </a:p>
        </p:txBody>
      </p:sp>
      <p:sp>
        <p:nvSpPr>
          <p:cNvPr id="101" name="Shape 99"/>
          <p:cNvSpPr/>
          <p:nvPr/>
        </p:nvSpPr>
        <p:spPr>
          <a:xfrm>
            <a:off x="91440" y="4745736"/>
            <a:ext cx="1737360" cy="969264"/>
          </a:xfrm>
          <a:prstGeom prst="rect">
            <a:avLst/>
          </a:prstGeom>
          <a:solidFill>
            <a:srgbClr val="9B6010"/>
          </a:solidFill>
          <a:ln w="12700">
            <a:solidFill>
              <a:srgbClr val="9B6010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128016" y="4837176"/>
            <a:ext cx="16459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 &amp;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750" dirty="0"/>
          </a:p>
        </p:txBody>
      </p:sp>
      <p:sp>
        <p:nvSpPr>
          <p:cNvPr id="103" name="Shape 101"/>
          <p:cNvSpPr/>
          <p:nvPr/>
        </p:nvSpPr>
        <p:spPr>
          <a:xfrm>
            <a:off x="1883664" y="4745736"/>
            <a:ext cx="10113264" cy="969264"/>
          </a:xfrm>
          <a:prstGeom prst="rect">
            <a:avLst/>
          </a:prstGeom>
          <a:solidFill>
            <a:srgbClr val="F7F4F0"/>
          </a:solidFill>
          <a:ln w="6350">
            <a:solidFill>
              <a:srgbClr val="EDE6DF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1975104" y="4809744"/>
            <a:ext cx="1839773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9B6010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105" name="Shape 103"/>
          <p:cNvSpPr/>
          <p:nvPr/>
        </p:nvSpPr>
        <p:spPr>
          <a:xfrm>
            <a:off x="1975104" y="4809744"/>
            <a:ext cx="1839773" cy="45720"/>
          </a:xfrm>
          <a:prstGeom prst="rect">
            <a:avLst/>
          </a:prstGeom>
          <a:solidFill>
            <a:srgbClr val="9B6010"/>
          </a:solidFill>
          <a:ln/>
        </p:spPr>
      </p:sp>
      <p:sp>
        <p:nvSpPr>
          <p:cNvPr id="106" name="Text 104"/>
          <p:cNvSpPr/>
          <p:nvPr/>
        </p:nvSpPr>
        <p:spPr>
          <a:xfrm>
            <a:off x="2066544" y="4864608"/>
            <a:ext cx="165689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B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850" dirty="0"/>
          </a:p>
        </p:txBody>
      </p:sp>
      <p:sp>
        <p:nvSpPr>
          <p:cNvPr id="107" name="Text 105"/>
          <p:cNvSpPr/>
          <p:nvPr/>
        </p:nvSpPr>
        <p:spPr>
          <a:xfrm>
            <a:off x="2066544" y="5074920"/>
            <a:ext cx="165689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VSI → container pilot</a:t>
            </a:r>
            <a:endParaRPr lang="en-US" sz="700" dirty="0"/>
          </a:p>
        </p:txBody>
      </p:sp>
      <p:sp>
        <p:nvSpPr>
          <p:cNvPr id="108" name="Text 106"/>
          <p:cNvSpPr/>
          <p:nvPr/>
        </p:nvSpPr>
        <p:spPr>
          <a:xfrm>
            <a:off x="2066544" y="5221224"/>
            <a:ext cx="165689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Security hardening + DR plan</a:t>
            </a:r>
            <a:endParaRPr lang="en-US" sz="700" dirty="0"/>
          </a:p>
        </p:txBody>
      </p:sp>
      <p:sp>
        <p:nvSpPr>
          <p:cNvPr id="109" name="Text 107"/>
          <p:cNvSpPr/>
          <p:nvPr/>
        </p:nvSpPr>
        <p:spPr>
          <a:xfrm>
            <a:off x="2066544" y="5367528"/>
            <a:ext cx="165689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Cost baseline established</a:t>
            </a:r>
            <a:endParaRPr lang="en-US" sz="700" dirty="0"/>
          </a:p>
        </p:txBody>
      </p:sp>
      <p:sp>
        <p:nvSpPr>
          <p:cNvPr id="110" name="Text 108"/>
          <p:cNvSpPr/>
          <p:nvPr/>
        </p:nvSpPr>
        <p:spPr>
          <a:xfrm>
            <a:off x="2066544" y="5513832"/>
            <a:ext cx="165689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Observability tooling deployed</a:t>
            </a:r>
            <a:endParaRPr lang="en-US" sz="700" dirty="0"/>
          </a:p>
        </p:txBody>
      </p:sp>
      <p:sp>
        <p:nvSpPr>
          <p:cNvPr id="111" name="Shape 109"/>
          <p:cNvSpPr/>
          <p:nvPr/>
        </p:nvSpPr>
        <p:spPr>
          <a:xfrm>
            <a:off x="3997757" y="4809744"/>
            <a:ext cx="3862426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9B6010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112" name="Shape 110"/>
          <p:cNvSpPr/>
          <p:nvPr/>
        </p:nvSpPr>
        <p:spPr>
          <a:xfrm>
            <a:off x="3997757" y="4809744"/>
            <a:ext cx="3862426" cy="45720"/>
          </a:xfrm>
          <a:prstGeom prst="rect">
            <a:avLst/>
          </a:prstGeom>
          <a:solidFill>
            <a:srgbClr val="9B6010"/>
          </a:solidFill>
          <a:ln/>
        </p:spPr>
      </p:sp>
      <p:sp>
        <p:nvSpPr>
          <p:cNvPr id="113" name="Text 111"/>
          <p:cNvSpPr/>
          <p:nvPr/>
        </p:nvSpPr>
        <p:spPr>
          <a:xfrm>
            <a:off x="4089197" y="4864608"/>
            <a:ext cx="367954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B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Modernise Infra</a:t>
            </a:r>
            <a:endParaRPr lang="en-US" sz="850" dirty="0"/>
          </a:p>
        </p:txBody>
      </p:sp>
      <p:sp>
        <p:nvSpPr>
          <p:cNvPr id="114" name="Text 112"/>
          <p:cNvSpPr/>
          <p:nvPr/>
        </p:nvSpPr>
        <p:spPr>
          <a:xfrm>
            <a:off x="4089197" y="5074920"/>
            <a:ext cx="367954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Multi-cluster HA deployment</a:t>
            </a:r>
            <a:endParaRPr lang="en-US" sz="700" dirty="0"/>
          </a:p>
        </p:txBody>
      </p:sp>
      <p:sp>
        <p:nvSpPr>
          <p:cNvPr id="115" name="Text 113"/>
          <p:cNvSpPr/>
          <p:nvPr/>
        </p:nvSpPr>
        <p:spPr>
          <a:xfrm>
            <a:off x="4089197" y="5221224"/>
            <a:ext cx="367954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Shared platform utilities layer</a:t>
            </a:r>
            <a:endParaRPr lang="en-US" sz="700" dirty="0"/>
          </a:p>
        </p:txBody>
      </p:sp>
      <p:sp>
        <p:nvSpPr>
          <p:cNvPr id="116" name="Text 114"/>
          <p:cNvSpPr/>
          <p:nvPr/>
        </p:nvSpPr>
        <p:spPr>
          <a:xfrm>
            <a:off x="4089197" y="5367528"/>
            <a:ext cx="367954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Cost of change −30%</a:t>
            </a:r>
            <a:endParaRPr lang="en-US" sz="700" dirty="0"/>
          </a:p>
        </p:txBody>
      </p:sp>
      <p:sp>
        <p:nvSpPr>
          <p:cNvPr id="117" name="Text 115"/>
          <p:cNvSpPr/>
          <p:nvPr/>
        </p:nvSpPr>
        <p:spPr>
          <a:xfrm>
            <a:off x="4089197" y="5513832"/>
            <a:ext cx="367954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Time-to-market: 2–6 months</a:t>
            </a:r>
            <a:endParaRPr lang="en-US" sz="700" dirty="0"/>
          </a:p>
        </p:txBody>
      </p:sp>
      <p:sp>
        <p:nvSpPr>
          <p:cNvPr id="118" name="Shape 116"/>
          <p:cNvSpPr/>
          <p:nvPr/>
        </p:nvSpPr>
        <p:spPr>
          <a:xfrm>
            <a:off x="8043062" y="4809744"/>
            <a:ext cx="3862426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9B6010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119" name="Shape 117"/>
          <p:cNvSpPr/>
          <p:nvPr/>
        </p:nvSpPr>
        <p:spPr>
          <a:xfrm>
            <a:off x="8043062" y="4809744"/>
            <a:ext cx="3862426" cy="45720"/>
          </a:xfrm>
          <a:prstGeom prst="rect">
            <a:avLst/>
          </a:prstGeom>
          <a:solidFill>
            <a:srgbClr val="9B6010"/>
          </a:solidFill>
          <a:ln/>
        </p:spPr>
      </p:sp>
      <p:sp>
        <p:nvSpPr>
          <p:cNvPr id="120" name="Text 118"/>
          <p:cNvSpPr/>
          <p:nvPr/>
        </p:nvSpPr>
        <p:spPr>
          <a:xfrm>
            <a:off x="8134502" y="4864608"/>
            <a:ext cx="367954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B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Scale</a:t>
            </a:r>
            <a:endParaRPr lang="en-US" sz="850" dirty="0"/>
          </a:p>
        </p:txBody>
      </p:sp>
      <p:sp>
        <p:nvSpPr>
          <p:cNvPr id="121" name="Text 119"/>
          <p:cNvSpPr/>
          <p:nvPr/>
        </p:nvSpPr>
        <p:spPr>
          <a:xfrm>
            <a:off x="8134502" y="5074920"/>
            <a:ext cx="367954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Full auto-scaling operations</a:t>
            </a:r>
            <a:endParaRPr lang="en-US" sz="700" dirty="0"/>
          </a:p>
        </p:txBody>
      </p:sp>
      <p:sp>
        <p:nvSpPr>
          <p:cNvPr id="122" name="Text 120"/>
          <p:cNvSpPr/>
          <p:nvPr/>
        </p:nvSpPr>
        <p:spPr>
          <a:xfrm>
            <a:off x="8134502" y="5221224"/>
            <a:ext cx="367954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Multi-tenant architecture</a:t>
            </a:r>
            <a:endParaRPr lang="en-US" sz="700" dirty="0"/>
          </a:p>
        </p:txBody>
      </p:sp>
      <p:sp>
        <p:nvSpPr>
          <p:cNvPr id="123" name="Text 121"/>
          <p:cNvSpPr/>
          <p:nvPr/>
        </p:nvSpPr>
        <p:spPr>
          <a:xfrm>
            <a:off x="8134502" y="5367528"/>
            <a:ext cx="367954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Infrastructure fully as code</a:t>
            </a:r>
            <a:endParaRPr lang="en-US" sz="700" dirty="0"/>
          </a:p>
        </p:txBody>
      </p:sp>
      <p:sp>
        <p:nvSpPr>
          <p:cNvPr id="124" name="Text 122"/>
          <p:cNvSpPr/>
          <p:nvPr/>
        </p:nvSpPr>
        <p:spPr>
          <a:xfrm>
            <a:off x="8134502" y="5513832"/>
            <a:ext cx="367954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SLA target 99.999%+</a:t>
            </a:r>
            <a:endParaRPr lang="en-US" sz="700" dirty="0"/>
          </a:p>
        </p:txBody>
      </p:sp>
      <p:sp>
        <p:nvSpPr>
          <p:cNvPr id="125" name="Shape 123"/>
          <p:cNvSpPr/>
          <p:nvPr/>
        </p:nvSpPr>
        <p:spPr>
          <a:xfrm>
            <a:off x="1883664" y="6016752"/>
            <a:ext cx="10113264" cy="54864"/>
          </a:xfrm>
          <a:prstGeom prst="rect">
            <a:avLst/>
          </a:prstGeom>
          <a:solidFill>
            <a:srgbClr val="D6CCC2"/>
          </a:solidFill>
          <a:ln w="12700">
            <a:solidFill>
              <a:srgbClr val="D6CCC2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1883664" y="6016752"/>
            <a:ext cx="2022653" cy="54864"/>
          </a:xfrm>
          <a:prstGeom prst="rect">
            <a:avLst/>
          </a:prstGeom>
          <a:solidFill>
            <a:srgbClr val="C8B89A"/>
          </a:solidFill>
          <a:ln w="12700">
            <a:solidFill>
              <a:srgbClr val="C8B89A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3906317" y="6016752"/>
            <a:ext cx="4045306" cy="54864"/>
          </a:xfrm>
          <a:prstGeom prst="rect">
            <a:avLst/>
          </a:prstGeom>
          <a:solidFill>
            <a:srgbClr val="7A4520"/>
          </a:solidFill>
          <a:ln w="12700">
            <a:solidFill>
              <a:srgbClr val="7A4520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7951622" y="6016752"/>
            <a:ext cx="4045306" cy="54864"/>
          </a:xfrm>
          <a:prstGeom prst="rect">
            <a:avLst/>
          </a:prstGeom>
          <a:solidFill>
            <a:srgbClr val="5C3317"/>
          </a:solidFill>
          <a:ln w="12700">
            <a:solidFill>
              <a:srgbClr val="5C3317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3778301" y="5943600"/>
            <a:ext cx="256032" cy="256032"/>
          </a:xfrm>
          <a:prstGeom prst="ellipse">
            <a:avLst/>
          </a:prstGeom>
          <a:solidFill>
            <a:srgbClr val="9B601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3357677" y="583387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9B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R0 Gate</a:t>
            </a:r>
            <a:endParaRPr lang="en-US" sz="700" dirty="0"/>
          </a:p>
        </p:txBody>
      </p:sp>
      <p:sp>
        <p:nvSpPr>
          <p:cNvPr id="131" name="Text 129"/>
          <p:cNvSpPr/>
          <p:nvPr/>
        </p:nvSpPr>
        <p:spPr>
          <a:xfrm>
            <a:off x="3357677" y="619963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B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STP &gt;40%</a:t>
            </a:r>
            <a:endParaRPr lang="en-US" sz="750" dirty="0"/>
          </a:p>
        </p:txBody>
      </p:sp>
      <p:sp>
        <p:nvSpPr>
          <p:cNvPr id="132" name="Shape 130"/>
          <p:cNvSpPr/>
          <p:nvPr/>
        </p:nvSpPr>
        <p:spPr>
          <a:xfrm>
            <a:off x="7823606" y="5943600"/>
            <a:ext cx="256032" cy="256032"/>
          </a:xfrm>
          <a:prstGeom prst="ellipse">
            <a:avLst/>
          </a:prstGeom>
          <a:solidFill>
            <a:srgbClr val="9B601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7402982" y="583387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9B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 Gate</a:t>
            </a:r>
            <a:endParaRPr lang="en-US" sz="700" dirty="0"/>
          </a:p>
        </p:txBody>
      </p:sp>
      <p:sp>
        <p:nvSpPr>
          <p:cNvPr id="134" name="Text 132"/>
          <p:cNvSpPr/>
          <p:nvPr/>
        </p:nvSpPr>
        <p:spPr>
          <a:xfrm>
            <a:off x="7402982" y="619963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B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STP &gt;70%</a:t>
            </a:r>
            <a:endParaRPr lang="en-US" sz="750" dirty="0"/>
          </a:p>
        </p:txBody>
      </p:sp>
      <p:sp>
        <p:nvSpPr>
          <p:cNvPr id="135" name="Shape 133"/>
          <p:cNvSpPr/>
          <p:nvPr/>
        </p:nvSpPr>
        <p:spPr>
          <a:xfrm>
            <a:off x="11666647" y="5943600"/>
            <a:ext cx="256032" cy="256032"/>
          </a:xfrm>
          <a:prstGeom prst="ellipse">
            <a:avLst/>
          </a:prstGeom>
          <a:solidFill>
            <a:srgbClr val="9B601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11246023" y="583387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9B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 Gate</a:t>
            </a:r>
            <a:endParaRPr lang="en-US" sz="700" dirty="0"/>
          </a:p>
        </p:txBody>
      </p:sp>
      <p:sp>
        <p:nvSpPr>
          <p:cNvPr id="137" name="Text 135"/>
          <p:cNvSpPr/>
          <p:nvPr/>
        </p:nvSpPr>
        <p:spPr>
          <a:xfrm>
            <a:off x="11246023" y="619963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B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STP ~90%</a:t>
            </a:r>
            <a:endParaRPr lang="en-US" sz="750" dirty="0"/>
          </a:p>
        </p:txBody>
      </p:sp>
      <p:sp>
        <p:nvSpPr>
          <p:cNvPr id="138" name="Text 136"/>
          <p:cNvSpPr/>
          <p:nvPr/>
        </p:nvSpPr>
        <p:spPr>
          <a:xfrm>
            <a:off x="365760" y="6675120"/>
            <a:ext cx="11430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89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Trade Platform Migration Strategy  ·  2025–2030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841248"/>
          </a:xfrm>
          <a:prstGeom prst="rect">
            <a:avLst/>
          </a:prstGeom>
          <a:solidFill>
            <a:srgbClr val="5C3317"/>
          </a:solidFill>
          <a:ln/>
        </p:spPr>
      </p:sp>
      <p:sp>
        <p:nvSpPr>
          <p:cNvPr id="4" name="Shape 2"/>
          <p:cNvSpPr/>
          <p:nvPr/>
        </p:nvSpPr>
        <p:spPr>
          <a:xfrm>
            <a:off x="109728" y="841248"/>
            <a:ext cx="12051792" cy="0"/>
          </a:xfrm>
          <a:prstGeom prst="line">
            <a:avLst/>
          </a:prstGeom>
          <a:noFill/>
          <a:ln w="12700">
            <a:solidFill>
              <a:srgbClr val="C9A88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5C3317"/>
          </a:solidFill>
          <a:ln/>
        </p:spPr>
      </p:sp>
      <p:sp>
        <p:nvSpPr>
          <p:cNvPr id="6" name="Text 4"/>
          <p:cNvSpPr/>
          <p:nvPr/>
        </p:nvSpPr>
        <p:spPr>
          <a:xfrm>
            <a:off x="292608" y="91440"/>
            <a:ext cx="11521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Phase-by-Phase Execution Plan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292608" y="585216"/>
            <a:ext cx="11521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in each phase — and what it unlocks for the business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01168" y="1024128"/>
            <a:ext cx="3858768" cy="5486400"/>
          </a:xfrm>
          <a:prstGeom prst="rect">
            <a:avLst/>
          </a:prstGeom>
          <a:solidFill>
            <a:srgbClr val="FFFFFF"/>
          </a:solidFill>
          <a:ln w="9525">
            <a:solidFill>
              <a:srgbClr val="B8A898"/>
            </a:solidFill>
            <a:prstDash val="solid"/>
          </a:ln>
          <a:effectLst>
            <a:outerShdw sx="100000" sy="100000" kx="0" ky="0" algn="bl" rotWithShape="0" blurRad="127000" dist="38100" dir="8100000">
              <a:srgbClr val="9A8868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01168" y="1024128"/>
            <a:ext cx="3858768" cy="512064"/>
          </a:xfrm>
          <a:prstGeom prst="rect">
            <a:avLst/>
          </a:prstGeom>
          <a:solidFill>
            <a:srgbClr val="C8B8A2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088136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R0 — STABILISE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1335024"/>
            <a:ext cx="3584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01168" y="1536192"/>
            <a:ext cx="3858768" cy="402336"/>
          </a:xfrm>
          <a:prstGeom prst="rect">
            <a:avLst/>
          </a:prstGeom>
          <a:solidFill>
            <a:srgbClr val="F7F4F0"/>
          </a:solidFill>
          <a:ln w="12700">
            <a:solidFill>
              <a:srgbClr val="F7F4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572768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the bleeding. Build the foundation.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1975104"/>
            <a:ext cx="3529584" cy="0"/>
          </a:xfrm>
          <a:prstGeom prst="line">
            <a:avLst/>
          </a:prstGeom>
          <a:noFill/>
          <a:ln w="6350">
            <a:solidFill>
              <a:srgbClr val="B8A89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029968"/>
            <a:ext cx="3529584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DE6D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029968"/>
            <a:ext cx="54864" cy="493776"/>
          </a:xfrm>
          <a:prstGeom prst="rect">
            <a:avLst/>
          </a:prstGeom>
          <a:solidFill>
            <a:srgbClr val="9A7B5C"/>
          </a:solidFill>
          <a:ln/>
        </p:spPr>
      </p:sp>
      <p:sp>
        <p:nvSpPr>
          <p:cNvPr id="17" name="Text 15"/>
          <p:cNvSpPr/>
          <p:nvPr/>
        </p:nvSpPr>
        <p:spPr>
          <a:xfrm>
            <a:off x="493776" y="2048256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&amp; document Oracle/Mule landscape (1.8k tables, ~10k procedures)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65760" y="2560320"/>
            <a:ext cx="3529584" cy="493776"/>
          </a:xfrm>
          <a:prstGeom prst="rect">
            <a:avLst/>
          </a:prstGeom>
          <a:solidFill>
            <a:srgbClr val="F7F4F0"/>
          </a:solidFill>
          <a:ln w="6350">
            <a:solidFill>
              <a:srgbClr val="EDE6D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2560320"/>
            <a:ext cx="54864" cy="493776"/>
          </a:xfrm>
          <a:prstGeom prst="rect">
            <a:avLst/>
          </a:prstGeom>
          <a:solidFill>
            <a:srgbClr val="9A7B5C"/>
          </a:solidFill>
          <a:ln/>
        </p:spPr>
      </p:sp>
      <p:sp>
        <p:nvSpPr>
          <p:cNvPr id="20" name="Text 18"/>
          <p:cNvSpPr/>
          <p:nvPr/>
        </p:nvSpPr>
        <p:spPr>
          <a:xfrm>
            <a:off x="493776" y="257860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end-to-end workflows; capture SME knowledge before it is lost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65760" y="3090672"/>
            <a:ext cx="3529584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DE6D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3090672"/>
            <a:ext cx="54864" cy="493776"/>
          </a:xfrm>
          <a:prstGeom prst="rect">
            <a:avLst/>
          </a:prstGeom>
          <a:solidFill>
            <a:srgbClr val="9A7B5C"/>
          </a:solidFill>
          <a:ln/>
        </p:spPr>
      </p:sp>
      <p:sp>
        <p:nvSpPr>
          <p:cNvPr id="23" name="Text 21"/>
          <p:cNvSpPr/>
          <p:nvPr/>
        </p:nvSpPr>
        <p:spPr>
          <a:xfrm>
            <a:off x="493776" y="31089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Quick-win STP improvements: target 20% → 40%+ straight-through processing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621024"/>
            <a:ext cx="3529584" cy="493776"/>
          </a:xfrm>
          <a:prstGeom prst="rect">
            <a:avLst/>
          </a:prstGeom>
          <a:solidFill>
            <a:srgbClr val="F7F4F0"/>
          </a:solidFill>
          <a:ln w="6350">
            <a:solidFill>
              <a:srgbClr val="EDE6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3621024"/>
            <a:ext cx="54864" cy="493776"/>
          </a:xfrm>
          <a:prstGeom prst="rect">
            <a:avLst/>
          </a:prstGeom>
          <a:solidFill>
            <a:srgbClr val="9A7B5C"/>
          </a:solidFill>
          <a:ln/>
        </p:spPr>
      </p:sp>
      <p:sp>
        <p:nvSpPr>
          <p:cNvPr id="26" name="Text 24"/>
          <p:cNvSpPr/>
          <p:nvPr/>
        </p:nvSpPr>
        <p:spPr>
          <a:xfrm>
            <a:off x="493776" y="363931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micro-frontend architecture &amp; shared utilities layer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4151376"/>
            <a:ext cx="3529584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DE6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65760" y="4151376"/>
            <a:ext cx="54864" cy="493776"/>
          </a:xfrm>
          <a:prstGeom prst="rect">
            <a:avLst/>
          </a:prstGeom>
          <a:solidFill>
            <a:srgbClr val="9A7B5C"/>
          </a:solidFill>
          <a:ln/>
        </p:spPr>
      </p:sp>
      <p:sp>
        <p:nvSpPr>
          <p:cNvPr id="29" name="Text 27"/>
          <p:cNvSpPr/>
          <p:nvPr/>
        </p:nvSpPr>
        <p:spPr>
          <a:xfrm>
            <a:off x="493776" y="4169664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AI/OCR baseline for document processing (&gt;90% accuracy)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65760" y="4681728"/>
            <a:ext cx="3529584" cy="493776"/>
          </a:xfrm>
          <a:prstGeom prst="rect">
            <a:avLst/>
          </a:prstGeom>
          <a:solidFill>
            <a:srgbClr val="F7F4F0"/>
          </a:solidFill>
          <a:ln w="6350">
            <a:solidFill>
              <a:srgbClr val="EDE6D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5760" y="4681728"/>
            <a:ext cx="54864" cy="493776"/>
          </a:xfrm>
          <a:prstGeom prst="rect">
            <a:avLst/>
          </a:prstGeom>
          <a:solidFill>
            <a:srgbClr val="9A7B5C"/>
          </a:solidFill>
          <a:ln/>
        </p:spPr>
      </p:sp>
      <p:sp>
        <p:nvSpPr>
          <p:cNvPr id="32" name="Text 30"/>
          <p:cNvSpPr/>
          <p:nvPr/>
        </p:nvSpPr>
        <p:spPr>
          <a:xfrm>
            <a:off x="493776" y="4700016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migration pilot; security hardening on VSI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01168" y="5870448"/>
            <a:ext cx="3858768" cy="640080"/>
          </a:xfrm>
          <a:prstGeom prst="rect">
            <a:avLst/>
          </a:prstGeom>
          <a:solidFill>
            <a:srgbClr val="B8A890"/>
          </a:solidFill>
          <a:ln w="12700">
            <a:solidFill>
              <a:srgbClr val="B8A89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5907024"/>
            <a:ext cx="3584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STP &gt;40%  ·  Architecture blueprint ready  ·  Ops risk reduced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187952" y="1024128"/>
            <a:ext cx="3858768" cy="5486400"/>
          </a:xfrm>
          <a:prstGeom prst="rect">
            <a:avLst/>
          </a:prstGeom>
          <a:solidFill>
            <a:srgbClr val="FFFFFF"/>
          </a:solidFill>
          <a:ln w="9525">
            <a:solidFill>
              <a:srgbClr val="B8A898"/>
            </a:solidFill>
            <a:prstDash val="solid"/>
          </a:ln>
          <a:effectLst>
            <a:outerShdw sx="100000" sy="100000" kx="0" ky="0" algn="bl" rotWithShape="0" blurRad="127000" dist="38100" dir="8100000">
              <a:srgbClr val="9A8868">
                <a:alpha val="2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187952" y="1024128"/>
            <a:ext cx="3858768" cy="512064"/>
          </a:xfrm>
          <a:prstGeom prst="rect">
            <a:avLst/>
          </a:prstGeom>
          <a:solidFill>
            <a:srgbClr val="7A4520"/>
          </a:solidFill>
          <a:ln/>
        </p:spPr>
      </p:sp>
      <p:sp>
        <p:nvSpPr>
          <p:cNvPr id="37" name="Text 35"/>
          <p:cNvSpPr/>
          <p:nvPr/>
        </p:nvSpPr>
        <p:spPr>
          <a:xfrm>
            <a:off x="4352544" y="1088136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 — MODERNISE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352544" y="1335024"/>
            <a:ext cx="3584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2026–2027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187952" y="1536192"/>
            <a:ext cx="3858768" cy="402336"/>
          </a:xfrm>
          <a:prstGeom prst="rect">
            <a:avLst/>
          </a:prstGeom>
          <a:solidFill>
            <a:srgbClr val="F7F4F0"/>
          </a:solidFill>
          <a:ln w="12700">
            <a:solidFill>
              <a:srgbClr val="F7F4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352544" y="1572768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Replace, don't patch. Decouple everything.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352544" y="1975104"/>
            <a:ext cx="3529584" cy="0"/>
          </a:xfrm>
          <a:prstGeom prst="line">
            <a:avLst/>
          </a:prstGeom>
          <a:noFill/>
          <a:ln w="6350">
            <a:solidFill>
              <a:srgbClr val="B8A89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352544" y="2029968"/>
            <a:ext cx="3529584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DE6D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352544" y="2029968"/>
            <a:ext cx="54864" cy="493776"/>
          </a:xfrm>
          <a:prstGeom prst="rect">
            <a:avLst/>
          </a:prstGeom>
          <a:solidFill>
            <a:srgbClr val="A06535"/>
          </a:solidFill>
          <a:ln/>
        </p:spPr>
      </p:sp>
      <p:sp>
        <p:nvSpPr>
          <p:cNvPr id="44" name="Text 42"/>
          <p:cNvSpPr/>
          <p:nvPr/>
        </p:nvSpPr>
        <p:spPr>
          <a:xfrm>
            <a:off x="4480560" y="2048256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Provider-agnostic processing layer — swap Loan IQ / Absolute without FE impact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4352544" y="2560320"/>
            <a:ext cx="3529584" cy="493776"/>
          </a:xfrm>
          <a:prstGeom prst="rect">
            <a:avLst/>
          </a:prstGeom>
          <a:solidFill>
            <a:srgbClr val="F7F4F0"/>
          </a:solidFill>
          <a:ln w="6350">
            <a:solidFill>
              <a:srgbClr val="EDE6D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352544" y="2560320"/>
            <a:ext cx="54864" cy="493776"/>
          </a:xfrm>
          <a:prstGeom prst="rect">
            <a:avLst/>
          </a:prstGeom>
          <a:solidFill>
            <a:srgbClr val="A06535"/>
          </a:solidFill>
          <a:ln/>
        </p:spPr>
      </p:sp>
      <p:sp>
        <p:nvSpPr>
          <p:cNvPr id="47" name="Text 45"/>
          <p:cNvSpPr/>
          <p:nvPr/>
        </p:nvSpPr>
        <p:spPr>
          <a:xfrm>
            <a:off x="4480560" y="257860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Micro-frontend rollout + shared utilities framework in production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4352544" y="3090672"/>
            <a:ext cx="3529584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DE6D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352544" y="3090672"/>
            <a:ext cx="54864" cy="493776"/>
          </a:xfrm>
          <a:prstGeom prst="rect">
            <a:avLst/>
          </a:prstGeom>
          <a:solidFill>
            <a:srgbClr val="A06535"/>
          </a:solidFill>
          <a:ln/>
        </p:spPr>
      </p:sp>
      <p:sp>
        <p:nvSpPr>
          <p:cNvPr id="50" name="Text 48"/>
          <p:cNvSpPr/>
          <p:nvPr/>
        </p:nvSpPr>
        <p:spPr>
          <a:xfrm>
            <a:off x="4480560" y="31089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event-driven core for all payment workflows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4352544" y="3621024"/>
            <a:ext cx="3529584" cy="493776"/>
          </a:xfrm>
          <a:prstGeom prst="rect">
            <a:avLst/>
          </a:prstGeom>
          <a:solidFill>
            <a:srgbClr val="F7F4F0"/>
          </a:solidFill>
          <a:ln w="6350">
            <a:solidFill>
              <a:srgbClr val="EDE6D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352544" y="3621024"/>
            <a:ext cx="54864" cy="493776"/>
          </a:xfrm>
          <a:prstGeom prst="rect">
            <a:avLst/>
          </a:prstGeom>
          <a:solidFill>
            <a:srgbClr val="A06535"/>
          </a:solidFill>
          <a:ln/>
        </p:spPr>
      </p:sp>
      <p:sp>
        <p:nvSpPr>
          <p:cNvPr id="53" name="Text 51"/>
          <p:cNvSpPr/>
          <p:nvPr/>
        </p:nvSpPr>
        <p:spPr>
          <a:xfrm>
            <a:off x="4480560" y="363931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Maker role; semi-automated STP — accuracy 90–95%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4352544" y="4151376"/>
            <a:ext cx="3529584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DE6D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352544" y="4151376"/>
            <a:ext cx="54864" cy="493776"/>
          </a:xfrm>
          <a:prstGeom prst="rect">
            <a:avLst/>
          </a:prstGeom>
          <a:solidFill>
            <a:srgbClr val="A06535"/>
          </a:solidFill>
          <a:ln/>
        </p:spPr>
      </p:sp>
      <p:sp>
        <p:nvSpPr>
          <p:cNvPr id="56" name="Text 54"/>
          <p:cNvSpPr/>
          <p:nvPr/>
        </p:nvSpPr>
        <p:spPr>
          <a:xfrm>
            <a:off x="4480560" y="4169664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Tokenisation + Fintech partner integration (Working Capital Accelerator)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4352544" y="4681728"/>
            <a:ext cx="3529584" cy="493776"/>
          </a:xfrm>
          <a:prstGeom prst="rect">
            <a:avLst/>
          </a:prstGeom>
          <a:solidFill>
            <a:srgbClr val="F7F4F0"/>
          </a:solidFill>
          <a:ln w="6350">
            <a:solidFill>
              <a:srgbClr val="EDE6D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352544" y="4681728"/>
            <a:ext cx="54864" cy="493776"/>
          </a:xfrm>
          <a:prstGeom prst="rect">
            <a:avLst/>
          </a:prstGeom>
          <a:solidFill>
            <a:srgbClr val="A06535"/>
          </a:solidFill>
          <a:ln/>
        </p:spPr>
      </p:sp>
      <p:sp>
        <p:nvSpPr>
          <p:cNvPr id="59" name="Text 57"/>
          <p:cNvSpPr/>
          <p:nvPr/>
        </p:nvSpPr>
        <p:spPr>
          <a:xfrm>
            <a:off x="4480560" y="4700016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 off VSI; multi-cluster HA; cost of change −30%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4187952" y="5870448"/>
            <a:ext cx="3858768" cy="640080"/>
          </a:xfrm>
          <a:prstGeom prst="rect">
            <a:avLst/>
          </a:prstGeom>
          <a:solidFill>
            <a:srgbClr val="7A4520"/>
          </a:solidFill>
          <a:ln w="12700">
            <a:solidFill>
              <a:srgbClr val="7A452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352544" y="5907024"/>
            <a:ext cx="3584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STP &gt;70%  ·  Time-to-market 2–6 months  ·  Accuracy 90–95%  ·  Cost −30%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8174736" y="1024128"/>
            <a:ext cx="3858768" cy="5486400"/>
          </a:xfrm>
          <a:prstGeom prst="rect">
            <a:avLst/>
          </a:prstGeom>
          <a:solidFill>
            <a:srgbClr val="FFFFFF"/>
          </a:solidFill>
          <a:ln w="9525">
            <a:solidFill>
              <a:srgbClr val="B8A898"/>
            </a:solidFill>
            <a:prstDash val="solid"/>
          </a:ln>
          <a:effectLst>
            <a:outerShdw sx="100000" sy="100000" kx="0" ky="0" algn="bl" rotWithShape="0" blurRad="127000" dist="38100" dir="8100000">
              <a:srgbClr val="9A8868">
                <a:alpha val="25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8174736" y="1024128"/>
            <a:ext cx="3858768" cy="512064"/>
          </a:xfrm>
          <a:prstGeom prst="rect">
            <a:avLst/>
          </a:prstGeom>
          <a:solidFill>
            <a:srgbClr val="5C3317"/>
          </a:solidFill>
          <a:ln/>
        </p:spPr>
      </p:sp>
      <p:sp>
        <p:nvSpPr>
          <p:cNvPr id="64" name="Text 62"/>
          <p:cNvSpPr/>
          <p:nvPr/>
        </p:nvSpPr>
        <p:spPr>
          <a:xfrm>
            <a:off x="8339328" y="1088136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 — SCALE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8339328" y="1335024"/>
            <a:ext cx="3584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2028–2030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8174736" y="1536192"/>
            <a:ext cx="3858768" cy="402336"/>
          </a:xfrm>
          <a:prstGeom prst="rect">
            <a:avLst/>
          </a:prstGeom>
          <a:solidFill>
            <a:srgbClr val="F7F4F0"/>
          </a:solidFill>
          <a:ln w="12700">
            <a:solidFill>
              <a:srgbClr val="F7F4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8339328" y="1572768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$1B. Platform becomes a product.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8339328" y="1975104"/>
            <a:ext cx="3529584" cy="0"/>
          </a:xfrm>
          <a:prstGeom prst="line">
            <a:avLst/>
          </a:prstGeom>
          <a:noFill/>
          <a:ln w="6350">
            <a:solidFill>
              <a:srgbClr val="B8A898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8339328" y="2029968"/>
            <a:ext cx="3529584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DE6DF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8339328" y="2029968"/>
            <a:ext cx="54864" cy="493776"/>
          </a:xfrm>
          <a:prstGeom prst="rect">
            <a:avLst/>
          </a:prstGeom>
          <a:solidFill>
            <a:srgbClr val="D4A96A"/>
          </a:solidFill>
          <a:ln/>
        </p:spPr>
      </p:sp>
      <p:sp>
        <p:nvSpPr>
          <p:cNvPr id="71" name="Text 69"/>
          <p:cNvSpPr/>
          <p:nvPr/>
        </p:nvSpPr>
        <p:spPr>
          <a:xfrm>
            <a:off x="8467344" y="2048256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9's availability across 4 clusters with auto-scaling operations model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8339328" y="2560320"/>
            <a:ext cx="3529584" cy="493776"/>
          </a:xfrm>
          <a:prstGeom prst="rect">
            <a:avLst/>
          </a:prstGeom>
          <a:solidFill>
            <a:srgbClr val="F7F4F0"/>
          </a:solidFill>
          <a:ln w="6350">
            <a:solidFill>
              <a:srgbClr val="EDE6DF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339328" y="2560320"/>
            <a:ext cx="54864" cy="493776"/>
          </a:xfrm>
          <a:prstGeom prst="rect">
            <a:avLst/>
          </a:prstGeom>
          <a:solidFill>
            <a:srgbClr val="D4A96A"/>
          </a:solidFill>
          <a:ln/>
        </p:spPr>
      </p:sp>
      <p:sp>
        <p:nvSpPr>
          <p:cNvPr id="74" name="Text 72"/>
          <p:cNvSpPr/>
          <p:nvPr/>
        </p:nvSpPr>
        <p:spPr>
          <a:xfrm>
            <a:off x="8467344" y="257860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automated Maker + AI-assisted Checker; human only for true exceptions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8339328" y="3090672"/>
            <a:ext cx="3529584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DE6DF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8339328" y="3090672"/>
            <a:ext cx="54864" cy="493776"/>
          </a:xfrm>
          <a:prstGeom prst="rect">
            <a:avLst/>
          </a:prstGeom>
          <a:solidFill>
            <a:srgbClr val="D4A96A"/>
          </a:solidFill>
          <a:ln/>
        </p:spPr>
      </p:sp>
      <p:sp>
        <p:nvSpPr>
          <p:cNvPr id="77" name="Text 75"/>
          <p:cNvSpPr/>
          <p:nvPr/>
        </p:nvSpPr>
        <p:spPr>
          <a:xfrm>
            <a:off x="8467344" y="31089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distribution (GSCF-like) + structured working capital evolution live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8339328" y="3621024"/>
            <a:ext cx="3529584" cy="493776"/>
          </a:xfrm>
          <a:prstGeom prst="rect">
            <a:avLst/>
          </a:prstGeom>
          <a:solidFill>
            <a:srgbClr val="F7F4F0"/>
          </a:solidFill>
          <a:ln w="6350">
            <a:solidFill>
              <a:srgbClr val="EDE6DF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8339328" y="3621024"/>
            <a:ext cx="54864" cy="493776"/>
          </a:xfrm>
          <a:prstGeom prst="rect">
            <a:avLst/>
          </a:prstGeom>
          <a:solidFill>
            <a:srgbClr val="D4A96A"/>
          </a:solidFill>
          <a:ln/>
        </p:spPr>
      </p:sp>
      <p:sp>
        <p:nvSpPr>
          <p:cNvPr id="80" name="Text 78"/>
          <p:cNvSpPr/>
          <p:nvPr/>
        </p:nvSpPr>
        <p:spPr>
          <a:xfrm>
            <a:off x="8467344" y="363931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accelerator framework + data &amp; analytics platform in production</a:t>
            </a:r>
            <a:endParaRPr lang="en-US" sz="850" dirty="0"/>
          </a:p>
        </p:txBody>
      </p:sp>
      <p:sp>
        <p:nvSpPr>
          <p:cNvPr id="81" name="Shape 79"/>
          <p:cNvSpPr/>
          <p:nvPr/>
        </p:nvSpPr>
        <p:spPr>
          <a:xfrm>
            <a:off x="8339328" y="4151376"/>
            <a:ext cx="3529584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DE6DF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8339328" y="4151376"/>
            <a:ext cx="54864" cy="493776"/>
          </a:xfrm>
          <a:prstGeom prst="rect">
            <a:avLst/>
          </a:prstGeom>
          <a:solidFill>
            <a:srgbClr val="D4A96A"/>
          </a:solidFill>
          <a:ln/>
        </p:spPr>
      </p:sp>
      <p:sp>
        <p:nvSpPr>
          <p:cNvPr id="83" name="Text 81"/>
          <p:cNvSpPr/>
          <p:nvPr/>
        </p:nvSpPr>
        <p:spPr>
          <a:xfrm>
            <a:off x="8467344" y="4169664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is commercialisable, multi-tenant, and scaled to $1B revenue</a:t>
            </a:r>
            <a:endParaRPr lang="en-US" sz="850" dirty="0"/>
          </a:p>
        </p:txBody>
      </p:sp>
      <p:sp>
        <p:nvSpPr>
          <p:cNvPr id="84" name="Shape 82"/>
          <p:cNvSpPr/>
          <p:nvPr/>
        </p:nvSpPr>
        <p:spPr>
          <a:xfrm>
            <a:off x="8339328" y="4681728"/>
            <a:ext cx="3529584" cy="493776"/>
          </a:xfrm>
          <a:prstGeom prst="rect">
            <a:avLst/>
          </a:prstGeom>
          <a:solidFill>
            <a:srgbClr val="F7F4F0"/>
          </a:solidFill>
          <a:ln w="6350">
            <a:solidFill>
              <a:srgbClr val="EDE6DF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8339328" y="4681728"/>
            <a:ext cx="54864" cy="493776"/>
          </a:xfrm>
          <a:prstGeom prst="rect">
            <a:avLst/>
          </a:prstGeom>
          <a:solidFill>
            <a:srgbClr val="D4A96A"/>
          </a:solidFill>
          <a:ln/>
        </p:spPr>
      </p:sp>
      <p:sp>
        <p:nvSpPr>
          <p:cNvPr id="86" name="Text 84"/>
          <p:cNvSpPr/>
          <p:nvPr/>
        </p:nvSpPr>
        <p:spPr>
          <a:xfrm>
            <a:off x="8467344" y="4700016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STP ~90%  ·  Accuracy &gt;95%  ·  Process steps 6 → 4</a:t>
            </a:r>
            <a:endParaRPr lang="en-US" sz="850" dirty="0"/>
          </a:p>
        </p:txBody>
      </p:sp>
      <p:sp>
        <p:nvSpPr>
          <p:cNvPr id="87" name="Shape 85"/>
          <p:cNvSpPr/>
          <p:nvPr/>
        </p:nvSpPr>
        <p:spPr>
          <a:xfrm>
            <a:off x="8174736" y="5870448"/>
            <a:ext cx="3858768" cy="640080"/>
          </a:xfrm>
          <a:prstGeom prst="rect">
            <a:avLst/>
          </a:prstGeom>
          <a:solidFill>
            <a:srgbClr val="5C3317"/>
          </a:solidFill>
          <a:ln w="12700">
            <a:solidFill>
              <a:srgbClr val="5C3317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8339328" y="5907024"/>
            <a:ext cx="3584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STP ~90%  ·  Accuracy &gt;95%  ·  7 9's uptime  ·  Commercially viable</a:t>
            </a:r>
            <a:endParaRPr lang="en-US" sz="800" dirty="0"/>
          </a:p>
        </p:txBody>
      </p:sp>
      <p:sp>
        <p:nvSpPr>
          <p:cNvPr id="89" name="Text 87"/>
          <p:cNvSpPr/>
          <p:nvPr/>
        </p:nvSpPr>
        <p:spPr>
          <a:xfrm>
            <a:off x="365760" y="6675120"/>
            <a:ext cx="11430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89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Trade Platform Migration Strategy  ·  2025–2030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5C3317"/>
          </a:solidFill>
          <a:ln/>
        </p:spPr>
      </p:sp>
      <p:sp>
        <p:nvSpPr>
          <p:cNvPr id="3" name="Text 1"/>
          <p:cNvSpPr/>
          <p:nvPr/>
        </p:nvSpPr>
        <p:spPr>
          <a:xfrm>
            <a:off x="201168" y="91440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 Metrics — The Journey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201168" y="530352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were  ·  What we have delivered  ·  2030 vision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252728" y="768096"/>
            <a:ext cx="1389888" cy="329184"/>
          </a:xfrm>
          <a:prstGeom prst="rect">
            <a:avLst/>
          </a:prstGeom>
          <a:solidFill>
            <a:srgbClr val="EDE6DF"/>
          </a:solidFill>
          <a:ln w="6350">
            <a:solidFill>
              <a:srgbClr val="B8A89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25880" y="768096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688336" y="768096"/>
            <a:ext cx="3090672" cy="329184"/>
          </a:xfrm>
          <a:prstGeom prst="rect">
            <a:avLst/>
          </a:prstGeom>
          <a:solidFill>
            <a:srgbClr val="9A7B5C"/>
          </a:solidFill>
          <a:ln w="12700">
            <a:solidFill>
              <a:srgbClr val="9A7B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79776" y="804672"/>
            <a:ext cx="2962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 —  Pre-2023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2779776" y="969264"/>
            <a:ext cx="296265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D0C4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starting point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5824728" y="768096"/>
            <a:ext cx="3090672" cy="329184"/>
          </a:xfrm>
          <a:prstGeom prst="rect">
            <a:avLst/>
          </a:prstGeom>
          <a:solidFill>
            <a:srgbClr val="7A4520"/>
          </a:solidFill>
          <a:ln w="12700">
            <a:solidFill>
              <a:srgbClr val="7A452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16168" y="804672"/>
            <a:ext cx="2962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 —  2023–2025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916168" y="969264"/>
            <a:ext cx="296265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D0C4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have delivered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8961120" y="768096"/>
            <a:ext cx="3090672" cy="329184"/>
          </a:xfrm>
          <a:prstGeom prst="rect">
            <a:avLst/>
          </a:prstGeom>
          <a:solidFill>
            <a:srgbClr val="5C3317"/>
          </a:solidFill>
          <a:ln w="12700">
            <a:solidFill>
              <a:srgbClr val="5C331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52560" y="804672"/>
            <a:ext cx="2962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 VISION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9052560" y="969264"/>
            <a:ext cx="296265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D0C4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 heading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5765292" y="832104"/>
            <a:ext cx="82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06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901684" y="832104"/>
            <a:ext cx="82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06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28016" y="1133856"/>
            <a:ext cx="1078992" cy="1783080"/>
          </a:xfrm>
          <a:prstGeom prst="rect">
            <a:avLst/>
          </a:prstGeom>
          <a:solidFill>
            <a:srgbClr val="9A7B5C"/>
          </a:solidFill>
          <a:ln w="12700">
            <a:solidFill>
              <a:srgbClr val="9A7B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2880" y="1133856"/>
            <a:ext cx="98755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28016" y="2916936"/>
            <a:ext cx="11923776" cy="0"/>
          </a:xfrm>
          <a:prstGeom prst="line">
            <a:avLst/>
          </a:prstGeom>
          <a:noFill/>
          <a:ln w="9525">
            <a:solidFill>
              <a:srgbClr val="B8A89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52728" y="1133856"/>
            <a:ext cx="1389888" cy="297180"/>
          </a:xfrm>
          <a:prstGeom prst="rect">
            <a:avLst/>
          </a:prstGeom>
          <a:solidFill>
            <a:srgbClr val="EDE6DF"/>
          </a:solidFill>
          <a:ln w="6350">
            <a:solidFill>
              <a:srgbClr val="EDE6D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252728" y="1133856"/>
            <a:ext cx="45720" cy="297180"/>
          </a:xfrm>
          <a:prstGeom prst="rect">
            <a:avLst/>
          </a:prstGeom>
          <a:solidFill>
            <a:srgbClr val="9A7B5C"/>
          </a:solidFill>
          <a:ln w="12700">
            <a:solidFill>
              <a:srgbClr val="9A7B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344168" y="1152144"/>
            <a:ext cx="1261872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 / Clean Breaks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2688336" y="1133856"/>
            <a:ext cx="3090672" cy="297180"/>
          </a:xfrm>
          <a:prstGeom prst="rect">
            <a:avLst/>
          </a:prstGeom>
          <a:solidFill>
            <a:srgbClr val="FFFFFF"/>
          </a:solidFill>
          <a:ln w="6350">
            <a:solidFill>
              <a:srgbClr val="EDE6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688336" y="1133856"/>
            <a:ext cx="45720" cy="297180"/>
          </a:xfrm>
          <a:prstGeom prst="rect">
            <a:avLst/>
          </a:prstGeom>
          <a:solidFill>
            <a:srgbClr val="9A7B5C"/>
          </a:solidFill>
          <a:ln w="12700">
            <a:solidFill>
              <a:srgbClr val="9A7B5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98064" y="1170432"/>
            <a:ext cx="2926080" cy="133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A5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4,380 breaks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798064" y="1313307"/>
            <a:ext cx="2926080" cy="9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i="1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period</a:t>
            </a:r>
            <a:endParaRPr lang="en-US" sz="650" dirty="0"/>
          </a:p>
        </p:txBody>
      </p:sp>
      <p:sp>
        <p:nvSpPr>
          <p:cNvPr id="28" name="Shape 26"/>
          <p:cNvSpPr/>
          <p:nvPr/>
        </p:nvSpPr>
        <p:spPr>
          <a:xfrm>
            <a:off x="5824728" y="1133856"/>
            <a:ext cx="3090672" cy="297180"/>
          </a:xfrm>
          <a:prstGeom prst="rect">
            <a:avLst/>
          </a:prstGeom>
          <a:solidFill>
            <a:srgbClr val="F5F1EB"/>
          </a:solidFill>
          <a:ln w="6350">
            <a:solidFill>
              <a:srgbClr val="EDE6D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824728" y="1133856"/>
            <a:ext cx="45720" cy="297180"/>
          </a:xfrm>
          <a:prstGeom prst="rect">
            <a:avLst/>
          </a:prstGeom>
          <a:solidFill>
            <a:srgbClr val="7A4520"/>
          </a:solidFill>
          <a:ln w="12700">
            <a:solidFill>
              <a:srgbClr val="7A452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34456" y="1170432"/>
            <a:ext cx="2496312" cy="133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729 breaks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8439912" y="1188720"/>
            <a:ext cx="402336" cy="137160"/>
          </a:xfrm>
          <a:prstGeom prst="rect">
            <a:avLst/>
          </a:prstGeom>
          <a:solidFill>
            <a:srgbClr val="5C7A50"/>
          </a:solidFill>
          <a:ln w="12700">
            <a:solidFill>
              <a:srgbClr val="5C7A5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439912" y="1188720"/>
            <a:ext cx="4023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−83%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5934456" y="1313307"/>
            <a:ext cx="2926080" cy="9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i="1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break initiative</a:t>
            </a:r>
            <a:endParaRPr lang="en-US" sz="650" dirty="0"/>
          </a:p>
        </p:txBody>
      </p:sp>
      <p:sp>
        <p:nvSpPr>
          <p:cNvPr id="34" name="Shape 32"/>
          <p:cNvSpPr/>
          <p:nvPr/>
        </p:nvSpPr>
        <p:spPr>
          <a:xfrm>
            <a:off x="8961120" y="1133856"/>
            <a:ext cx="3090672" cy="297180"/>
          </a:xfrm>
          <a:prstGeom prst="rect">
            <a:avLst/>
          </a:prstGeom>
          <a:solidFill>
            <a:srgbClr val="F0EBE3"/>
          </a:solidFill>
          <a:ln w="6350">
            <a:solidFill>
              <a:srgbClr val="EDE6D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961120" y="1133856"/>
            <a:ext cx="45720" cy="297180"/>
          </a:xfrm>
          <a:prstGeom prst="rect">
            <a:avLst/>
          </a:prstGeom>
          <a:solidFill>
            <a:srgbClr val="5C3317"/>
          </a:solidFill>
          <a:ln w="12700">
            <a:solidFill>
              <a:srgbClr val="5C331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070848" y="1170432"/>
            <a:ext cx="2926080" cy="133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zero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9070848" y="1313307"/>
            <a:ext cx="2926080" cy="9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i="1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prevents breaks</a:t>
            </a:r>
            <a:endParaRPr lang="en-US" sz="650" dirty="0"/>
          </a:p>
        </p:txBody>
      </p:sp>
      <p:sp>
        <p:nvSpPr>
          <p:cNvPr id="38" name="Shape 36"/>
          <p:cNvSpPr/>
          <p:nvPr/>
        </p:nvSpPr>
        <p:spPr>
          <a:xfrm>
            <a:off x="1252728" y="1431036"/>
            <a:ext cx="1389888" cy="297180"/>
          </a:xfrm>
          <a:prstGeom prst="rect">
            <a:avLst/>
          </a:prstGeom>
          <a:solidFill>
            <a:srgbClr val="EDE6DF"/>
          </a:solidFill>
          <a:ln w="6350">
            <a:solidFill>
              <a:srgbClr val="EDE6D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252728" y="1431036"/>
            <a:ext cx="45720" cy="297180"/>
          </a:xfrm>
          <a:prstGeom prst="rect">
            <a:avLst/>
          </a:prstGeom>
          <a:solidFill>
            <a:srgbClr val="9A7B5C"/>
          </a:solidFill>
          <a:ln w="12700">
            <a:solidFill>
              <a:srgbClr val="9A7B5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344168" y="1449324"/>
            <a:ext cx="1261872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Time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2688336" y="1431036"/>
            <a:ext cx="3090672" cy="297180"/>
          </a:xfrm>
          <a:prstGeom prst="rect">
            <a:avLst/>
          </a:prstGeom>
          <a:solidFill>
            <a:srgbClr val="F7F4F0"/>
          </a:solidFill>
          <a:ln w="6350">
            <a:solidFill>
              <a:srgbClr val="EDE6D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688336" y="1431036"/>
            <a:ext cx="45720" cy="297180"/>
          </a:xfrm>
          <a:prstGeom prst="rect">
            <a:avLst/>
          </a:prstGeom>
          <a:solidFill>
            <a:srgbClr val="9A7B5C"/>
          </a:solidFill>
          <a:ln w="12700">
            <a:solidFill>
              <a:srgbClr val="9A7B5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98064" y="1467612"/>
            <a:ext cx="2926080" cy="133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A5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hrs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2798064" y="1610487"/>
            <a:ext cx="2926080" cy="9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i="1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full build cycle</a:t>
            </a:r>
            <a:endParaRPr lang="en-US" sz="650" dirty="0"/>
          </a:p>
        </p:txBody>
      </p:sp>
      <p:sp>
        <p:nvSpPr>
          <p:cNvPr id="45" name="Shape 43"/>
          <p:cNvSpPr/>
          <p:nvPr/>
        </p:nvSpPr>
        <p:spPr>
          <a:xfrm>
            <a:off x="5824728" y="1431036"/>
            <a:ext cx="3090672" cy="297180"/>
          </a:xfrm>
          <a:prstGeom prst="rect">
            <a:avLst/>
          </a:prstGeom>
          <a:solidFill>
            <a:srgbClr val="EFEBE4"/>
          </a:solidFill>
          <a:ln w="6350">
            <a:solidFill>
              <a:srgbClr val="EDE6D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824728" y="1431036"/>
            <a:ext cx="45720" cy="297180"/>
          </a:xfrm>
          <a:prstGeom prst="rect">
            <a:avLst/>
          </a:prstGeom>
          <a:solidFill>
            <a:srgbClr val="7A4520"/>
          </a:solidFill>
          <a:ln w="12700">
            <a:solidFill>
              <a:srgbClr val="7A452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934456" y="1467612"/>
            <a:ext cx="2496312" cy="133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hrs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8439912" y="1485900"/>
            <a:ext cx="402336" cy="137160"/>
          </a:xfrm>
          <a:prstGeom prst="rect">
            <a:avLst/>
          </a:prstGeom>
          <a:solidFill>
            <a:srgbClr val="5C7A50"/>
          </a:solidFill>
          <a:ln w="12700">
            <a:solidFill>
              <a:srgbClr val="5C7A5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439912" y="1485900"/>
            <a:ext cx="4023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−63%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5934456" y="1610487"/>
            <a:ext cx="2926080" cy="9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i="1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optimisation</a:t>
            </a:r>
            <a:endParaRPr lang="en-US" sz="650" dirty="0"/>
          </a:p>
        </p:txBody>
      </p:sp>
      <p:sp>
        <p:nvSpPr>
          <p:cNvPr id="51" name="Shape 49"/>
          <p:cNvSpPr/>
          <p:nvPr/>
        </p:nvSpPr>
        <p:spPr>
          <a:xfrm>
            <a:off x="8961120" y="1431036"/>
            <a:ext cx="3090672" cy="297180"/>
          </a:xfrm>
          <a:prstGeom prst="rect">
            <a:avLst/>
          </a:prstGeom>
          <a:solidFill>
            <a:srgbClr val="E8E2DA"/>
          </a:solidFill>
          <a:ln w="6350">
            <a:solidFill>
              <a:srgbClr val="EDE6D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961120" y="1431036"/>
            <a:ext cx="45720" cy="297180"/>
          </a:xfrm>
          <a:prstGeom prst="rect">
            <a:avLst/>
          </a:prstGeom>
          <a:solidFill>
            <a:srgbClr val="5C3317"/>
          </a:solidFill>
          <a:ln w="12700">
            <a:solidFill>
              <a:srgbClr val="5C331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070848" y="1467612"/>
            <a:ext cx="2926080" cy="133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30 min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9070848" y="1610487"/>
            <a:ext cx="2926080" cy="9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i="1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containerised GitOps</a:t>
            </a:r>
            <a:endParaRPr lang="en-US" sz="650" dirty="0"/>
          </a:p>
        </p:txBody>
      </p:sp>
      <p:sp>
        <p:nvSpPr>
          <p:cNvPr id="55" name="Shape 53"/>
          <p:cNvSpPr/>
          <p:nvPr/>
        </p:nvSpPr>
        <p:spPr>
          <a:xfrm>
            <a:off x="1252728" y="1728216"/>
            <a:ext cx="1389888" cy="297180"/>
          </a:xfrm>
          <a:prstGeom prst="rect">
            <a:avLst/>
          </a:prstGeom>
          <a:solidFill>
            <a:srgbClr val="EDE6DF"/>
          </a:solidFill>
          <a:ln w="6350">
            <a:solidFill>
              <a:srgbClr val="EDE6D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252728" y="1728216"/>
            <a:ext cx="45720" cy="297180"/>
          </a:xfrm>
          <a:prstGeom prst="rect">
            <a:avLst/>
          </a:prstGeom>
          <a:solidFill>
            <a:srgbClr val="9A7B5C"/>
          </a:solidFill>
          <a:ln w="12700">
            <a:solidFill>
              <a:srgbClr val="9A7B5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344168" y="1746504"/>
            <a:ext cx="1261872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Lead Time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2688336" y="1728216"/>
            <a:ext cx="3090672" cy="297180"/>
          </a:xfrm>
          <a:prstGeom prst="rect">
            <a:avLst/>
          </a:prstGeom>
          <a:solidFill>
            <a:srgbClr val="FFFFFF"/>
          </a:solidFill>
          <a:ln w="6350">
            <a:solidFill>
              <a:srgbClr val="EDE6D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688336" y="1728216"/>
            <a:ext cx="45720" cy="297180"/>
          </a:xfrm>
          <a:prstGeom prst="rect">
            <a:avLst/>
          </a:prstGeom>
          <a:solidFill>
            <a:srgbClr val="9A7B5C"/>
          </a:solidFill>
          <a:ln w="12700">
            <a:solidFill>
              <a:srgbClr val="9A7B5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798064" y="1764792"/>
            <a:ext cx="2926080" cy="133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A5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6–8 weeks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2798064" y="1907667"/>
            <a:ext cx="2926080" cy="9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i="1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1× / month deployments</a:t>
            </a:r>
            <a:endParaRPr lang="en-US" sz="650" dirty="0"/>
          </a:p>
        </p:txBody>
      </p:sp>
      <p:sp>
        <p:nvSpPr>
          <p:cNvPr id="62" name="Shape 60"/>
          <p:cNvSpPr/>
          <p:nvPr/>
        </p:nvSpPr>
        <p:spPr>
          <a:xfrm>
            <a:off x="5824728" y="1728216"/>
            <a:ext cx="3090672" cy="297180"/>
          </a:xfrm>
          <a:prstGeom prst="rect">
            <a:avLst/>
          </a:prstGeom>
          <a:solidFill>
            <a:srgbClr val="F5F1EB"/>
          </a:solidFill>
          <a:ln w="6350">
            <a:solidFill>
              <a:srgbClr val="EDE6D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824728" y="1728216"/>
            <a:ext cx="45720" cy="297180"/>
          </a:xfrm>
          <a:prstGeom prst="rect">
            <a:avLst/>
          </a:prstGeom>
          <a:solidFill>
            <a:srgbClr val="7A4520"/>
          </a:solidFill>
          <a:ln w="12700">
            <a:solidFill>
              <a:srgbClr val="7A452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934456" y="1764792"/>
            <a:ext cx="2496312" cy="133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2–4 weeks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8439912" y="1783080"/>
            <a:ext cx="402336" cy="137160"/>
          </a:xfrm>
          <a:prstGeom prst="rect">
            <a:avLst/>
          </a:prstGeom>
          <a:solidFill>
            <a:srgbClr val="7A4520"/>
          </a:solidFill>
          <a:ln w="12700">
            <a:solidFill>
              <a:srgbClr val="7A452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439912" y="1783080"/>
            <a:ext cx="4023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5934456" y="1907667"/>
            <a:ext cx="2926080" cy="9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i="1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improving cadence</a:t>
            </a:r>
            <a:endParaRPr lang="en-US" sz="650" dirty="0"/>
          </a:p>
        </p:txBody>
      </p:sp>
      <p:sp>
        <p:nvSpPr>
          <p:cNvPr id="68" name="Shape 66"/>
          <p:cNvSpPr/>
          <p:nvPr/>
        </p:nvSpPr>
        <p:spPr>
          <a:xfrm>
            <a:off x="8961120" y="1728216"/>
            <a:ext cx="3090672" cy="297180"/>
          </a:xfrm>
          <a:prstGeom prst="rect">
            <a:avLst/>
          </a:prstGeom>
          <a:solidFill>
            <a:srgbClr val="F0EBE3"/>
          </a:solidFill>
          <a:ln w="6350">
            <a:solidFill>
              <a:srgbClr val="EDE6DF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8961120" y="1728216"/>
            <a:ext cx="45720" cy="297180"/>
          </a:xfrm>
          <a:prstGeom prst="rect">
            <a:avLst/>
          </a:prstGeom>
          <a:solidFill>
            <a:srgbClr val="5C3317"/>
          </a:solidFill>
          <a:ln w="12700">
            <a:solidFill>
              <a:srgbClr val="5C3317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9070848" y="1764792"/>
            <a:ext cx="2926080" cy="133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2–6 days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9070848" y="1907667"/>
            <a:ext cx="2926080" cy="9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i="1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on-demand deployments</a:t>
            </a:r>
            <a:endParaRPr lang="en-US" sz="650" dirty="0"/>
          </a:p>
        </p:txBody>
      </p:sp>
      <p:sp>
        <p:nvSpPr>
          <p:cNvPr id="72" name="Shape 70"/>
          <p:cNvSpPr/>
          <p:nvPr/>
        </p:nvSpPr>
        <p:spPr>
          <a:xfrm>
            <a:off x="1252728" y="2025396"/>
            <a:ext cx="1389888" cy="297180"/>
          </a:xfrm>
          <a:prstGeom prst="rect">
            <a:avLst/>
          </a:prstGeom>
          <a:solidFill>
            <a:srgbClr val="EDE6DF"/>
          </a:solidFill>
          <a:ln w="6350">
            <a:solidFill>
              <a:srgbClr val="EDE6DF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252728" y="2025396"/>
            <a:ext cx="45720" cy="297180"/>
          </a:xfrm>
          <a:prstGeom prst="rect">
            <a:avLst/>
          </a:prstGeom>
          <a:solidFill>
            <a:srgbClr val="9A7B5C"/>
          </a:solidFill>
          <a:ln w="12700">
            <a:solidFill>
              <a:srgbClr val="9A7B5C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1344168" y="2043684"/>
            <a:ext cx="1261872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GWT / Project TENET</a:t>
            </a:r>
            <a:endParaRPr lang="en-US" sz="700" dirty="0"/>
          </a:p>
        </p:txBody>
      </p:sp>
      <p:sp>
        <p:nvSpPr>
          <p:cNvPr id="75" name="Shape 73"/>
          <p:cNvSpPr/>
          <p:nvPr/>
        </p:nvSpPr>
        <p:spPr>
          <a:xfrm>
            <a:off x="2688336" y="2025396"/>
            <a:ext cx="3090672" cy="297180"/>
          </a:xfrm>
          <a:prstGeom prst="rect">
            <a:avLst/>
          </a:prstGeom>
          <a:solidFill>
            <a:srgbClr val="F7F4F0"/>
          </a:solidFill>
          <a:ln w="6350">
            <a:solidFill>
              <a:srgbClr val="EDE6DF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688336" y="2025396"/>
            <a:ext cx="45720" cy="297180"/>
          </a:xfrm>
          <a:prstGeom prst="rect">
            <a:avLst/>
          </a:prstGeom>
          <a:solidFill>
            <a:srgbClr val="9A7B5C"/>
          </a:solidFill>
          <a:ln w="12700">
            <a:solidFill>
              <a:srgbClr val="9A7B5C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2798064" y="2061972"/>
            <a:ext cx="2926080" cy="133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A5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GWT legacy UI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2798064" y="2204847"/>
            <a:ext cx="2926080" cy="9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i="1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migration path</a:t>
            </a:r>
            <a:endParaRPr lang="en-US" sz="650" dirty="0"/>
          </a:p>
        </p:txBody>
      </p:sp>
      <p:sp>
        <p:nvSpPr>
          <p:cNvPr id="79" name="Shape 77"/>
          <p:cNvSpPr/>
          <p:nvPr/>
        </p:nvSpPr>
        <p:spPr>
          <a:xfrm>
            <a:off x="5824728" y="2025396"/>
            <a:ext cx="3090672" cy="297180"/>
          </a:xfrm>
          <a:prstGeom prst="rect">
            <a:avLst/>
          </a:prstGeom>
          <a:solidFill>
            <a:srgbClr val="EFEBE4"/>
          </a:solidFill>
          <a:ln w="6350">
            <a:solidFill>
              <a:srgbClr val="EDE6DF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5824728" y="2025396"/>
            <a:ext cx="45720" cy="297180"/>
          </a:xfrm>
          <a:prstGeom prst="rect">
            <a:avLst/>
          </a:prstGeom>
          <a:solidFill>
            <a:srgbClr val="7A4520"/>
          </a:solidFill>
          <a:ln w="12700">
            <a:solidFill>
              <a:srgbClr val="7A452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5934456" y="2061972"/>
            <a:ext cx="2496312" cy="133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TENET in progress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8439912" y="2080260"/>
            <a:ext cx="402336" cy="137160"/>
          </a:xfrm>
          <a:prstGeom prst="rect">
            <a:avLst/>
          </a:prstGeom>
          <a:solidFill>
            <a:srgbClr val="7A4520"/>
          </a:solidFill>
          <a:ln w="12700">
            <a:solidFill>
              <a:srgbClr val="7A452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8439912" y="2080260"/>
            <a:ext cx="4023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700" dirty="0"/>
          </a:p>
        </p:txBody>
      </p:sp>
      <p:sp>
        <p:nvSpPr>
          <p:cNvPr id="84" name="Text 82"/>
          <p:cNvSpPr/>
          <p:nvPr/>
        </p:nvSpPr>
        <p:spPr>
          <a:xfrm>
            <a:off x="5934456" y="2204847"/>
            <a:ext cx="2926080" cy="9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i="1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live</a:t>
            </a:r>
            <a:endParaRPr lang="en-US" sz="650" dirty="0"/>
          </a:p>
        </p:txBody>
      </p:sp>
      <p:sp>
        <p:nvSpPr>
          <p:cNvPr id="85" name="Shape 83"/>
          <p:cNvSpPr/>
          <p:nvPr/>
        </p:nvSpPr>
        <p:spPr>
          <a:xfrm>
            <a:off x="8961120" y="2025396"/>
            <a:ext cx="3090672" cy="297180"/>
          </a:xfrm>
          <a:prstGeom prst="rect">
            <a:avLst/>
          </a:prstGeom>
          <a:solidFill>
            <a:srgbClr val="E8E2DA"/>
          </a:solidFill>
          <a:ln w="6350">
            <a:solidFill>
              <a:srgbClr val="EDE6DF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8961120" y="2025396"/>
            <a:ext cx="45720" cy="297180"/>
          </a:xfrm>
          <a:prstGeom prst="rect">
            <a:avLst/>
          </a:prstGeom>
          <a:solidFill>
            <a:srgbClr val="5C3317"/>
          </a:solidFill>
          <a:ln w="12700">
            <a:solidFill>
              <a:srgbClr val="5C3317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9070848" y="2061972"/>
            <a:ext cx="2926080" cy="133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removed</a:t>
            </a:r>
            <a:endParaRPr lang="en-US" sz="900" dirty="0"/>
          </a:p>
        </p:txBody>
      </p:sp>
      <p:sp>
        <p:nvSpPr>
          <p:cNvPr id="88" name="Text 86"/>
          <p:cNvSpPr/>
          <p:nvPr/>
        </p:nvSpPr>
        <p:spPr>
          <a:xfrm>
            <a:off x="9070848" y="2204847"/>
            <a:ext cx="2926080" cy="9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i="1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micro-frontends</a:t>
            </a:r>
            <a:endParaRPr lang="en-US" sz="650" dirty="0"/>
          </a:p>
        </p:txBody>
      </p:sp>
      <p:sp>
        <p:nvSpPr>
          <p:cNvPr id="89" name="Shape 87"/>
          <p:cNvSpPr/>
          <p:nvPr/>
        </p:nvSpPr>
        <p:spPr>
          <a:xfrm>
            <a:off x="1252728" y="2322576"/>
            <a:ext cx="1389888" cy="297180"/>
          </a:xfrm>
          <a:prstGeom prst="rect">
            <a:avLst/>
          </a:prstGeom>
          <a:solidFill>
            <a:srgbClr val="EDE6DF"/>
          </a:solidFill>
          <a:ln w="6350">
            <a:solidFill>
              <a:srgbClr val="EDE6DF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1252728" y="2322576"/>
            <a:ext cx="45720" cy="297180"/>
          </a:xfrm>
          <a:prstGeom prst="rect">
            <a:avLst/>
          </a:prstGeom>
          <a:solidFill>
            <a:srgbClr val="9A7B5C"/>
          </a:solidFill>
          <a:ln w="12700">
            <a:solidFill>
              <a:srgbClr val="9A7B5C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1344168" y="2340864"/>
            <a:ext cx="1261872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Separation</a:t>
            </a:r>
            <a:endParaRPr lang="en-US" sz="700" dirty="0"/>
          </a:p>
        </p:txBody>
      </p:sp>
      <p:sp>
        <p:nvSpPr>
          <p:cNvPr id="92" name="Shape 90"/>
          <p:cNvSpPr/>
          <p:nvPr/>
        </p:nvSpPr>
        <p:spPr>
          <a:xfrm>
            <a:off x="2688336" y="2322576"/>
            <a:ext cx="3090672" cy="297180"/>
          </a:xfrm>
          <a:prstGeom prst="rect">
            <a:avLst/>
          </a:prstGeom>
          <a:solidFill>
            <a:srgbClr val="FFFFFF"/>
          </a:solidFill>
          <a:ln w="6350">
            <a:solidFill>
              <a:srgbClr val="EDE6DF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2688336" y="2322576"/>
            <a:ext cx="45720" cy="297180"/>
          </a:xfrm>
          <a:prstGeom prst="rect">
            <a:avLst/>
          </a:prstGeom>
          <a:solidFill>
            <a:srgbClr val="9A7B5C"/>
          </a:solidFill>
          <a:ln w="12700">
            <a:solidFill>
              <a:srgbClr val="9A7B5C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2798064" y="2359152"/>
            <a:ext cx="2926080" cy="133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A5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Monolithic</a:t>
            </a:r>
            <a:endParaRPr lang="en-US" sz="900" dirty="0"/>
          </a:p>
        </p:txBody>
      </p:sp>
      <p:sp>
        <p:nvSpPr>
          <p:cNvPr id="95" name="Text 93"/>
          <p:cNvSpPr/>
          <p:nvPr/>
        </p:nvSpPr>
        <p:spPr>
          <a:xfrm>
            <a:off x="2798064" y="2502027"/>
            <a:ext cx="2926080" cy="9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i="1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· CIF · Participation all coupled</a:t>
            </a:r>
            <a:endParaRPr lang="en-US" sz="650" dirty="0"/>
          </a:p>
        </p:txBody>
      </p:sp>
      <p:sp>
        <p:nvSpPr>
          <p:cNvPr id="96" name="Shape 94"/>
          <p:cNvSpPr/>
          <p:nvPr/>
        </p:nvSpPr>
        <p:spPr>
          <a:xfrm>
            <a:off x="5824728" y="2322576"/>
            <a:ext cx="3090672" cy="297180"/>
          </a:xfrm>
          <a:prstGeom prst="rect">
            <a:avLst/>
          </a:prstGeom>
          <a:solidFill>
            <a:srgbClr val="F5F1EB"/>
          </a:solidFill>
          <a:ln w="6350">
            <a:solidFill>
              <a:srgbClr val="EDE6DF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5824728" y="2322576"/>
            <a:ext cx="45720" cy="297180"/>
          </a:xfrm>
          <a:prstGeom prst="rect">
            <a:avLst/>
          </a:prstGeom>
          <a:solidFill>
            <a:srgbClr val="7A4520"/>
          </a:solidFill>
          <a:ln w="12700">
            <a:solidFill>
              <a:srgbClr val="7A4520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5934456" y="2359152"/>
            <a:ext cx="2496312" cy="133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Separation live</a:t>
            </a:r>
            <a:endParaRPr lang="en-US" sz="900" dirty="0"/>
          </a:p>
        </p:txBody>
      </p:sp>
      <p:sp>
        <p:nvSpPr>
          <p:cNvPr id="99" name="Shape 97"/>
          <p:cNvSpPr/>
          <p:nvPr/>
        </p:nvSpPr>
        <p:spPr>
          <a:xfrm>
            <a:off x="8439912" y="2377440"/>
            <a:ext cx="402336" cy="137160"/>
          </a:xfrm>
          <a:prstGeom prst="rect">
            <a:avLst/>
          </a:prstGeom>
          <a:solidFill>
            <a:srgbClr val="7A4520"/>
          </a:solidFill>
          <a:ln w="12700">
            <a:solidFill>
              <a:srgbClr val="7A4520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8439912" y="2377440"/>
            <a:ext cx="4023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700" dirty="0"/>
          </a:p>
        </p:txBody>
      </p:sp>
      <p:sp>
        <p:nvSpPr>
          <p:cNvPr id="101" name="Text 99"/>
          <p:cNvSpPr/>
          <p:nvPr/>
        </p:nvSpPr>
        <p:spPr>
          <a:xfrm>
            <a:off x="5934456" y="2502027"/>
            <a:ext cx="2926080" cy="9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i="1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· CIF · Participation decoupled</a:t>
            </a:r>
            <a:endParaRPr lang="en-US" sz="650" dirty="0"/>
          </a:p>
        </p:txBody>
      </p:sp>
      <p:sp>
        <p:nvSpPr>
          <p:cNvPr id="102" name="Shape 100"/>
          <p:cNvSpPr/>
          <p:nvPr/>
        </p:nvSpPr>
        <p:spPr>
          <a:xfrm>
            <a:off x="8961120" y="2322576"/>
            <a:ext cx="3090672" cy="297180"/>
          </a:xfrm>
          <a:prstGeom prst="rect">
            <a:avLst/>
          </a:prstGeom>
          <a:solidFill>
            <a:srgbClr val="F0EBE3"/>
          </a:solidFill>
          <a:ln w="6350">
            <a:solidFill>
              <a:srgbClr val="EDE6DF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8961120" y="2322576"/>
            <a:ext cx="45720" cy="297180"/>
          </a:xfrm>
          <a:prstGeom prst="rect">
            <a:avLst/>
          </a:prstGeom>
          <a:solidFill>
            <a:srgbClr val="5C3317"/>
          </a:solidFill>
          <a:ln w="12700">
            <a:solidFill>
              <a:srgbClr val="5C3317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9070848" y="2359152"/>
            <a:ext cx="2926080" cy="133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isolation</a:t>
            </a:r>
            <a:endParaRPr lang="en-US" sz="900" dirty="0"/>
          </a:p>
        </p:txBody>
      </p:sp>
      <p:sp>
        <p:nvSpPr>
          <p:cNvPr id="105" name="Text 103"/>
          <p:cNvSpPr/>
          <p:nvPr/>
        </p:nvSpPr>
        <p:spPr>
          <a:xfrm>
            <a:off x="9070848" y="2502027"/>
            <a:ext cx="2926080" cy="9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i="1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domain owns data · logic · team</a:t>
            </a:r>
            <a:endParaRPr lang="en-US" sz="650" dirty="0"/>
          </a:p>
        </p:txBody>
      </p:sp>
      <p:sp>
        <p:nvSpPr>
          <p:cNvPr id="106" name="Shape 104"/>
          <p:cNvSpPr/>
          <p:nvPr/>
        </p:nvSpPr>
        <p:spPr>
          <a:xfrm>
            <a:off x="1252728" y="2619756"/>
            <a:ext cx="1389888" cy="297180"/>
          </a:xfrm>
          <a:prstGeom prst="rect">
            <a:avLst/>
          </a:prstGeom>
          <a:solidFill>
            <a:srgbClr val="EDE6DF"/>
          </a:solidFill>
          <a:ln w="6350">
            <a:solidFill>
              <a:srgbClr val="EDE6DF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1252728" y="2619756"/>
            <a:ext cx="45720" cy="297180"/>
          </a:xfrm>
          <a:prstGeom prst="rect">
            <a:avLst/>
          </a:prstGeom>
          <a:solidFill>
            <a:srgbClr val="9A7B5C"/>
          </a:solidFill>
          <a:ln w="12700">
            <a:solidFill>
              <a:srgbClr val="9A7B5C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1344168" y="2638044"/>
            <a:ext cx="1261872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Review Board</a:t>
            </a:r>
            <a:endParaRPr lang="en-US" sz="700" dirty="0"/>
          </a:p>
        </p:txBody>
      </p:sp>
      <p:sp>
        <p:nvSpPr>
          <p:cNvPr id="109" name="Shape 107"/>
          <p:cNvSpPr/>
          <p:nvPr/>
        </p:nvSpPr>
        <p:spPr>
          <a:xfrm>
            <a:off x="2688336" y="2619756"/>
            <a:ext cx="3090672" cy="297180"/>
          </a:xfrm>
          <a:prstGeom prst="rect">
            <a:avLst/>
          </a:prstGeom>
          <a:solidFill>
            <a:srgbClr val="F7F4F0"/>
          </a:solidFill>
          <a:ln w="6350">
            <a:solidFill>
              <a:srgbClr val="EDE6DF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2688336" y="2619756"/>
            <a:ext cx="45720" cy="297180"/>
          </a:xfrm>
          <a:prstGeom prst="rect">
            <a:avLst/>
          </a:prstGeom>
          <a:solidFill>
            <a:srgbClr val="9A7B5C"/>
          </a:solidFill>
          <a:ln w="12700">
            <a:solidFill>
              <a:srgbClr val="9A7B5C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2798064" y="2656332"/>
            <a:ext cx="2926080" cy="133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A5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ARB</a:t>
            </a:r>
            <a:endParaRPr lang="en-US" sz="900" dirty="0"/>
          </a:p>
        </p:txBody>
      </p:sp>
      <p:sp>
        <p:nvSpPr>
          <p:cNvPr id="112" name="Text 110"/>
          <p:cNvSpPr/>
          <p:nvPr/>
        </p:nvSpPr>
        <p:spPr>
          <a:xfrm>
            <a:off x="2798064" y="2799207"/>
            <a:ext cx="2926080" cy="9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i="1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ad-hoc decisions · no governance</a:t>
            </a:r>
            <a:endParaRPr lang="en-US" sz="650" dirty="0"/>
          </a:p>
        </p:txBody>
      </p:sp>
      <p:sp>
        <p:nvSpPr>
          <p:cNvPr id="113" name="Shape 111"/>
          <p:cNvSpPr/>
          <p:nvPr/>
        </p:nvSpPr>
        <p:spPr>
          <a:xfrm>
            <a:off x="5824728" y="2619756"/>
            <a:ext cx="3090672" cy="297180"/>
          </a:xfrm>
          <a:prstGeom prst="rect">
            <a:avLst/>
          </a:prstGeom>
          <a:solidFill>
            <a:srgbClr val="EFEBE4"/>
          </a:solidFill>
          <a:ln w="6350">
            <a:solidFill>
              <a:srgbClr val="EDE6DF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5824728" y="2619756"/>
            <a:ext cx="45720" cy="297180"/>
          </a:xfrm>
          <a:prstGeom prst="rect">
            <a:avLst/>
          </a:prstGeom>
          <a:solidFill>
            <a:srgbClr val="7A4520"/>
          </a:solidFill>
          <a:ln w="12700">
            <a:solidFill>
              <a:srgbClr val="7A4520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5934456" y="2656332"/>
            <a:ext cx="2496312" cy="133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 instated</a:t>
            </a:r>
            <a:endParaRPr lang="en-US" sz="900" dirty="0"/>
          </a:p>
        </p:txBody>
      </p:sp>
      <p:sp>
        <p:nvSpPr>
          <p:cNvPr id="116" name="Shape 114"/>
          <p:cNvSpPr/>
          <p:nvPr/>
        </p:nvSpPr>
        <p:spPr>
          <a:xfrm>
            <a:off x="8439912" y="2674620"/>
            <a:ext cx="402336" cy="137160"/>
          </a:xfrm>
          <a:prstGeom prst="rect">
            <a:avLst/>
          </a:prstGeom>
          <a:solidFill>
            <a:srgbClr val="7A4520"/>
          </a:solidFill>
          <a:ln w="12700">
            <a:solidFill>
              <a:srgbClr val="7A4520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8439912" y="2674620"/>
            <a:ext cx="4023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700" dirty="0"/>
          </a:p>
        </p:txBody>
      </p:sp>
      <p:sp>
        <p:nvSpPr>
          <p:cNvPr id="118" name="Text 116"/>
          <p:cNvSpPr/>
          <p:nvPr/>
        </p:nvSpPr>
        <p:spPr>
          <a:xfrm>
            <a:off x="5934456" y="2799207"/>
            <a:ext cx="2926080" cy="9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i="1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in cadence</a:t>
            </a:r>
            <a:endParaRPr lang="en-US" sz="650" dirty="0"/>
          </a:p>
        </p:txBody>
      </p:sp>
      <p:sp>
        <p:nvSpPr>
          <p:cNvPr id="119" name="Shape 117"/>
          <p:cNvSpPr/>
          <p:nvPr/>
        </p:nvSpPr>
        <p:spPr>
          <a:xfrm>
            <a:off x="8961120" y="2619756"/>
            <a:ext cx="3090672" cy="297180"/>
          </a:xfrm>
          <a:prstGeom prst="rect">
            <a:avLst/>
          </a:prstGeom>
          <a:solidFill>
            <a:srgbClr val="E8E2DA"/>
          </a:solidFill>
          <a:ln w="6350">
            <a:solidFill>
              <a:srgbClr val="EDE6DF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8961120" y="2619756"/>
            <a:ext cx="45720" cy="297180"/>
          </a:xfrm>
          <a:prstGeom prst="rect">
            <a:avLst/>
          </a:prstGeom>
          <a:solidFill>
            <a:srgbClr val="5C3317"/>
          </a:solidFill>
          <a:ln w="12700">
            <a:solidFill>
              <a:srgbClr val="5C3317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9070848" y="2656332"/>
            <a:ext cx="2926080" cy="133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governance</a:t>
            </a:r>
            <a:endParaRPr lang="en-US" sz="900" dirty="0"/>
          </a:p>
        </p:txBody>
      </p:sp>
      <p:sp>
        <p:nvSpPr>
          <p:cNvPr id="122" name="Text 120"/>
          <p:cNvSpPr/>
          <p:nvPr/>
        </p:nvSpPr>
        <p:spPr>
          <a:xfrm>
            <a:off x="9070848" y="2799207"/>
            <a:ext cx="2926080" cy="9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i="1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compliance checks</a:t>
            </a:r>
            <a:endParaRPr lang="en-US" sz="650" dirty="0"/>
          </a:p>
        </p:txBody>
      </p:sp>
      <p:sp>
        <p:nvSpPr>
          <p:cNvPr id="123" name="Shape 121"/>
          <p:cNvSpPr/>
          <p:nvPr/>
        </p:nvSpPr>
        <p:spPr>
          <a:xfrm>
            <a:off x="128016" y="2962656"/>
            <a:ext cx="1078992" cy="1783080"/>
          </a:xfrm>
          <a:prstGeom prst="rect">
            <a:avLst/>
          </a:prstGeom>
          <a:solidFill>
            <a:srgbClr val="7A4520"/>
          </a:solidFill>
          <a:ln w="12700">
            <a:solidFill>
              <a:srgbClr val="7A4520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182880" y="2962656"/>
            <a:ext cx="98755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</a:t>
            </a:r>
            <a:endParaRPr lang="en-US" sz="800" dirty="0"/>
          </a:p>
        </p:txBody>
      </p:sp>
      <p:sp>
        <p:nvSpPr>
          <p:cNvPr id="125" name="Shape 123"/>
          <p:cNvSpPr/>
          <p:nvPr/>
        </p:nvSpPr>
        <p:spPr>
          <a:xfrm>
            <a:off x="128016" y="4745736"/>
            <a:ext cx="11923776" cy="0"/>
          </a:xfrm>
          <a:prstGeom prst="line">
            <a:avLst/>
          </a:prstGeom>
          <a:noFill/>
          <a:ln w="9525">
            <a:solidFill>
              <a:srgbClr val="B8A898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1252728" y="2962656"/>
            <a:ext cx="1389888" cy="445770"/>
          </a:xfrm>
          <a:prstGeom prst="rect">
            <a:avLst/>
          </a:prstGeom>
          <a:solidFill>
            <a:srgbClr val="EDE6DF"/>
          </a:solidFill>
          <a:ln w="6350">
            <a:solidFill>
              <a:srgbClr val="EDE6DF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1252728" y="2962656"/>
            <a:ext cx="45720" cy="445770"/>
          </a:xfrm>
          <a:prstGeom prst="rect">
            <a:avLst/>
          </a:prstGeom>
          <a:solidFill>
            <a:srgbClr val="7A4520"/>
          </a:solidFill>
          <a:ln w="12700">
            <a:solidFill>
              <a:srgbClr val="7A4520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1344168" y="2980944"/>
            <a:ext cx="1261872" cy="4091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Tables</a:t>
            </a:r>
            <a:endParaRPr lang="en-US" sz="800" dirty="0"/>
          </a:p>
        </p:txBody>
      </p:sp>
      <p:sp>
        <p:nvSpPr>
          <p:cNvPr id="129" name="Shape 127"/>
          <p:cNvSpPr/>
          <p:nvPr/>
        </p:nvSpPr>
        <p:spPr>
          <a:xfrm>
            <a:off x="2688336" y="2962656"/>
            <a:ext cx="3090672" cy="445770"/>
          </a:xfrm>
          <a:prstGeom prst="rect">
            <a:avLst/>
          </a:prstGeom>
          <a:solidFill>
            <a:srgbClr val="FFFFFF"/>
          </a:solidFill>
          <a:ln w="6350">
            <a:solidFill>
              <a:srgbClr val="EDE6DF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2688336" y="2962656"/>
            <a:ext cx="45720" cy="445770"/>
          </a:xfrm>
          <a:prstGeom prst="rect">
            <a:avLst/>
          </a:prstGeom>
          <a:solidFill>
            <a:srgbClr val="9A7B5C"/>
          </a:solidFill>
          <a:ln w="12700">
            <a:solidFill>
              <a:srgbClr val="9A7B5C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2798064" y="300837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5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3,200 tables</a:t>
            </a:r>
            <a:endParaRPr lang="en-US" sz="1200" dirty="0"/>
          </a:p>
        </p:txBody>
      </p:sp>
      <p:sp>
        <p:nvSpPr>
          <p:cNvPr id="132" name="Text 130"/>
          <p:cNvSpPr/>
          <p:nvPr/>
        </p:nvSpPr>
        <p:spPr>
          <a:xfrm>
            <a:off x="2798064" y="3209544"/>
            <a:ext cx="2926080" cy="180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i="1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Oracle monolith</a:t>
            </a:r>
            <a:endParaRPr lang="en-US" sz="750" dirty="0"/>
          </a:p>
        </p:txBody>
      </p:sp>
      <p:sp>
        <p:nvSpPr>
          <p:cNvPr id="133" name="Shape 131"/>
          <p:cNvSpPr/>
          <p:nvPr/>
        </p:nvSpPr>
        <p:spPr>
          <a:xfrm>
            <a:off x="5824728" y="2962656"/>
            <a:ext cx="3090672" cy="445770"/>
          </a:xfrm>
          <a:prstGeom prst="rect">
            <a:avLst/>
          </a:prstGeom>
          <a:solidFill>
            <a:srgbClr val="F5F1EB"/>
          </a:solidFill>
          <a:ln w="6350">
            <a:solidFill>
              <a:srgbClr val="EDE6DF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5824728" y="2962656"/>
            <a:ext cx="45720" cy="445770"/>
          </a:xfrm>
          <a:prstGeom prst="rect">
            <a:avLst/>
          </a:prstGeom>
          <a:solidFill>
            <a:srgbClr val="7A4520"/>
          </a:solidFill>
          <a:ln w="12700">
            <a:solidFill>
              <a:srgbClr val="7A4520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5934456" y="3008376"/>
            <a:ext cx="2496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~200 tables</a:t>
            </a:r>
            <a:endParaRPr lang="en-US" sz="1200" dirty="0"/>
          </a:p>
        </p:txBody>
      </p:sp>
      <p:sp>
        <p:nvSpPr>
          <p:cNvPr id="136" name="Shape 134"/>
          <p:cNvSpPr/>
          <p:nvPr/>
        </p:nvSpPr>
        <p:spPr>
          <a:xfrm>
            <a:off x="8439912" y="3026664"/>
            <a:ext cx="402336" cy="164592"/>
          </a:xfrm>
          <a:prstGeom prst="rect">
            <a:avLst/>
          </a:prstGeom>
          <a:solidFill>
            <a:srgbClr val="5C7A50"/>
          </a:solidFill>
          <a:ln w="12700">
            <a:solidFill>
              <a:srgbClr val="5C7A50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8439912" y="3026664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−94%</a:t>
            </a:r>
            <a:endParaRPr lang="en-US" sz="700" dirty="0"/>
          </a:p>
        </p:txBody>
      </p:sp>
      <p:sp>
        <p:nvSpPr>
          <p:cNvPr id="138" name="Text 136"/>
          <p:cNvSpPr/>
          <p:nvPr/>
        </p:nvSpPr>
        <p:spPr>
          <a:xfrm>
            <a:off x="5934456" y="3209544"/>
            <a:ext cx="2926080" cy="180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i="1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rationalised schema</a:t>
            </a:r>
            <a:endParaRPr lang="en-US" sz="750" dirty="0"/>
          </a:p>
        </p:txBody>
      </p:sp>
      <p:sp>
        <p:nvSpPr>
          <p:cNvPr id="139" name="Shape 137"/>
          <p:cNvSpPr/>
          <p:nvPr/>
        </p:nvSpPr>
        <p:spPr>
          <a:xfrm>
            <a:off x="8961120" y="2962656"/>
            <a:ext cx="3090672" cy="445770"/>
          </a:xfrm>
          <a:prstGeom prst="rect">
            <a:avLst/>
          </a:prstGeom>
          <a:solidFill>
            <a:srgbClr val="F0EBE3"/>
          </a:solidFill>
          <a:ln w="6350">
            <a:solidFill>
              <a:srgbClr val="EDE6DF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8961120" y="2962656"/>
            <a:ext cx="45720" cy="445770"/>
          </a:xfrm>
          <a:prstGeom prst="rect">
            <a:avLst/>
          </a:prstGeom>
          <a:solidFill>
            <a:srgbClr val="5C3317"/>
          </a:solidFill>
          <a:ln w="12700">
            <a:solidFill>
              <a:srgbClr val="5C3317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9070848" y="300837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DB-per-service</a:t>
            </a:r>
            <a:endParaRPr lang="en-US" sz="1200" dirty="0"/>
          </a:p>
        </p:txBody>
      </p:sp>
      <p:sp>
        <p:nvSpPr>
          <p:cNvPr id="142" name="Text 140"/>
          <p:cNvSpPr/>
          <p:nvPr/>
        </p:nvSpPr>
        <p:spPr>
          <a:xfrm>
            <a:off x="9070848" y="3209544"/>
            <a:ext cx="2926080" cy="180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i="1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· MongoDB · pgvector</a:t>
            </a:r>
            <a:endParaRPr lang="en-US" sz="750" dirty="0"/>
          </a:p>
        </p:txBody>
      </p:sp>
      <p:sp>
        <p:nvSpPr>
          <p:cNvPr id="143" name="Shape 141"/>
          <p:cNvSpPr/>
          <p:nvPr/>
        </p:nvSpPr>
        <p:spPr>
          <a:xfrm>
            <a:off x="1252728" y="3408426"/>
            <a:ext cx="1389888" cy="445770"/>
          </a:xfrm>
          <a:prstGeom prst="rect">
            <a:avLst/>
          </a:prstGeom>
          <a:solidFill>
            <a:srgbClr val="EDE6DF"/>
          </a:solidFill>
          <a:ln w="6350">
            <a:solidFill>
              <a:srgbClr val="EDE6DF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1252728" y="3408426"/>
            <a:ext cx="45720" cy="445770"/>
          </a:xfrm>
          <a:prstGeom prst="rect">
            <a:avLst/>
          </a:prstGeom>
          <a:solidFill>
            <a:srgbClr val="7A4520"/>
          </a:solidFill>
          <a:ln w="12700">
            <a:solidFill>
              <a:srgbClr val="7A4520"/>
            </a:solidFill>
            <a:prstDash val="solid"/>
          </a:ln>
        </p:spPr>
      </p:sp>
      <p:sp>
        <p:nvSpPr>
          <p:cNvPr id="145" name="Text 143"/>
          <p:cNvSpPr/>
          <p:nvPr/>
        </p:nvSpPr>
        <p:spPr>
          <a:xfrm>
            <a:off x="1344168" y="3426714"/>
            <a:ext cx="1261872" cy="4091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Layer</a:t>
            </a:r>
            <a:endParaRPr lang="en-US" sz="800" dirty="0"/>
          </a:p>
        </p:txBody>
      </p:sp>
      <p:sp>
        <p:nvSpPr>
          <p:cNvPr id="146" name="Shape 144"/>
          <p:cNvSpPr/>
          <p:nvPr/>
        </p:nvSpPr>
        <p:spPr>
          <a:xfrm>
            <a:off x="2688336" y="3408426"/>
            <a:ext cx="3090672" cy="445770"/>
          </a:xfrm>
          <a:prstGeom prst="rect">
            <a:avLst/>
          </a:prstGeom>
          <a:solidFill>
            <a:srgbClr val="F7F4F0"/>
          </a:solidFill>
          <a:ln w="6350">
            <a:solidFill>
              <a:srgbClr val="EDE6DF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2688336" y="3408426"/>
            <a:ext cx="45720" cy="445770"/>
          </a:xfrm>
          <a:prstGeom prst="rect">
            <a:avLst/>
          </a:prstGeom>
          <a:solidFill>
            <a:srgbClr val="9A7B5C"/>
          </a:solidFill>
          <a:ln w="12700">
            <a:solidFill>
              <a:srgbClr val="9A7B5C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2798064" y="345414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5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APIs</a:t>
            </a:r>
            <a:endParaRPr lang="en-US" sz="1200" dirty="0"/>
          </a:p>
        </p:txBody>
      </p:sp>
      <p:sp>
        <p:nvSpPr>
          <p:cNvPr id="149" name="Text 147"/>
          <p:cNvSpPr/>
          <p:nvPr/>
        </p:nvSpPr>
        <p:spPr>
          <a:xfrm>
            <a:off x="2798064" y="3655314"/>
            <a:ext cx="2926080" cy="180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i="1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DB access only</a:t>
            </a:r>
            <a:endParaRPr lang="en-US" sz="750" dirty="0"/>
          </a:p>
        </p:txBody>
      </p:sp>
      <p:sp>
        <p:nvSpPr>
          <p:cNvPr id="150" name="Shape 148"/>
          <p:cNvSpPr/>
          <p:nvPr/>
        </p:nvSpPr>
        <p:spPr>
          <a:xfrm>
            <a:off x="5824728" y="3408426"/>
            <a:ext cx="3090672" cy="445770"/>
          </a:xfrm>
          <a:prstGeom prst="rect">
            <a:avLst/>
          </a:prstGeom>
          <a:solidFill>
            <a:srgbClr val="EFEBE4"/>
          </a:solidFill>
          <a:ln w="6350">
            <a:solidFill>
              <a:srgbClr val="EDE6DF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5824728" y="3408426"/>
            <a:ext cx="45720" cy="445770"/>
          </a:xfrm>
          <a:prstGeom prst="rect">
            <a:avLst/>
          </a:prstGeom>
          <a:solidFill>
            <a:srgbClr val="7A4520"/>
          </a:solidFill>
          <a:ln w="12700">
            <a:solidFill>
              <a:srgbClr val="7A4520"/>
            </a:solidFill>
            <a:prstDash val="solid"/>
          </a:ln>
        </p:spPr>
      </p:sp>
      <p:sp>
        <p:nvSpPr>
          <p:cNvPr id="152" name="Text 150"/>
          <p:cNvSpPr/>
          <p:nvPr/>
        </p:nvSpPr>
        <p:spPr>
          <a:xfrm>
            <a:off x="5934456" y="3454146"/>
            <a:ext cx="2496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API-first live</a:t>
            </a:r>
            <a:endParaRPr lang="en-US" sz="1200" dirty="0"/>
          </a:p>
        </p:txBody>
      </p:sp>
      <p:sp>
        <p:nvSpPr>
          <p:cNvPr id="153" name="Shape 151"/>
          <p:cNvSpPr/>
          <p:nvPr/>
        </p:nvSpPr>
        <p:spPr>
          <a:xfrm>
            <a:off x="8439912" y="3472434"/>
            <a:ext cx="402336" cy="164592"/>
          </a:xfrm>
          <a:prstGeom prst="rect">
            <a:avLst/>
          </a:prstGeom>
          <a:solidFill>
            <a:srgbClr val="7A4520"/>
          </a:solidFill>
          <a:ln w="12700">
            <a:solidFill>
              <a:srgbClr val="7A4520"/>
            </a:solidFill>
            <a:prstDash val="solid"/>
          </a:ln>
        </p:spPr>
      </p:sp>
      <p:sp>
        <p:nvSpPr>
          <p:cNvPr id="154" name="Text 152"/>
          <p:cNvSpPr/>
          <p:nvPr/>
        </p:nvSpPr>
        <p:spPr>
          <a:xfrm>
            <a:off x="8439912" y="3472434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700" dirty="0"/>
          </a:p>
        </p:txBody>
      </p:sp>
      <p:sp>
        <p:nvSpPr>
          <p:cNvPr id="155" name="Text 153"/>
          <p:cNvSpPr/>
          <p:nvPr/>
        </p:nvSpPr>
        <p:spPr>
          <a:xfrm>
            <a:off x="5934456" y="3655314"/>
            <a:ext cx="2926080" cy="180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i="1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 exposed via API</a:t>
            </a:r>
            <a:endParaRPr lang="en-US" sz="750" dirty="0"/>
          </a:p>
        </p:txBody>
      </p:sp>
      <p:sp>
        <p:nvSpPr>
          <p:cNvPr id="156" name="Shape 154"/>
          <p:cNvSpPr/>
          <p:nvPr/>
        </p:nvSpPr>
        <p:spPr>
          <a:xfrm>
            <a:off x="8961120" y="3408426"/>
            <a:ext cx="3090672" cy="445770"/>
          </a:xfrm>
          <a:prstGeom prst="rect">
            <a:avLst/>
          </a:prstGeom>
          <a:solidFill>
            <a:srgbClr val="E8E2DA"/>
          </a:solidFill>
          <a:ln w="6350">
            <a:solidFill>
              <a:srgbClr val="EDE6DF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8961120" y="3408426"/>
            <a:ext cx="45720" cy="445770"/>
          </a:xfrm>
          <a:prstGeom prst="rect">
            <a:avLst/>
          </a:prstGeom>
          <a:solidFill>
            <a:srgbClr val="5C3317"/>
          </a:solidFill>
          <a:ln w="12700">
            <a:solidFill>
              <a:srgbClr val="5C3317"/>
            </a:solidFill>
            <a:prstDash val="solid"/>
          </a:ln>
        </p:spPr>
      </p:sp>
      <p:sp>
        <p:nvSpPr>
          <p:cNvPr id="158" name="Text 156"/>
          <p:cNvSpPr/>
          <p:nvPr/>
        </p:nvSpPr>
        <p:spPr>
          <a:xfrm>
            <a:off x="9070848" y="345414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API-first</a:t>
            </a:r>
            <a:endParaRPr lang="en-US" sz="1200" dirty="0"/>
          </a:p>
        </p:txBody>
      </p:sp>
      <p:sp>
        <p:nvSpPr>
          <p:cNvPr id="159" name="Text 157"/>
          <p:cNvSpPr/>
          <p:nvPr/>
        </p:nvSpPr>
        <p:spPr>
          <a:xfrm>
            <a:off x="9070848" y="3655314"/>
            <a:ext cx="2926080" cy="180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i="1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services API-native</a:t>
            </a:r>
            <a:endParaRPr lang="en-US" sz="750" dirty="0"/>
          </a:p>
        </p:txBody>
      </p:sp>
      <p:sp>
        <p:nvSpPr>
          <p:cNvPr id="160" name="Shape 158"/>
          <p:cNvSpPr/>
          <p:nvPr/>
        </p:nvSpPr>
        <p:spPr>
          <a:xfrm>
            <a:off x="1252728" y="3854196"/>
            <a:ext cx="1389888" cy="445770"/>
          </a:xfrm>
          <a:prstGeom prst="rect">
            <a:avLst/>
          </a:prstGeom>
          <a:solidFill>
            <a:srgbClr val="EDE6DF"/>
          </a:solidFill>
          <a:ln w="6350">
            <a:solidFill>
              <a:srgbClr val="EDE6DF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1252728" y="3854196"/>
            <a:ext cx="45720" cy="445770"/>
          </a:xfrm>
          <a:prstGeom prst="rect">
            <a:avLst/>
          </a:prstGeom>
          <a:solidFill>
            <a:srgbClr val="7A4520"/>
          </a:solidFill>
          <a:ln w="12700">
            <a:solidFill>
              <a:srgbClr val="7A4520"/>
            </a:solidFill>
            <a:prstDash val="solid"/>
          </a:ln>
        </p:spPr>
      </p:sp>
      <p:sp>
        <p:nvSpPr>
          <p:cNvPr id="162" name="Text 160"/>
          <p:cNvSpPr/>
          <p:nvPr/>
        </p:nvSpPr>
        <p:spPr>
          <a:xfrm>
            <a:off x="1344168" y="3872484"/>
            <a:ext cx="1261872" cy="4091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Rationalisation</a:t>
            </a:r>
            <a:endParaRPr lang="en-US" sz="800" dirty="0"/>
          </a:p>
        </p:txBody>
      </p:sp>
      <p:sp>
        <p:nvSpPr>
          <p:cNvPr id="163" name="Shape 161"/>
          <p:cNvSpPr/>
          <p:nvPr/>
        </p:nvSpPr>
        <p:spPr>
          <a:xfrm>
            <a:off x="2688336" y="3854196"/>
            <a:ext cx="3090672" cy="445770"/>
          </a:xfrm>
          <a:prstGeom prst="rect">
            <a:avLst/>
          </a:prstGeom>
          <a:solidFill>
            <a:srgbClr val="FFFFFF"/>
          </a:solidFill>
          <a:ln w="6350">
            <a:solidFill>
              <a:srgbClr val="EDE6DF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2688336" y="3854196"/>
            <a:ext cx="45720" cy="445770"/>
          </a:xfrm>
          <a:prstGeom prst="rect">
            <a:avLst/>
          </a:prstGeom>
          <a:solidFill>
            <a:srgbClr val="9A7B5C"/>
          </a:solidFill>
          <a:ln w="12700">
            <a:solidFill>
              <a:srgbClr val="9A7B5C"/>
            </a:solidFill>
            <a:prstDash val="solid"/>
          </a:ln>
        </p:spPr>
      </p:sp>
      <p:sp>
        <p:nvSpPr>
          <p:cNvPr id="165" name="Text 163"/>
          <p:cNvSpPr/>
          <p:nvPr/>
        </p:nvSpPr>
        <p:spPr>
          <a:xfrm>
            <a:off x="2798064" y="389991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5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Duplicated apps</a:t>
            </a:r>
            <a:endParaRPr lang="en-US" sz="1200" dirty="0"/>
          </a:p>
        </p:txBody>
      </p:sp>
      <p:sp>
        <p:nvSpPr>
          <p:cNvPr id="166" name="Text 164"/>
          <p:cNvSpPr/>
          <p:nvPr/>
        </p:nvSpPr>
        <p:spPr>
          <a:xfrm>
            <a:off x="2798064" y="4101084"/>
            <a:ext cx="2926080" cy="180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i="1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TCE · GWT · orphaned systems</a:t>
            </a:r>
            <a:endParaRPr lang="en-US" sz="750" dirty="0"/>
          </a:p>
        </p:txBody>
      </p:sp>
      <p:sp>
        <p:nvSpPr>
          <p:cNvPr id="167" name="Shape 165"/>
          <p:cNvSpPr/>
          <p:nvPr/>
        </p:nvSpPr>
        <p:spPr>
          <a:xfrm>
            <a:off x="5824728" y="3854196"/>
            <a:ext cx="3090672" cy="445770"/>
          </a:xfrm>
          <a:prstGeom prst="rect">
            <a:avLst/>
          </a:prstGeom>
          <a:solidFill>
            <a:srgbClr val="F5F1EB"/>
          </a:solidFill>
          <a:ln w="6350">
            <a:solidFill>
              <a:srgbClr val="EDE6DF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5824728" y="3854196"/>
            <a:ext cx="45720" cy="445770"/>
          </a:xfrm>
          <a:prstGeom prst="rect">
            <a:avLst/>
          </a:prstGeom>
          <a:solidFill>
            <a:srgbClr val="7A4520"/>
          </a:solidFill>
          <a:ln w="12700">
            <a:solidFill>
              <a:srgbClr val="7A4520"/>
            </a:solidFill>
            <a:prstDash val="solid"/>
          </a:ln>
        </p:spPr>
      </p:sp>
      <p:sp>
        <p:nvSpPr>
          <p:cNvPr id="169" name="Text 167"/>
          <p:cNvSpPr/>
          <p:nvPr/>
        </p:nvSpPr>
        <p:spPr>
          <a:xfrm>
            <a:off x="5934456" y="3899916"/>
            <a:ext cx="2496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TCE decommissioning</a:t>
            </a:r>
            <a:endParaRPr lang="en-US" sz="1200" dirty="0"/>
          </a:p>
        </p:txBody>
      </p:sp>
      <p:sp>
        <p:nvSpPr>
          <p:cNvPr id="170" name="Shape 168"/>
          <p:cNvSpPr/>
          <p:nvPr/>
        </p:nvSpPr>
        <p:spPr>
          <a:xfrm>
            <a:off x="8439912" y="3918204"/>
            <a:ext cx="402336" cy="164592"/>
          </a:xfrm>
          <a:prstGeom prst="rect">
            <a:avLst/>
          </a:prstGeom>
          <a:solidFill>
            <a:srgbClr val="7A4520"/>
          </a:solidFill>
          <a:ln w="12700">
            <a:solidFill>
              <a:srgbClr val="7A4520"/>
            </a:solidFill>
            <a:prstDash val="solid"/>
          </a:ln>
        </p:spPr>
      </p:sp>
      <p:sp>
        <p:nvSpPr>
          <p:cNvPr id="171" name="Text 169"/>
          <p:cNvSpPr/>
          <p:nvPr/>
        </p:nvSpPr>
        <p:spPr>
          <a:xfrm>
            <a:off x="8439912" y="3918204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700" dirty="0"/>
          </a:p>
        </p:txBody>
      </p:sp>
      <p:sp>
        <p:nvSpPr>
          <p:cNvPr id="172" name="Text 170"/>
          <p:cNvSpPr/>
          <p:nvPr/>
        </p:nvSpPr>
        <p:spPr>
          <a:xfrm>
            <a:off x="5934456" y="4101084"/>
            <a:ext cx="2926080" cy="180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i="1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750" dirty="0"/>
          </a:p>
        </p:txBody>
      </p:sp>
      <p:sp>
        <p:nvSpPr>
          <p:cNvPr id="173" name="Shape 171"/>
          <p:cNvSpPr/>
          <p:nvPr/>
        </p:nvSpPr>
        <p:spPr>
          <a:xfrm>
            <a:off x="8961120" y="3854196"/>
            <a:ext cx="3090672" cy="445770"/>
          </a:xfrm>
          <a:prstGeom prst="rect">
            <a:avLst/>
          </a:prstGeom>
          <a:solidFill>
            <a:srgbClr val="F0EBE3"/>
          </a:solidFill>
          <a:ln w="6350">
            <a:solidFill>
              <a:srgbClr val="EDE6DF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8961120" y="3854196"/>
            <a:ext cx="45720" cy="445770"/>
          </a:xfrm>
          <a:prstGeom prst="rect">
            <a:avLst/>
          </a:prstGeom>
          <a:solidFill>
            <a:srgbClr val="5C3317"/>
          </a:solidFill>
          <a:ln w="12700">
            <a:solidFill>
              <a:srgbClr val="5C3317"/>
            </a:solidFill>
            <a:prstDash val="solid"/>
          </a:ln>
        </p:spPr>
      </p:sp>
      <p:sp>
        <p:nvSpPr>
          <p:cNvPr id="175" name="Text 173"/>
          <p:cNvSpPr/>
          <p:nvPr/>
        </p:nvSpPr>
        <p:spPr>
          <a:xfrm>
            <a:off x="9070848" y="389991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portfolio</a:t>
            </a:r>
            <a:endParaRPr lang="en-US" sz="1200" dirty="0"/>
          </a:p>
        </p:txBody>
      </p:sp>
      <p:sp>
        <p:nvSpPr>
          <p:cNvPr id="176" name="Text 174"/>
          <p:cNvSpPr/>
          <p:nvPr/>
        </p:nvSpPr>
        <p:spPr>
          <a:xfrm>
            <a:off x="9070848" y="4101084"/>
            <a:ext cx="2926080" cy="180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i="1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duplication · owned domains</a:t>
            </a:r>
            <a:endParaRPr lang="en-US" sz="750" dirty="0"/>
          </a:p>
        </p:txBody>
      </p:sp>
      <p:sp>
        <p:nvSpPr>
          <p:cNvPr id="177" name="Shape 175"/>
          <p:cNvSpPr/>
          <p:nvPr/>
        </p:nvSpPr>
        <p:spPr>
          <a:xfrm>
            <a:off x="1252728" y="4299966"/>
            <a:ext cx="1389888" cy="445770"/>
          </a:xfrm>
          <a:prstGeom prst="rect">
            <a:avLst/>
          </a:prstGeom>
          <a:solidFill>
            <a:srgbClr val="EDE6DF"/>
          </a:solidFill>
          <a:ln w="6350">
            <a:solidFill>
              <a:srgbClr val="EDE6DF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1252728" y="4299966"/>
            <a:ext cx="45720" cy="445770"/>
          </a:xfrm>
          <a:prstGeom prst="rect">
            <a:avLst/>
          </a:prstGeom>
          <a:solidFill>
            <a:srgbClr val="7A4520"/>
          </a:solidFill>
          <a:ln w="12700">
            <a:solidFill>
              <a:srgbClr val="7A4520"/>
            </a:solidFill>
            <a:prstDash val="solid"/>
          </a:ln>
        </p:spPr>
      </p:sp>
      <p:sp>
        <p:nvSpPr>
          <p:cNvPr id="179" name="Text 177"/>
          <p:cNvSpPr/>
          <p:nvPr/>
        </p:nvSpPr>
        <p:spPr>
          <a:xfrm>
            <a:off x="1344168" y="4318254"/>
            <a:ext cx="1261872" cy="4091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Lifecycle</a:t>
            </a:r>
            <a:endParaRPr lang="en-US" sz="800" dirty="0"/>
          </a:p>
        </p:txBody>
      </p:sp>
      <p:sp>
        <p:nvSpPr>
          <p:cNvPr id="180" name="Shape 178"/>
          <p:cNvSpPr/>
          <p:nvPr/>
        </p:nvSpPr>
        <p:spPr>
          <a:xfrm>
            <a:off x="2688336" y="4299966"/>
            <a:ext cx="3090672" cy="445770"/>
          </a:xfrm>
          <a:prstGeom prst="rect">
            <a:avLst/>
          </a:prstGeom>
          <a:solidFill>
            <a:srgbClr val="F7F4F0"/>
          </a:solidFill>
          <a:ln w="6350">
            <a:solidFill>
              <a:srgbClr val="EDE6DF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2688336" y="4299966"/>
            <a:ext cx="45720" cy="445770"/>
          </a:xfrm>
          <a:prstGeom prst="rect">
            <a:avLst/>
          </a:prstGeom>
          <a:solidFill>
            <a:srgbClr val="9A7B5C"/>
          </a:solidFill>
          <a:ln w="12700">
            <a:solidFill>
              <a:srgbClr val="9A7B5C"/>
            </a:solidFill>
            <a:prstDash val="solid"/>
          </a:ln>
        </p:spPr>
      </p:sp>
      <p:sp>
        <p:nvSpPr>
          <p:cNvPr id="182" name="Text 180"/>
          <p:cNvSpPr/>
          <p:nvPr/>
        </p:nvSpPr>
        <p:spPr>
          <a:xfrm>
            <a:off x="2798064" y="434568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5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archive / purge</a:t>
            </a:r>
            <a:endParaRPr lang="en-US" sz="1200" dirty="0"/>
          </a:p>
        </p:txBody>
      </p:sp>
      <p:sp>
        <p:nvSpPr>
          <p:cNvPr id="183" name="Text 181"/>
          <p:cNvSpPr/>
          <p:nvPr/>
        </p:nvSpPr>
        <p:spPr>
          <a:xfrm>
            <a:off x="2798064" y="4546854"/>
            <a:ext cx="2926080" cy="180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i="1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unbounded data growth</a:t>
            </a:r>
            <a:endParaRPr lang="en-US" sz="750" dirty="0"/>
          </a:p>
        </p:txBody>
      </p:sp>
      <p:sp>
        <p:nvSpPr>
          <p:cNvPr id="184" name="Shape 182"/>
          <p:cNvSpPr/>
          <p:nvPr/>
        </p:nvSpPr>
        <p:spPr>
          <a:xfrm>
            <a:off x="5824728" y="4299966"/>
            <a:ext cx="3090672" cy="445770"/>
          </a:xfrm>
          <a:prstGeom prst="rect">
            <a:avLst/>
          </a:prstGeom>
          <a:solidFill>
            <a:srgbClr val="EFEBE4"/>
          </a:solidFill>
          <a:ln w="6350">
            <a:solidFill>
              <a:srgbClr val="EDE6DF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5824728" y="4299966"/>
            <a:ext cx="45720" cy="445770"/>
          </a:xfrm>
          <a:prstGeom prst="rect">
            <a:avLst/>
          </a:prstGeom>
          <a:solidFill>
            <a:srgbClr val="7A4520"/>
          </a:solidFill>
          <a:ln w="12700">
            <a:solidFill>
              <a:srgbClr val="7A4520"/>
            </a:solidFill>
            <a:prstDash val="solid"/>
          </a:ln>
        </p:spPr>
      </p:sp>
      <p:sp>
        <p:nvSpPr>
          <p:cNvPr id="186" name="Text 184"/>
          <p:cNvSpPr/>
          <p:nvPr/>
        </p:nvSpPr>
        <p:spPr>
          <a:xfrm>
            <a:off x="5934456" y="4345686"/>
            <a:ext cx="2496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 &amp; Purge live</a:t>
            </a:r>
            <a:endParaRPr lang="en-US" sz="1200" dirty="0"/>
          </a:p>
        </p:txBody>
      </p:sp>
      <p:sp>
        <p:nvSpPr>
          <p:cNvPr id="187" name="Shape 185"/>
          <p:cNvSpPr/>
          <p:nvPr/>
        </p:nvSpPr>
        <p:spPr>
          <a:xfrm>
            <a:off x="8439912" y="4363974"/>
            <a:ext cx="402336" cy="164592"/>
          </a:xfrm>
          <a:prstGeom prst="rect">
            <a:avLst/>
          </a:prstGeom>
          <a:solidFill>
            <a:srgbClr val="5C7A50"/>
          </a:solidFill>
          <a:ln w="12700">
            <a:solidFill>
              <a:srgbClr val="5C7A50"/>
            </a:solidFill>
            <a:prstDash val="solid"/>
          </a:ln>
        </p:spPr>
      </p:sp>
      <p:sp>
        <p:nvSpPr>
          <p:cNvPr id="188" name="Text 186"/>
          <p:cNvSpPr/>
          <p:nvPr/>
        </p:nvSpPr>
        <p:spPr>
          <a:xfrm>
            <a:off x="8439912" y="4363974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189" name="Text 187"/>
          <p:cNvSpPr/>
          <p:nvPr/>
        </p:nvSpPr>
        <p:spPr>
          <a:xfrm>
            <a:off x="5934456" y="4546854"/>
            <a:ext cx="2926080" cy="180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i="1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instated</a:t>
            </a:r>
            <a:endParaRPr lang="en-US" sz="750" dirty="0"/>
          </a:p>
        </p:txBody>
      </p:sp>
      <p:sp>
        <p:nvSpPr>
          <p:cNvPr id="190" name="Shape 188"/>
          <p:cNvSpPr/>
          <p:nvPr/>
        </p:nvSpPr>
        <p:spPr>
          <a:xfrm>
            <a:off x="8961120" y="4299966"/>
            <a:ext cx="3090672" cy="445770"/>
          </a:xfrm>
          <a:prstGeom prst="rect">
            <a:avLst/>
          </a:prstGeom>
          <a:solidFill>
            <a:srgbClr val="E8E2DA"/>
          </a:solidFill>
          <a:ln w="6350">
            <a:solidFill>
              <a:srgbClr val="EDE6DF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8961120" y="4299966"/>
            <a:ext cx="45720" cy="445770"/>
          </a:xfrm>
          <a:prstGeom prst="rect">
            <a:avLst/>
          </a:prstGeom>
          <a:solidFill>
            <a:srgbClr val="5C3317"/>
          </a:solidFill>
          <a:ln w="12700">
            <a:solidFill>
              <a:srgbClr val="5C3317"/>
            </a:solidFill>
            <a:prstDash val="solid"/>
          </a:ln>
        </p:spPr>
      </p:sp>
      <p:sp>
        <p:nvSpPr>
          <p:cNvPr id="192" name="Text 190"/>
          <p:cNvSpPr/>
          <p:nvPr/>
        </p:nvSpPr>
        <p:spPr>
          <a:xfrm>
            <a:off x="9070848" y="434568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</a:t>
            </a:r>
            <a:endParaRPr lang="en-US" sz="1200" dirty="0"/>
          </a:p>
        </p:txBody>
      </p:sp>
      <p:sp>
        <p:nvSpPr>
          <p:cNvPr id="193" name="Text 191"/>
          <p:cNvSpPr/>
          <p:nvPr/>
        </p:nvSpPr>
        <p:spPr>
          <a:xfrm>
            <a:off x="9070848" y="4546854"/>
            <a:ext cx="2926080" cy="180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i="1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 data lifecycle</a:t>
            </a:r>
            <a:endParaRPr lang="en-US" sz="750" dirty="0"/>
          </a:p>
        </p:txBody>
      </p:sp>
      <p:sp>
        <p:nvSpPr>
          <p:cNvPr id="194" name="Shape 192"/>
          <p:cNvSpPr/>
          <p:nvPr/>
        </p:nvSpPr>
        <p:spPr>
          <a:xfrm>
            <a:off x="128016" y="4791456"/>
            <a:ext cx="1078992" cy="1783080"/>
          </a:xfrm>
          <a:prstGeom prst="rect">
            <a:avLst/>
          </a:prstGeom>
          <a:solidFill>
            <a:srgbClr val="5C3317"/>
          </a:solidFill>
          <a:ln w="12700">
            <a:solidFill>
              <a:srgbClr val="5C3317"/>
            </a:solidFill>
            <a:prstDash val="solid"/>
          </a:ln>
        </p:spPr>
      </p:sp>
      <p:sp>
        <p:nvSpPr>
          <p:cNvPr id="195" name="Text 193"/>
          <p:cNvSpPr/>
          <p:nvPr/>
        </p:nvSpPr>
        <p:spPr>
          <a:xfrm>
            <a:off x="182880" y="4791456"/>
            <a:ext cx="98755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800" dirty="0"/>
          </a:p>
        </p:txBody>
      </p:sp>
      <p:sp>
        <p:nvSpPr>
          <p:cNvPr id="196" name="Shape 194"/>
          <p:cNvSpPr/>
          <p:nvPr/>
        </p:nvSpPr>
        <p:spPr>
          <a:xfrm>
            <a:off x="128016" y="6574536"/>
            <a:ext cx="11923776" cy="0"/>
          </a:xfrm>
          <a:prstGeom prst="line">
            <a:avLst/>
          </a:prstGeom>
          <a:noFill/>
          <a:ln w="9525">
            <a:solidFill>
              <a:srgbClr val="B8A898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1252728" y="4791456"/>
            <a:ext cx="1389888" cy="445770"/>
          </a:xfrm>
          <a:prstGeom prst="rect">
            <a:avLst/>
          </a:prstGeom>
          <a:solidFill>
            <a:srgbClr val="EDE6DF"/>
          </a:solidFill>
          <a:ln w="6350">
            <a:solidFill>
              <a:srgbClr val="EDE6DF"/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1252728" y="4791456"/>
            <a:ext cx="45720" cy="445770"/>
          </a:xfrm>
          <a:prstGeom prst="rect">
            <a:avLst/>
          </a:prstGeom>
          <a:solidFill>
            <a:srgbClr val="5C3317"/>
          </a:solidFill>
          <a:ln w="12700">
            <a:solidFill>
              <a:srgbClr val="5C3317"/>
            </a:solidFill>
            <a:prstDash val="solid"/>
          </a:ln>
        </p:spPr>
      </p:sp>
      <p:sp>
        <p:nvSpPr>
          <p:cNvPr id="199" name="Text 197"/>
          <p:cNvSpPr/>
          <p:nvPr/>
        </p:nvSpPr>
        <p:spPr>
          <a:xfrm>
            <a:off x="1344168" y="4809744"/>
            <a:ext cx="1261872" cy="4091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Incidents</a:t>
            </a:r>
            <a:endParaRPr lang="en-US" sz="800" dirty="0"/>
          </a:p>
        </p:txBody>
      </p:sp>
      <p:sp>
        <p:nvSpPr>
          <p:cNvPr id="200" name="Shape 198"/>
          <p:cNvSpPr/>
          <p:nvPr/>
        </p:nvSpPr>
        <p:spPr>
          <a:xfrm>
            <a:off x="2688336" y="4791456"/>
            <a:ext cx="3090672" cy="445770"/>
          </a:xfrm>
          <a:prstGeom prst="rect">
            <a:avLst/>
          </a:prstGeom>
          <a:solidFill>
            <a:srgbClr val="FFFFFF"/>
          </a:solidFill>
          <a:ln w="6350">
            <a:solidFill>
              <a:srgbClr val="EDE6DF"/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2688336" y="4791456"/>
            <a:ext cx="45720" cy="445770"/>
          </a:xfrm>
          <a:prstGeom prst="rect">
            <a:avLst/>
          </a:prstGeom>
          <a:solidFill>
            <a:srgbClr val="9A7B5C"/>
          </a:solidFill>
          <a:ln w="12700">
            <a:solidFill>
              <a:srgbClr val="9A7B5C"/>
            </a:solidFill>
            <a:prstDash val="solid"/>
          </a:ln>
        </p:spPr>
      </p:sp>
      <p:sp>
        <p:nvSpPr>
          <p:cNvPr id="202" name="Text 200"/>
          <p:cNvSpPr/>
          <p:nvPr/>
        </p:nvSpPr>
        <p:spPr>
          <a:xfrm>
            <a:off x="2798064" y="483717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5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1,197 tickets</a:t>
            </a:r>
            <a:endParaRPr lang="en-US" sz="1200" dirty="0"/>
          </a:p>
        </p:txBody>
      </p:sp>
      <p:sp>
        <p:nvSpPr>
          <p:cNvPr id="203" name="Text 201"/>
          <p:cNvSpPr/>
          <p:nvPr/>
        </p:nvSpPr>
        <p:spPr>
          <a:xfrm>
            <a:off x="2798064" y="5038344"/>
            <a:ext cx="2926080" cy="180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i="1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10,967 total over 3 years</a:t>
            </a:r>
            <a:endParaRPr lang="en-US" sz="750" dirty="0"/>
          </a:p>
        </p:txBody>
      </p:sp>
      <p:sp>
        <p:nvSpPr>
          <p:cNvPr id="204" name="Shape 202"/>
          <p:cNvSpPr/>
          <p:nvPr/>
        </p:nvSpPr>
        <p:spPr>
          <a:xfrm>
            <a:off x="5824728" y="4791456"/>
            <a:ext cx="3090672" cy="445770"/>
          </a:xfrm>
          <a:prstGeom prst="rect">
            <a:avLst/>
          </a:prstGeom>
          <a:solidFill>
            <a:srgbClr val="F5F1EB"/>
          </a:solidFill>
          <a:ln w="6350">
            <a:solidFill>
              <a:srgbClr val="EDE6DF"/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5824728" y="4791456"/>
            <a:ext cx="45720" cy="445770"/>
          </a:xfrm>
          <a:prstGeom prst="rect">
            <a:avLst/>
          </a:prstGeom>
          <a:solidFill>
            <a:srgbClr val="7A4520"/>
          </a:solidFill>
          <a:ln w="12700">
            <a:solidFill>
              <a:srgbClr val="7A4520"/>
            </a:solidFill>
            <a:prstDash val="solid"/>
          </a:ln>
        </p:spPr>
      </p:sp>
      <p:sp>
        <p:nvSpPr>
          <p:cNvPr id="206" name="Text 204"/>
          <p:cNvSpPr/>
          <p:nvPr/>
        </p:nvSpPr>
        <p:spPr>
          <a:xfrm>
            <a:off x="5934456" y="4837176"/>
            <a:ext cx="2496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581 tickets</a:t>
            </a:r>
            <a:endParaRPr lang="en-US" sz="1200" dirty="0"/>
          </a:p>
        </p:txBody>
      </p:sp>
      <p:sp>
        <p:nvSpPr>
          <p:cNvPr id="207" name="Shape 205"/>
          <p:cNvSpPr/>
          <p:nvPr/>
        </p:nvSpPr>
        <p:spPr>
          <a:xfrm>
            <a:off x="8439912" y="4855464"/>
            <a:ext cx="402336" cy="164592"/>
          </a:xfrm>
          <a:prstGeom prst="rect">
            <a:avLst/>
          </a:prstGeom>
          <a:solidFill>
            <a:srgbClr val="5C7A50"/>
          </a:solidFill>
          <a:ln w="12700">
            <a:solidFill>
              <a:srgbClr val="5C7A50"/>
            </a:solidFill>
            <a:prstDash val="solid"/>
          </a:ln>
        </p:spPr>
      </p:sp>
      <p:sp>
        <p:nvSpPr>
          <p:cNvPr id="208" name="Text 206"/>
          <p:cNvSpPr/>
          <p:nvPr/>
        </p:nvSpPr>
        <p:spPr>
          <a:xfrm>
            <a:off x="8439912" y="4855464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−51%</a:t>
            </a:r>
            <a:endParaRPr lang="en-US" sz="700" dirty="0"/>
          </a:p>
        </p:txBody>
      </p:sp>
      <p:sp>
        <p:nvSpPr>
          <p:cNvPr id="209" name="Text 207"/>
          <p:cNvSpPr/>
          <p:nvPr/>
        </p:nvSpPr>
        <p:spPr>
          <a:xfrm>
            <a:off x="5934456" y="5038344"/>
            <a:ext cx="2926080" cy="180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i="1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 reduction</a:t>
            </a:r>
            <a:endParaRPr lang="en-US" sz="750" dirty="0"/>
          </a:p>
        </p:txBody>
      </p:sp>
      <p:sp>
        <p:nvSpPr>
          <p:cNvPr id="210" name="Shape 208"/>
          <p:cNvSpPr/>
          <p:nvPr/>
        </p:nvSpPr>
        <p:spPr>
          <a:xfrm>
            <a:off x="8961120" y="4791456"/>
            <a:ext cx="3090672" cy="445770"/>
          </a:xfrm>
          <a:prstGeom prst="rect">
            <a:avLst/>
          </a:prstGeom>
          <a:solidFill>
            <a:srgbClr val="F0EBE3"/>
          </a:solidFill>
          <a:ln w="6350">
            <a:solidFill>
              <a:srgbClr val="EDE6DF"/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8961120" y="4791456"/>
            <a:ext cx="45720" cy="445770"/>
          </a:xfrm>
          <a:prstGeom prst="rect">
            <a:avLst/>
          </a:prstGeom>
          <a:solidFill>
            <a:srgbClr val="5C3317"/>
          </a:solidFill>
          <a:ln w="12700">
            <a:solidFill>
              <a:srgbClr val="5C3317"/>
            </a:solidFill>
            <a:prstDash val="solid"/>
          </a:ln>
        </p:spPr>
      </p:sp>
      <p:sp>
        <p:nvSpPr>
          <p:cNvPr id="212" name="Text 210"/>
          <p:cNvSpPr/>
          <p:nvPr/>
        </p:nvSpPr>
        <p:spPr>
          <a:xfrm>
            <a:off x="9070848" y="483717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100 / yr</a:t>
            </a:r>
            <a:endParaRPr lang="en-US" sz="1200" dirty="0"/>
          </a:p>
        </p:txBody>
      </p:sp>
      <p:sp>
        <p:nvSpPr>
          <p:cNvPr id="213" name="Text 211"/>
          <p:cNvSpPr/>
          <p:nvPr/>
        </p:nvSpPr>
        <p:spPr>
          <a:xfrm>
            <a:off x="9070848" y="5038344"/>
            <a:ext cx="2926080" cy="180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i="1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ops + 7 nine's</a:t>
            </a:r>
            <a:endParaRPr lang="en-US" sz="750" dirty="0"/>
          </a:p>
        </p:txBody>
      </p:sp>
      <p:sp>
        <p:nvSpPr>
          <p:cNvPr id="214" name="Shape 212"/>
          <p:cNvSpPr/>
          <p:nvPr/>
        </p:nvSpPr>
        <p:spPr>
          <a:xfrm>
            <a:off x="1252728" y="5237226"/>
            <a:ext cx="1389888" cy="445770"/>
          </a:xfrm>
          <a:prstGeom prst="rect">
            <a:avLst/>
          </a:prstGeom>
          <a:solidFill>
            <a:srgbClr val="EDE6DF"/>
          </a:solidFill>
          <a:ln w="6350">
            <a:solidFill>
              <a:srgbClr val="EDE6DF"/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1252728" y="5237226"/>
            <a:ext cx="45720" cy="445770"/>
          </a:xfrm>
          <a:prstGeom prst="rect">
            <a:avLst/>
          </a:prstGeom>
          <a:solidFill>
            <a:srgbClr val="5C3317"/>
          </a:solidFill>
          <a:ln w="12700">
            <a:solidFill>
              <a:srgbClr val="5C3317"/>
            </a:solidFill>
            <a:prstDash val="solid"/>
          </a:ln>
        </p:spPr>
      </p:sp>
      <p:sp>
        <p:nvSpPr>
          <p:cNvPr id="216" name="Text 214"/>
          <p:cNvSpPr/>
          <p:nvPr/>
        </p:nvSpPr>
        <p:spPr>
          <a:xfrm>
            <a:off x="1344168" y="5255514"/>
            <a:ext cx="1261872" cy="4091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STP Rate</a:t>
            </a:r>
            <a:endParaRPr lang="en-US" sz="800" dirty="0"/>
          </a:p>
        </p:txBody>
      </p:sp>
      <p:sp>
        <p:nvSpPr>
          <p:cNvPr id="217" name="Shape 215"/>
          <p:cNvSpPr/>
          <p:nvPr/>
        </p:nvSpPr>
        <p:spPr>
          <a:xfrm>
            <a:off x="2688336" y="5237226"/>
            <a:ext cx="3090672" cy="445770"/>
          </a:xfrm>
          <a:prstGeom prst="rect">
            <a:avLst/>
          </a:prstGeom>
          <a:solidFill>
            <a:srgbClr val="F7F4F0"/>
          </a:solidFill>
          <a:ln w="6350">
            <a:solidFill>
              <a:srgbClr val="EDE6DF"/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2688336" y="5237226"/>
            <a:ext cx="45720" cy="445770"/>
          </a:xfrm>
          <a:prstGeom prst="rect">
            <a:avLst/>
          </a:prstGeom>
          <a:solidFill>
            <a:srgbClr val="9A7B5C"/>
          </a:solidFill>
          <a:ln w="12700">
            <a:solidFill>
              <a:srgbClr val="9A7B5C"/>
            </a:solidFill>
            <a:prstDash val="solid"/>
          </a:ln>
        </p:spPr>
      </p:sp>
      <p:sp>
        <p:nvSpPr>
          <p:cNvPr id="219" name="Text 217"/>
          <p:cNvSpPr/>
          <p:nvPr/>
        </p:nvSpPr>
        <p:spPr>
          <a:xfrm>
            <a:off x="2798064" y="528294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5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~20%</a:t>
            </a:r>
            <a:endParaRPr lang="en-US" sz="1200" dirty="0"/>
          </a:p>
        </p:txBody>
      </p:sp>
      <p:sp>
        <p:nvSpPr>
          <p:cNvPr id="220" name="Text 218"/>
          <p:cNvSpPr/>
          <p:nvPr/>
        </p:nvSpPr>
        <p:spPr>
          <a:xfrm>
            <a:off x="2798064" y="5484114"/>
            <a:ext cx="2926080" cy="180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i="1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manual processing</a:t>
            </a:r>
            <a:endParaRPr lang="en-US" sz="750" dirty="0"/>
          </a:p>
        </p:txBody>
      </p:sp>
      <p:sp>
        <p:nvSpPr>
          <p:cNvPr id="221" name="Shape 219"/>
          <p:cNvSpPr/>
          <p:nvPr/>
        </p:nvSpPr>
        <p:spPr>
          <a:xfrm>
            <a:off x="5824728" y="5237226"/>
            <a:ext cx="3090672" cy="445770"/>
          </a:xfrm>
          <a:prstGeom prst="rect">
            <a:avLst/>
          </a:prstGeom>
          <a:solidFill>
            <a:srgbClr val="EFEBE4"/>
          </a:solidFill>
          <a:ln w="6350">
            <a:solidFill>
              <a:srgbClr val="EDE6DF"/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5824728" y="5237226"/>
            <a:ext cx="45720" cy="445770"/>
          </a:xfrm>
          <a:prstGeom prst="rect">
            <a:avLst/>
          </a:prstGeom>
          <a:solidFill>
            <a:srgbClr val="7A4520"/>
          </a:solidFill>
          <a:ln w="12700">
            <a:solidFill>
              <a:srgbClr val="7A4520"/>
            </a:solidFill>
            <a:prstDash val="solid"/>
          </a:ln>
        </p:spPr>
      </p:sp>
      <p:sp>
        <p:nvSpPr>
          <p:cNvPr id="223" name="Text 221"/>
          <p:cNvSpPr/>
          <p:nvPr/>
        </p:nvSpPr>
        <p:spPr>
          <a:xfrm>
            <a:off x="5934456" y="5282946"/>
            <a:ext cx="2496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~30–40%</a:t>
            </a:r>
            <a:endParaRPr lang="en-US" sz="1200" dirty="0"/>
          </a:p>
        </p:txBody>
      </p:sp>
      <p:sp>
        <p:nvSpPr>
          <p:cNvPr id="224" name="Shape 222"/>
          <p:cNvSpPr/>
          <p:nvPr/>
        </p:nvSpPr>
        <p:spPr>
          <a:xfrm>
            <a:off x="8439912" y="5301234"/>
            <a:ext cx="402336" cy="164592"/>
          </a:xfrm>
          <a:prstGeom prst="rect">
            <a:avLst/>
          </a:prstGeom>
          <a:solidFill>
            <a:srgbClr val="7A4520"/>
          </a:solidFill>
          <a:ln w="12700">
            <a:solidFill>
              <a:srgbClr val="7A4520"/>
            </a:solidFill>
            <a:prstDash val="solid"/>
          </a:ln>
        </p:spPr>
      </p:sp>
      <p:sp>
        <p:nvSpPr>
          <p:cNvPr id="225" name="Text 223"/>
          <p:cNvSpPr/>
          <p:nvPr/>
        </p:nvSpPr>
        <p:spPr>
          <a:xfrm>
            <a:off x="8439912" y="5301234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700" dirty="0"/>
          </a:p>
        </p:txBody>
      </p:sp>
      <p:sp>
        <p:nvSpPr>
          <p:cNvPr id="226" name="Text 224"/>
          <p:cNvSpPr/>
          <p:nvPr/>
        </p:nvSpPr>
        <p:spPr>
          <a:xfrm>
            <a:off x="5934456" y="5484114"/>
            <a:ext cx="2926080" cy="180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i="1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quick-win improvements</a:t>
            </a:r>
            <a:endParaRPr lang="en-US" sz="750" dirty="0"/>
          </a:p>
        </p:txBody>
      </p:sp>
      <p:sp>
        <p:nvSpPr>
          <p:cNvPr id="227" name="Shape 225"/>
          <p:cNvSpPr/>
          <p:nvPr/>
        </p:nvSpPr>
        <p:spPr>
          <a:xfrm>
            <a:off x="8961120" y="5237226"/>
            <a:ext cx="3090672" cy="445770"/>
          </a:xfrm>
          <a:prstGeom prst="rect">
            <a:avLst/>
          </a:prstGeom>
          <a:solidFill>
            <a:srgbClr val="E8E2DA"/>
          </a:solidFill>
          <a:ln w="6350">
            <a:solidFill>
              <a:srgbClr val="EDE6DF"/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8961120" y="5237226"/>
            <a:ext cx="45720" cy="445770"/>
          </a:xfrm>
          <a:prstGeom prst="rect">
            <a:avLst/>
          </a:prstGeom>
          <a:solidFill>
            <a:srgbClr val="5C3317"/>
          </a:solidFill>
          <a:ln w="12700">
            <a:solidFill>
              <a:srgbClr val="5C3317"/>
            </a:solidFill>
            <a:prstDash val="solid"/>
          </a:ln>
        </p:spPr>
      </p:sp>
      <p:sp>
        <p:nvSpPr>
          <p:cNvPr id="229" name="Text 227"/>
          <p:cNvSpPr/>
          <p:nvPr/>
        </p:nvSpPr>
        <p:spPr>
          <a:xfrm>
            <a:off x="9070848" y="528294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~90%</a:t>
            </a:r>
            <a:endParaRPr lang="en-US" sz="1200" dirty="0"/>
          </a:p>
        </p:txBody>
      </p:sp>
      <p:sp>
        <p:nvSpPr>
          <p:cNvPr id="230" name="Text 228"/>
          <p:cNvSpPr/>
          <p:nvPr/>
        </p:nvSpPr>
        <p:spPr>
          <a:xfrm>
            <a:off x="9070848" y="5484114"/>
            <a:ext cx="2926080" cy="180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i="1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Maker / Checker automation</a:t>
            </a:r>
            <a:endParaRPr lang="en-US" sz="750" dirty="0"/>
          </a:p>
        </p:txBody>
      </p:sp>
      <p:sp>
        <p:nvSpPr>
          <p:cNvPr id="231" name="Shape 229"/>
          <p:cNvSpPr/>
          <p:nvPr/>
        </p:nvSpPr>
        <p:spPr>
          <a:xfrm>
            <a:off x="1252728" y="5682996"/>
            <a:ext cx="1389888" cy="445770"/>
          </a:xfrm>
          <a:prstGeom prst="rect">
            <a:avLst/>
          </a:prstGeom>
          <a:solidFill>
            <a:srgbClr val="EDE6DF"/>
          </a:solidFill>
          <a:ln w="6350">
            <a:solidFill>
              <a:srgbClr val="EDE6DF"/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1252728" y="5682996"/>
            <a:ext cx="45720" cy="445770"/>
          </a:xfrm>
          <a:prstGeom prst="rect">
            <a:avLst/>
          </a:prstGeom>
          <a:solidFill>
            <a:srgbClr val="5C3317"/>
          </a:solidFill>
          <a:ln w="12700">
            <a:solidFill>
              <a:srgbClr val="5C3317"/>
            </a:solidFill>
            <a:prstDash val="solid"/>
          </a:ln>
        </p:spPr>
      </p:sp>
      <p:sp>
        <p:nvSpPr>
          <p:cNvPr id="233" name="Text 231"/>
          <p:cNvSpPr/>
          <p:nvPr/>
        </p:nvSpPr>
        <p:spPr>
          <a:xfrm>
            <a:off x="1344168" y="5701284"/>
            <a:ext cx="1261872" cy="4091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Cost / Txn</a:t>
            </a:r>
            <a:endParaRPr lang="en-US" sz="800" dirty="0"/>
          </a:p>
        </p:txBody>
      </p:sp>
      <p:sp>
        <p:nvSpPr>
          <p:cNvPr id="234" name="Shape 232"/>
          <p:cNvSpPr/>
          <p:nvPr/>
        </p:nvSpPr>
        <p:spPr>
          <a:xfrm>
            <a:off x="2688336" y="5682996"/>
            <a:ext cx="3090672" cy="445770"/>
          </a:xfrm>
          <a:prstGeom prst="rect">
            <a:avLst/>
          </a:prstGeom>
          <a:solidFill>
            <a:srgbClr val="FFFFFF"/>
          </a:solidFill>
          <a:ln w="6350">
            <a:solidFill>
              <a:srgbClr val="EDE6DF"/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2688336" y="5682996"/>
            <a:ext cx="45720" cy="445770"/>
          </a:xfrm>
          <a:prstGeom prst="rect">
            <a:avLst/>
          </a:prstGeom>
          <a:solidFill>
            <a:srgbClr val="9A7B5C"/>
          </a:solidFill>
          <a:ln w="12700">
            <a:solidFill>
              <a:srgbClr val="9A7B5C"/>
            </a:solidFill>
            <a:prstDash val="solid"/>
          </a:ln>
        </p:spPr>
      </p:sp>
      <p:sp>
        <p:nvSpPr>
          <p:cNvPr id="236" name="Text 234"/>
          <p:cNvSpPr/>
          <p:nvPr/>
        </p:nvSpPr>
        <p:spPr>
          <a:xfrm>
            <a:off x="2798064" y="572871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5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$40.7</a:t>
            </a:r>
            <a:endParaRPr lang="en-US" sz="1200" dirty="0"/>
          </a:p>
        </p:txBody>
      </p:sp>
      <p:sp>
        <p:nvSpPr>
          <p:cNvPr id="237" name="Text 235"/>
          <p:cNvSpPr/>
          <p:nvPr/>
        </p:nvSpPr>
        <p:spPr>
          <a:xfrm>
            <a:off x="2798064" y="5929884"/>
            <a:ext cx="2926080" cy="180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i="1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overhead</a:t>
            </a:r>
            <a:endParaRPr lang="en-US" sz="750" dirty="0"/>
          </a:p>
        </p:txBody>
      </p:sp>
      <p:sp>
        <p:nvSpPr>
          <p:cNvPr id="238" name="Shape 236"/>
          <p:cNvSpPr/>
          <p:nvPr/>
        </p:nvSpPr>
        <p:spPr>
          <a:xfrm>
            <a:off x="5824728" y="5682996"/>
            <a:ext cx="3090672" cy="445770"/>
          </a:xfrm>
          <a:prstGeom prst="rect">
            <a:avLst/>
          </a:prstGeom>
          <a:solidFill>
            <a:srgbClr val="F5F1EB"/>
          </a:solidFill>
          <a:ln w="6350">
            <a:solidFill>
              <a:srgbClr val="EDE6DF"/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5824728" y="5682996"/>
            <a:ext cx="45720" cy="445770"/>
          </a:xfrm>
          <a:prstGeom prst="rect">
            <a:avLst/>
          </a:prstGeom>
          <a:solidFill>
            <a:srgbClr val="7A4520"/>
          </a:solidFill>
          <a:ln w="12700">
            <a:solidFill>
              <a:srgbClr val="7A4520"/>
            </a:solidFill>
            <a:prstDash val="solid"/>
          </a:ln>
        </p:spPr>
      </p:sp>
      <p:sp>
        <p:nvSpPr>
          <p:cNvPr id="240" name="Text 238"/>
          <p:cNvSpPr/>
          <p:nvPr/>
        </p:nvSpPr>
        <p:spPr>
          <a:xfrm>
            <a:off x="5934456" y="5728716"/>
            <a:ext cx="2496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Reducing</a:t>
            </a:r>
            <a:endParaRPr lang="en-US" sz="1200" dirty="0"/>
          </a:p>
        </p:txBody>
      </p:sp>
      <p:sp>
        <p:nvSpPr>
          <p:cNvPr id="241" name="Shape 239"/>
          <p:cNvSpPr/>
          <p:nvPr/>
        </p:nvSpPr>
        <p:spPr>
          <a:xfrm>
            <a:off x="8439912" y="5747004"/>
            <a:ext cx="402336" cy="164592"/>
          </a:xfrm>
          <a:prstGeom prst="rect">
            <a:avLst/>
          </a:prstGeom>
          <a:solidFill>
            <a:srgbClr val="5C7A50"/>
          </a:solidFill>
          <a:ln w="12700">
            <a:solidFill>
              <a:srgbClr val="5C7A50"/>
            </a:solidFill>
            <a:prstDash val="solid"/>
          </a:ln>
        </p:spPr>
      </p:sp>
      <p:sp>
        <p:nvSpPr>
          <p:cNvPr id="242" name="Text 240"/>
          <p:cNvSpPr/>
          <p:nvPr/>
        </p:nvSpPr>
        <p:spPr>
          <a:xfrm>
            <a:off x="8439912" y="5747004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700" dirty="0"/>
          </a:p>
        </p:txBody>
      </p:sp>
      <p:sp>
        <p:nvSpPr>
          <p:cNvPr id="243" name="Text 241"/>
          <p:cNvSpPr/>
          <p:nvPr/>
        </p:nvSpPr>
        <p:spPr>
          <a:xfrm>
            <a:off x="5934456" y="5929884"/>
            <a:ext cx="2926080" cy="180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i="1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rationalisation underway</a:t>
            </a:r>
            <a:endParaRPr lang="en-US" sz="750" dirty="0"/>
          </a:p>
        </p:txBody>
      </p:sp>
      <p:sp>
        <p:nvSpPr>
          <p:cNvPr id="244" name="Shape 242"/>
          <p:cNvSpPr/>
          <p:nvPr/>
        </p:nvSpPr>
        <p:spPr>
          <a:xfrm>
            <a:off x="8961120" y="5682996"/>
            <a:ext cx="3090672" cy="445770"/>
          </a:xfrm>
          <a:prstGeom prst="rect">
            <a:avLst/>
          </a:prstGeom>
          <a:solidFill>
            <a:srgbClr val="F0EBE3"/>
          </a:solidFill>
          <a:ln w="6350">
            <a:solidFill>
              <a:srgbClr val="EDE6DF"/>
            </a:solidFill>
            <a:prstDash val="solid"/>
          </a:ln>
        </p:spPr>
      </p:sp>
      <p:sp>
        <p:nvSpPr>
          <p:cNvPr id="245" name="Shape 243"/>
          <p:cNvSpPr/>
          <p:nvPr/>
        </p:nvSpPr>
        <p:spPr>
          <a:xfrm>
            <a:off x="8961120" y="5682996"/>
            <a:ext cx="45720" cy="445770"/>
          </a:xfrm>
          <a:prstGeom prst="rect">
            <a:avLst/>
          </a:prstGeom>
          <a:solidFill>
            <a:srgbClr val="5C3317"/>
          </a:solidFill>
          <a:ln w="12700">
            <a:solidFill>
              <a:srgbClr val="5C3317"/>
            </a:solidFill>
            <a:prstDash val="solid"/>
          </a:ln>
        </p:spPr>
      </p:sp>
      <p:sp>
        <p:nvSpPr>
          <p:cNvPr id="246" name="Text 244"/>
          <p:cNvSpPr/>
          <p:nvPr/>
        </p:nvSpPr>
        <p:spPr>
          <a:xfrm>
            <a:off x="9070848" y="572871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~$10–15</a:t>
            </a:r>
            <a:endParaRPr lang="en-US" sz="1200" dirty="0"/>
          </a:p>
        </p:txBody>
      </p:sp>
      <p:sp>
        <p:nvSpPr>
          <p:cNvPr id="247" name="Text 245"/>
          <p:cNvSpPr/>
          <p:nvPr/>
        </p:nvSpPr>
        <p:spPr>
          <a:xfrm>
            <a:off x="9070848" y="5929884"/>
            <a:ext cx="2926080" cy="180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i="1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 efficiency</a:t>
            </a:r>
            <a:endParaRPr lang="en-US" sz="750" dirty="0"/>
          </a:p>
        </p:txBody>
      </p:sp>
      <p:sp>
        <p:nvSpPr>
          <p:cNvPr id="248" name="Shape 246"/>
          <p:cNvSpPr/>
          <p:nvPr/>
        </p:nvSpPr>
        <p:spPr>
          <a:xfrm>
            <a:off x="1252728" y="6128766"/>
            <a:ext cx="1389888" cy="445770"/>
          </a:xfrm>
          <a:prstGeom prst="rect">
            <a:avLst/>
          </a:prstGeom>
          <a:solidFill>
            <a:srgbClr val="EDE6DF"/>
          </a:solidFill>
          <a:ln w="6350">
            <a:solidFill>
              <a:srgbClr val="EDE6DF"/>
            </a:solidFill>
            <a:prstDash val="solid"/>
          </a:ln>
        </p:spPr>
      </p:sp>
      <p:sp>
        <p:nvSpPr>
          <p:cNvPr id="249" name="Shape 247"/>
          <p:cNvSpPr/>
          <p:nvPr/>
        </p:nvSpPr>
        <p:spPr>
          <a:xfrm>
            <a:off x="1252728" y="6128766"/>
            <a:ext cx="45720" cy="445770"/>
          </a:xfrm>
          <a:prstGeom prst="rect">
            <a:avLst/>
          </a:prstGeom>
          <a:solidFill>
            <a:srgbClr val="5C3317"/>
          </a:solidFill>
          <a:ln w="12700">
            <a:solidFill>
              <a:srgbClr val="5C3317"/>
            </a:solidFill>
            <a:prstDash val="solid"/>
          </a:ln>
        </p:spPr>
      </p:sp>
      <p:sp>
        <p:nvSpPr>
          <p:cNvPr id="250" name="Text 248"/>
          <p:cNvSpPr/>
          <p:nvPr/>
        </p:nvSpPr>
        <p:spPr>
          <a:xfrm>
            <a:off x="1344168" y="6147054"/>
            <a:ext cx="1261872" cy="4091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Frequency</a:t>
            </a:r>
            <a:endParaRPr lang="en-US" sz="800" dirty="0"/>
          </a:p>
        </p:txBody>
      </p:sp>
      <p:sp>
        <p:nvSpPr>
          <p:cNvPr id="251" name="Shape 249"/>
          <p:cNvSpPr/>
          <p:nvPr/>
        </p:nvSpPr>
        <p:spPr>
          <a:xfrm>
            <a:off x="2688336" y="6128766"/>
            <a:ext cx="3090672" cy="445770"/>
          </a:xfrm>
          <a:prstGeom prst="rect">
            <a:avLst/>
          </a:prstGeom>
          <a:solidFill>
            <a:srgbClr val="F7F4F0"/>
          </a:solidFill>
          <a:ln w="6350">
            <a:solidFill>
              <a:srgbClr val="EDE6DF"/>
            </a:solidFill>
            <a:prstDash val="solid"/>
          </a:ln>
        </p:spPr>
      </p:sp>
      <p:sp>
        <p:nvSpPr>
          <p:cNvPr id="252" name="Shape 250"/>
          <p:cNvSpPr/>
          <p:nvPr/>
        </p:nvSpPr>
        <p:spPr>
          <a:xfrm>
            <a:off x="2688336" y="6128766"/>
            <a:ext cx="45720" cy="445770"/>
          </a:xfrm>
          <a:prstGeom prst="rect">
            <a:avLst/>
          </a:prstGeom>
          <a:solidFill>
            <a:srgbClr val="9A7B5C"/>
          </a:solidFill>
          <a:ln w="12700">
            <a:solidFill>
              <a:srgbClr val="9A7B5C"/>
            </a:solidFill>
            <a:prstDash val="solid"/>
          </a:ln>
        </p:spPr>
      </p:sp>
      <p:sp>
        <p:nvSpPr>
          <p:cNvPr id="253" name="Text 251"/>
          <p:cNvSpPr/>
          <p:nvPr/>
        </p:nvSpPr>
        <p:spPr>
          <a:xfrm>
            <a:off x="2798064" y="617448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5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1× / month</a:t>
            </a:r>
            <a:endParaRPr lang="en-US" sz="1200" dirty="0"/>
          </a:p>
        </p:txBody>
      </p:sp>
      <p:sp>
        <p:nvSpPr>
          <p:cNvPr id="254" name="Text 252"/>
          <p:cNvSpPr/>
          <p:nvPr/>
        </p:nvSpPr>
        <p:spPr>
          <a:xfrm>
            <a:off x="2798064" y="6375654"/>
            <a:ext cx="2926080" cy="180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i="1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industry 10× / day</a:t>
            </a:r>
            <a:endParaRPr lang="en-US" sz="750" dirty="0"/>
          </a:p>
        </p:txBody>
      </p:sp>
      <p:sp>
        <p:nvSpPr>
          <p:cNvPr id="255" name="Shape 253"/>
          <p:cNvSpPr/>
          <p:nvPr/>
        </p:nvSpPr>
        <p:spPr>
          <a:xfrm>
            <a:off x="5824728" y="6128766"/>
            <a:ext cx="3090672" cy="445770"/>
          </a:xfrm>
          <a:prstGeom prst="rect">
            <a:avLst/>
          </a:prstGeom>
          <a:solidFill>
            <a:srgbClr val="EFEBE4"/>
          </a:solidFill>
          <a:ln w="6350">
            <a:solidFill>
              <a:srgbClr val="EDE6DF"/>
            </a:solidFill>
            <a:prstDash val="solid"/>
          </a:ln>
        </p:spPr>
      </p:sp>
      <p:sp>
        <p:nvSpPr>
          <p:cNvPr id="256" name="Shape 254"/>
          <p:cNvSpPr/>
          <p:nvPr/>
        </p:nvSpPr>
        <p:spPr>
          <a:xfrm>
            <a:off x="5824728" y="6128766"/>
            <a:ext cx="45720" cy="445770"/>
          </a:xfrm>
          <a:prstGeom prst="rect">
            <a:avLst/>
          </a:prstGeom>
          <a:solidFill>
            <a:srgbClr val="7A4520"/>
          </a:solidFill>
          <a:ln w="12700">
            <a:solidFill>
              <a:srgbClr val="7A4520"/>
            </a:solidFill>
            <a:prstDash val="solid"/>
          </a:ln>
        </p:spPr>
      </p:sp>
      <p:sp>
        <p:nvSpPr>
          <p:cNvPr id="257" name="Text 255"/>
          <p:cNvSpPr/>
          <p:nvPr/>
        </p:nvSpPr>
        <p:spPr>
          <a:xfrm>
            <a:off x="5934456" y="6174486"/>
            <a:ext cx="2496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Increasing</a:t>
            </a:r>
            <a:endParaRPr lang="en-US" sz="1200" dirty="0"/>
          </a:p>
        </p:txBody>
      </p:sp>
      <p:sp>
        <p:nvSpPr>
          <p:cNvPr id="258" name="Shape 256"/>
          <p:cNvSpPr/>
          <p:nvPr/>
        </p:nvSpPr>
        <p:spPr>
          <a:xfrm>
            <a:off x="8439912" y="6192774"/>
            <a:ext cx="402336" cy="164592"/>
          </a:xfrm>
          <a:prstGeom prst="rect">
            <a:avLst/>
          </a:prstGeom>
          <a:solidFill>
            <a:srgbClr val="7A4520"/>
          </a:solidFill>
          <a:ln w="12700">
            <a:solidFill>
              <a:srgbClr val="7A4520"/>
            </a:solidFill>
            <a:prstDash val="solid"/>
          </a:ln>
        </p:spPr>
      </p:sp>
      <p:sp>
        <p:nvSpPr>
          <p:cNvPr id="259" name="Text 257"/>
          <p:cNvSpPr/>
          <p:nvPr/>
        </p:nvSpPr>
        <p:spPr>
          <a:xfrm>
            <a:off x="8439912" y="6192774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700" dirty="0"/>
          </a:p>
        </p:txBody>
      </p:sp>
      <p:sp>
        <p:nvSpPr>
          <p:cNvPr id="260" name="Text 258"/>
          <p:cNvSpPr/>
          <p:nvPr/>
        </p:nvSpPr>
        <p:spPr>
          <a:xfrm>
            <a:off x="5934456" y="6375654"/>
            <a:ext cx="2926080" cy="180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i="1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 active</a:t>
            </a:r>
            <a:endParaRPr lang="en-US" sz="750" dirty="0"/>
          </a:p>
        </p:txBody>
      </p:sp>
      <p:sp>
        <p:nvSpPr>
          <p:cNvPr id="261" name="Shape 259"/>
          <p:cNvSpPr/>
          <p:nvPr/>
        </p:nvSpPr>
        <p:spPr>
          <a:xfrm>
            <a:off x="8961120" y="6128766"/>
            <a:ext cx="3090672" cy="445770"/>
          </a:xfrm>
          <a:prstGeom prst="rect">
            <a:avLst/>
          </a:prstGeom>
          <a:solidFill>
            <a:srgbClr val="E8E2DA"/>
          </a:solidFill>
          <a:ln w="6350">
            <a:solidFill>
              <a:srgbClr val="EDE6DF"/>
            </a:solidFill>
            <a:prstDash val="solid"/>
          </a:ln>
        </p:spPr>
      </p:sp>
      <p:sp>
        <p:nvSpPr>
          <p:cNvPr id="262" name="Shape 260"/>
          <p:cNvSpPr/>
          <p:nvPr/>
        </p:nvSpPr>
        <p:spPr>
          <a:xfrm>
            <a:off x="8961120" y="6128766"/>
            <a:ext cx="45720" cy="445770"/>
          </a:xfrm>
          <a:prstGeom prst="rect">
            <a:avLst/>
          </a:prstGeom>
          <a:solidFill>
            <a:srgbClr val="5C3317"/>
          </a:solidFill>
          <a:ln w="12700">
            <a:solidFill>
              <a:srgbClr val="5C3317"/>
            </a:solidFill>
            <a:prstDash val="solid"/>
          </a:ln>
        </p:spPr>
      </p:sp>
      <p:sp>
        <p:nvSpPr>
          <p:cNvPr id="263" name="Text 261"/>
          <p:cNvSpPr/>
          <p:nvPr/>
        </p:nvSpPr>
        <p:spPr>
          <a:xfrm>
            <a:off x="9070848" y="617448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/ on-demand</a:t>
            </a:r>
            <a:endParaRPr lang="en-US" sz="1200" dirty="0"/>
          </a:p>
        </p:txBody>
      </p:sp>
      <p:sp>
        <p:nvSpPr>
          <p:cNvPr id="264" name="Text 262"/>
          <p:cNvSpPr/>
          <p:nvPr/>
        </p:nvSpPr>
        <p:spPr>
          <a:xfrm>
            <a:off x="9070848" y="6375654"/>
            <a:ext cx="2926080" cy="180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i="1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blue/green zero-downtime</a:t>
            </a:r>
            <a:endParaRPr lang="en-US" sz="750" dirty="0"/>
          </a:p>
        </p:txBody>
      </p:sp>
      <p:sp>
        <p:nvSpPr>
          <p:cNvPr id="265" name="Text 263"/>
          <p:cNvSpPr/>
          <p:nvPr/>
        </p:nvSpPr>
        <p:spPr>
          <a:xfrm>
            <a:off x="365760" y="6675120"/>
            <a:ext cx="11430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89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Trade Platform Migration Strategy  ·  2025–2030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841248"/>
          </a:xfrm>
          <a:prstGeom prst="rect">
            <a:avLst/>
          </a:prstGeom>
          <a:solidFill>
            <a:srgbClr val="5C3317"/>
          </a:solidFill>
          <a:ln/>
        </p:spPr>
      </p:sp>
      <p:sp>
        <p:nvSpPr>
          <p:cNvPr id="4" name="Shape 2"/>
          <p:cNvSpPr/>
          <p:nvPr/>
        </p:nvSpPr>
        <p:spPr>
          <a:xfrm>
            <a:off x="109728" y="841248"/>
            <a:ext cx="12051792" cy="0"/>
          </a:xfrm>
          <a:prstGeom prst="line">
            <a:avLst/>
          </a:prstGeom>
          <a:noFill/>
          <a:ln w="12700">
            <a:solidFill>
              <a:srgbClr val="C9A88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5C3317"/>
          </a:solidFill>
          <a:ln/>
        </p:spPr>
      </p:sp>
      <p:sp>
        <p:nvSpPr>
          <p:cNvPr id="6" name="Text 4"/>
          <p:cNvSpPr/>
          <p:nvPr/>
        </p:nvSpPr>
        <p:spPr>
          <a:xfrm>
            <a:off x="292608" y="91440"/>
            <a:ext cx="11521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Strategic Themes &amp; Non-Negotiable Priorities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292608" y="585216"/>
            <a:ext cx="11521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execution pillars that apply across every phase of the programme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01168" y="1005840"/>
            <a:ext cx="5669280" cy="1572768"/>
          </a:xfrm>
          <a:prstGeom prst="rect">
            <a:avLst/>
          </a:prstGeom>
          <a:solidFill>
            <a:srgbClr val="F3E8DE"/>
          </a:solidFill>
          <a:ln w="9525">
            <a:solidFill>
              <a:srgbClr val="D6CCC2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01168" y="1005840"/>
            <a:ext cx="64008" cy="1572768"/>
          </a:xfrm>
          <a:prstGeom prst="rect">
            <a:avLst/>
          </a:prstGeom>
          <a:solidFill>
            <a:srgbClr val="5C3317"/>
          </a:solidFill>
          <a:ln w="12700">
            <a:solidFill>
              <a:srgbClr val="5C331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11338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50976" y="1133856"/>
            <a:ext cx="4773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Modernise, Don't Patch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572768"/>
            <a:ext cx="5394960" cy="0"/>
          </a:xfrm>
          <a:prstGeom prst="line">
            <a:avLst/>
          </a:prstGeom>
          <a:noFill/>
          <a:ln w="6350">
            <a:solidFill>
              <a:srgbClr val="D6CCC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1645920"/>
            <a:ext cx="53766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Mule workflows and the Oracle monolith with event-driven microservices. Every decision evaluated against commercialisability from day one. Patching only defers and multiplies the cost.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053328" y="1005840"/>
            <a:ext cx="5925312" cy="1572768"/>
          </a:xfrm>
          <a:prstGeom prst="rect">
            <a:avLst/>
          </a:prstGeom>
          <a:solidFill>
            <a:srgbClr val="F3E8DE"/>
          </a:solidFill>
          <a:ln w="9525">
            <a:solidFill>
              <a:srgbClr val="D6CCC2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53328" y="1005840"/>
            <a:ext cx="64008" cy="1572768"/>
          </a:xfrm>
          <a:prstGeom prst="rect">
            <a:avLst/>
          </a:prstGeom>
          <a:solidFill>
            <a:srgbClr val="2B5187"/>
          </a:solidFill>
          <a:ln w="12700">
            <a:solidFill>
              <a:srgbClr val="2B518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36208" y="11338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51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803136" y="1133856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Provider-Agnostic Core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17920" y="1572768"/>
            <a:ext cx="5650992" cy="0"/>
          </a:xfrm>
          <a:prstGeom prst="line">
            <a:avLst/>
          </a:prstGeom>
          <a:noFill/>
          <a:ln w="6350">
            <a:solidFill>
              <a:srgbClr val="D6CCC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36208" y="1645920"/>
            <a:ext cx="563270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the processing layer so Loan IQ or Absolute can be swapped without any frontend impact. Eliminates vendor lock-in, accelerates change, and reduces contractual risk.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01168" y="2743200"/>
            <a:ext cx="5669280" cy="1572768"/>
          </a:xfrm>
          <a:prstGeom prst="rect">
            <a:avLst/>
          </a:prstGeom>
          <a:solidFill>
            <a:srgbClr val="FEF0D4"/>
          </a:solidFill>
          <a:ln w="9525">
            <a:solidFill>
              <a:srgbClr val="D6CCC2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01168" y="2743200"/>
            <a:ext cx="64008" cy="1572768"/>
          </a:xfrm>
          <a:prstGeom prst="rect">
            <a:avLst/>
          </a:prstGeom>
          <a:solidFill>
            <a:srgbClr val="2F6B3E"/>
          </a:solidFill>
          <a:ln w="12700">
            <a:solidFill>
              <a:srgbClr val="2F6B3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" y="28712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F6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50976" y="2871216"/>
            <a:ext cx="4773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AI-First Operations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65760" y="3310128"/>
            <a:ext cx="5394960" cy="0"/>
          </a:xfrm>
          <a:prstGeom prst="line">
            <a:avLst/>
          </a:prstGeom>
          <a:noFill/>
          <a:ln w="6350">
            <a:solidFill>
              <a:srgbClr val="D6CCC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4048" y="3383280"/>
            <a:ext cx="53766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from AI-assisted (R1) to fully automated Maker/Checker (R2). Human involvement reserved for truly exceptional cases. Target &gt;95% document accuracy, ~90% STP by 2030.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053328" y="2743200"/>
            <a:ext cx="5925312" cy="1572768"/>
          </a:xfrm>
          <a:prstGeom prst="rect">
            <a:avLst/>
          </a:prstGeom>
          <a:solidFill>
            <a:srgbClr val="FEF0D4"/>
          </a:solidFill>
          <a:ln w="9525">
            <a:solidFill>
              <a:srgbClr val="D6CCC2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053328" y="2743200"/>
            <a:ext cx="64008" cy="1572768"/>
          </a:xfrm>
          <a:prstGeom prst="rect">
            <a:avLst/>
          </a:prstGeom>
          <a:solidFill>
            <a:srgbClr val="9B6010"/>
          </a:solidFill>
          <a:ln w="12700">
            <a:solidFill>
              <a:srgbClr val="9B601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36208" y="28712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B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803136" y="2871216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Capabilities as Big Rocks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217920" y="3310128"/>
            <a:ext cx="5650992" cy="0"/>
          </a:xfrm>
          <a:prstGeom prst="line">
            <a:avLst/>
          </a:prstGeom>
          <a:noFill/>
          <a:ln w="6350">
            <a:solidFill>
              <a:srgbClr val="D6CCC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36208" y="3383280"/>
            <a:ext cx="563270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Tokenisation, fintech integration, GSCF-like trade distribution, and deal management are competitive necessities — not optional features — to reach $1B revenue.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01168" y="4480560"/>
            <a:ext cx="5669280" cy="1572768"/>
          </a:xfrm>
          <a:prstGeom prst="rect">
            <a:avLst/>
          </a:prstGeom>
          <a:solidFill>
            <a:srgbClr val="F3E8DE"/>
          </a:solidFill>
          <a:ln w="9525">
            <a:solidFill>
              <a:srgbClr val="D6CCC2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01168" y="4480560"/>
            <a:ext cx="64008" cy="1572768"/>
          </a:xfrm>
          <a:prstGeom prst="rect">
            <a:avLst/>
          </a:prstGeom>
          <a:solidFill>
            <a:srgbClr val="5C3317"/>
          </a:solidFill>
          <a:ln w="12700">
            <a:solidFill>
              <a:srgbClr val="5C331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84048" y="46085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950976" y="4608576"/>
            <a:ext cx="4773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as a Product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365760" y="5047488"/>
            <a:ext cx="5394960" cy="0"/>
          </a:xfrm>
          <a:prstGeom prst="line">
            <a:avLst/>
          </a:prstGeom>
          <a:noFill/>
          <a:ln w="6350">
            <a:solidFill>
              <a:srgbClr val="D6CCC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84048" y="5120640"/>
            <a:ext cx="53766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End-state is commercialisable and multi-tenant. Every architecture decision must answer: 'Can we sell this?' The Connector and API layer unlock a direct new revenue stream.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053328" y="4480560"/>
            <a:ext cx="5925312" cy="1572768"/>
          </a:xfrm>
          <a:prstGeom prst="rect">
            <a:avLst/>
          </a:prstGeom>
          <a:solidFill>
            <a:srgbClr val="F3E8DE"/>
          </a:solidFill>
          <a:ln w="19050">
            <a:solidFill>
              <a:srgbClr val="C9A882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053328" y="4480560"/>
            <a:ext cx="64008" cy="1572768"/>
          </a:xfrm>
          <a:prstGeom prst="rect">
            <a:avLst/>
          </a:prstGeom>
          <a:solidFill>
            <a:srgbClr val="5C3317"/>
          </a:solidFill>
          <a:ln/>
        </p:spPr>
      </p:sp>
      <p:sp>
        <p:nvSpPr>
          <p:cNvPr id="40" name="Shape 38"/>
          <p:cNvSpPr/>
          <p:nvPr/>
        </p:nvSpPr>
        <p:spPr>
          <a:xfrm>
            <a:off x="6254496" y="5138928"/>
            <a:ext cx="5376672" cy="0"/>
          </a:xfrm>
          <a:prstGeom prst="line">
            <a:avLst/>
          </a:prstGeom>
          <a:noFill/>
          <a:ln w="6350">
            <a:solidFill>
              <a:srgbClr val="C9A88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54496" y="4608576"/>
            <a:ext cx="5577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"This is what we have  →  These are the constraints  →</a:t>
            </a: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what must change to scale."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254496" y="5596128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Guiding Principle  ·  Omar Review  ·  2025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65760" y="6675120"/>
            <a:ext cx="11430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89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Trade Platform Migration Strategy  ·  2025–2030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2026-02-24T12:52:55Z</dcterms:created>
  <dcterms:modified xsi:type="dcterms:W3CDTF">2026-02-24T12:52:55Z</dcterms:modified>
</cp:coreProperties>
</file>