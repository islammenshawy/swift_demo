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0"/>
            <a:ext cx="91440" cy="685800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457200"/>
            <a:ext cx="3840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973568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56032"/>
            <a:ext cx="2011680" cy="274320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Roadmap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$1B Platform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4754880" cy="0"/>
          </a:xfrm>
          <a:prstGeom prst="line">
            <a:avLst/>
          </a:prstGeom>
          <a:noFill/>
          <a:ln w="31750">
            <a:solidFill>
              <a:srgbClr val="5C33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55264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legacy monolith to unified,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AI-native trade finance platform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4315968"/>
            <a:ext cx="1700784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69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→ ~90%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0" y="4315968"/>
            <a:ext cx="1700784" cy="6400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17" name="Text 15"/>
          <p:cNvSpPr/>
          <p:nvPr/>
        </p:nvSpPr>
        <p:spPr>
          <a:xfrm>
            <a:off x="23957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957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 → 1 hr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0" y="4315968"/>
            <a:ext cx="1700784" cy="6400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21" name="Text 19"/>
          <p:cNvSpPr/>
          <p:nvPr/>
        </p:nvSpPr>
        <p:spPr>
          <a:xfrm>
            <a:off x="42245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245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9's → 7 9's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4315968"/>
            <a:ext cx="1700784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25" name="Text 23"/>
          <p:cNvSpPr/>
          <p:nvPr/>
        </p:nvSpPr>
        <p:spPr>
          <a:xfrm>
            <a:off x="60533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CHANGE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533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568756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·  Leadership Review  · 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Legacy Monolith Architecture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platform cannot support $1B revenue — and what breaks under load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92624" y="1865376"/>
            <a:ext cx="2176272" cy="1631290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  <a:effectLst>
            <a:outerShdw sx="100000" sy="100000" kx="0" ky="0" algn="bl" rotWithShape="0" blurRad="177800" dist="50800" dir="8100000">
              <a:srgbClr val="B8882A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9472" y="1773936"/>
            <a:ext cx="2322576" cy="1389888"/>
          </a:xfrm>
          <a:prstGeom prst="rect">
            <a:avLst/>
          </a:prstGeom>
          <a:solidFill>
            <a:srgbClr val="FEF0D4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9472" y="2962656"/>
            <a:ext cx="2322576" cy="402336"/>
          </a:xfrm>
          <a:prstGeom prst="ellipse">
            <a:avLst/>
          </a:prstGeom>
          <a:solidFill>
            <a:srgbClr val="E8C87A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9472" y="1572768"/>
            <a:ext cx="2322576" cy="402336"/>
          </a:xfrm>
          <a:prstGeom prst="ellipse">
            <a:avLst/>
          </a:prstGeom>
          <a:solidFill>
            <a:srgbClr val="FBE8C0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86537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10912" y="2249424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Tables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10912" y="248716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DB for ALL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93792" y="3236976"/>
            <a:ext cx="1773936" cy="27432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236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Stored Procedures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1168" y="1188720"/>
            <a:ext cx="2944368" cy="78638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1188720"/>
            <a:ext cx="64008" cy="7863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280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/ Mule ESB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16093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coupled integration bus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45536" y="1581912"/>
            <a:ext cx="1773936" cy="886968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01168" y="2194560"/>
            <a:ext cx="2944368" cy="78638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2194560"/>
            <a:ext cx="64008" cy="7863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2860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Core (Java)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26151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embedded in database layer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45536" y="2587752"/>
            <a:ext cx="1773936" cy="-118872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01168" y="3200400"/>
            <a:ext cx="2944368" cy="78638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3200400"/>
            <a:ext cx="64008" cy="7863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2918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36210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runs — no real-time processing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45536" y="3593592"/>
            <a:ext cx="1773936" cy="-1124712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034272" y="1188720"/>
            <a:ext cx="2944368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34272" y="1188720"/>
            <a:ext cx="64008" cy="786384"/>
          </a:xfrm>
          <a:prstGeom prst="rect">
            <a:avLst/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98864" y="1280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(Tightly Coupled)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98864" y="16093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DB queries via Mule — no abstraction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42048" y="2468880"/>
            <a:ext cx="1792224" cy="-886968"/>
          </a:xfrm>
          <a:prstGeom prst="line">
            <a:avLst/>
          </a:prstGeom>
          <a:noFill/>
          <a:ln w="12700">
            <a:solidFill>
              <a:srgbClr val="D6CCC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034272" y="2194560"/>
            <a:ext cx="2944368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034272" y="2194560"/>
            <a:ext cx="64008" cy="786384"/>
          </a:xfrm>
          <a:prstGeom prst="rect">
            <a:avLst/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98864" y="22860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98864" y="26151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queries on production Oracle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42048" y="2468880"/>
            <a:ext cx="1792224" cy="118872"/>
          </a:xfrm>
          <a:prstGeom prst="line">
            <a:avLst/>
          </a:prstGeom>
          <a:noFill/>
          <a:ln w="12700">
            <a:solidFill>
              <a:srgbClr val="D6CCC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9034272" y="3200400"/>
            <a:ext cx="2944368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034272" y="3200400"/>
            <a:ext cx="64008" cy="786384"/>
          </a:xfrm>
          <a:prstGeom prst="rect">
            <a:avLst/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98864" y="32918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98864" y="36210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direct database access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42048" y="2468880"/>
            <a:ext cx="1792224" cy="1124712"/>
          </a:xfrm>
          <a:prstGeom prst="line">
            <a:avLst/>
          </a:prstGeom>
          <a:noFill/>
          <a:ln w="12700">
            <a:solidFill>
              <a:srgbClr val="D6CCC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201168" y="4114800"/>
            <a:ext cx="3858768" cy="914400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01168" y="4114800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DB Anti-Pattern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84048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read/write same Oracle — any schema change is a system-wide event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197096" y="4114800"/>
            <a:ext cx="3858768" cy="914400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197096" y="4114800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79976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Trapped in Database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379976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 stored procedures = untestable, unversionable, undocumentable business logic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193024" y="4114800"/>
            <a:ext cx="3858768" cy="914400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193024" y="4114800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75904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Horizontal Scaling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375904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on VSI — cannot auto-scale; outages are expected, not exceptional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01168" y="5157216"/>
            <a:ext cx="3858768" cy="9144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01168" y="5157216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5248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Batch-Only Processing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84048" y="5541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streaming; STP capped at 20% — high manual load every transaction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197096" y="5157216"/>
            <a:ext cx="3858768" cy="9144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197096" y="5157216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79976" y="5248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ESB Spaghetti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379976" y="5541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undocumented flows; tight coupling means any change risks outage everywhere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193024" y="5157216"/>
            <a:ext cx="3858768" cy="9144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193024" y="5157216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75904" y="5248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Observability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375904" y="5541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distributed tracing, no metrics — failures discovered by clients before operations team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Architecture: Event-Driven, AI-Native Platform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independently deployable · DB-per-service · 7 9's availability · AI-powered STP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969264"/>
            <a:ext cx="11832336" cy="749808"/>
          </a:xfrm>
          <a:prstGeom prst="rect">
            <a:avLst/>
          </a:prstGeom>
          <a:solidFill>
            <a:srgbClr val="DFF0E4"/>
          </a:solidFill>
          <a:ln w="12700">
            <a:solidFill>
              <a:srgbClr val="8EC9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969264"/>
            <a:ext cx="11832336" cy="54864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10424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 —  REACT MICRO-FRONTENDS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0896" y="1243584"/>
            <a:ext cx="188671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43584"/>
            <a:ext cx="181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34184" y="1243584"/>
            <a:ext cx="188671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70760" y="1243584"/>
            <a:ext cx="181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57472" y="1243584"/>
            <a:ext cx="188671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94048" y="1243584"/>
            <a:ext cx="181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IQ / Absolute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80760" y="1243584"/>
            <a:ext cx="1886712" cy="402336"/>
          </a:xfrm>
          <a:prstGeom prst="rect">
            <a:avLst/>
          </a:prstGeom>
          <a:solidFill>
            <a:srgbClr val="2F6B3E"/>
          </a:solidFill>
          <a:ln w="9525">
            <a:solidFill>
              <a:srgbClr val="2F6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243584"/>
            <a:ext cx="181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 (AI + Workflow)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004048" y="1243584"/>
            <a:ext cx="1886712" cy="402336"/>
          </a:xfrm>
          <a:prstGeom prst="rect">
            <a:avLst/>
          </a:prstGeom>
          <a:solidFill>
            <a:srgbClr val="2F6B3E"/>
          </a:solidFill>
          <a:ln w="9525">
            <a:solidFill>
              <a:srgbClr val="2F6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0624" y="1243584"/>
            <a:ext cx="181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Dashboard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27336" y="1243584"/>
            <a:ext cx="188671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3912" y="1243584"/>
            <a:ext cx="181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Toolkit  (LLM)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64592" y="1773936"/>
            <a:ext cx="11832336" cy="27432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1773936"/>
            <a:ext cx="1150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API GATEWAY  ·  Rate Limiting  ·  Auth  ·  Routing  ·  Load Balancing  ·  TLS Termination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4592" y="2103120"/>
            <a:ext cx="8083296" cy="2029968"/>
          </a:xfrm>
          <a:prstGeom prst="rect">
            <a:avLst/>
          </a:prstGeom>
          <a:solidFill>
            <a:srgbClr val="DDE8F5"/>
          </a:solidFill>
          <a:ln w="12700">
            <a:solidFill>
              <a:srgbClr val="8AAD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103120"/>
            <a:ext cx="8083296" cy="54864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" y="21762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PLATFORM  —  EVENT-DRIVEN CORE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10896" y="2377440"/>
            <a:ext cx="7790688" cy="32918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0624" y="2377440"/>
            <a:ext cx="7571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AI WORKFLOW ENGINE  (ELC)  —  Maker / Checker Automation  ·  &gt;95% Accuracy Target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0896" y="2761488"/>
            <a:ext cx="7790688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2761488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KAFKA EVENT BUS  —  Async Pub/Sub  ·  Event Replay  ·  Stream Processing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10896" y="3090672"/>
            <a:ext cx="151424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8AAD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" y="3090672"/>
            <a:ext cx="1514246" cy="45720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" y="3136392"/>
            <a:ext cx="144109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80006" y="3090672"/>
            <a:ext cx="151424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8AAD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80006" y="3090672"/>
            <a:ext cx="1514246" cy="45720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37" name="Text 35"/>
          <p:cNvSpPr/>
          <p:nvPr/>
        </p:nvSpPr>
        <p:spPr>
          <a:xfrm>
            <a:off x="1916582" y="3136392"/>
            <a:ext cx="144109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49117" y="3090672"/>
            <a:ext cx="151424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8AAD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49117" y="3090672"/>
            <a:ext cx="1514246" cy="45720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40" name="Text 38"/>
          <p:cNvSpPr/>
          <p:nvPr/>
        </p:nvSpPr>
        <p:spPr>
          <a:xfrm>
            <a:off x="3485693" y="3136392"/>
            <a:ext cx="144109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18227" y="3090672"/>
            <a:ext cx="151424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18227" y="3090672"/>
            <a:ext cx="1514246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43" name="Text 41"/>
          <p:cNvSpPr/>
          <p:nvPr/>
        </p:nvSpPr>
        <p:spPr>
          <a:xfrm>
            <a:off x="5054803" y="3136392"/>
            <a:ext cx="144109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(RAG)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587338" y="3090672"/>
            <a:ext cx="151424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7338" y="3090672"/>
            <a:ext cx="1514246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46" name="Text 44"/>
          <p:cNvSpPr/>
          <p:nvPr/>
        </p:nvSpPr>
        <p:spPr>
          <a:xfrm>
            <a:off x="6623914" y="3136392"/>
            <a:ext cx="144109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10896" y="3639312"/>
            <a:ext cx="1514246" cy="530352"/>
          </a:xfrm>
          <a:prstGeom prst="rect">
            <a:avLst/>
          </a:prstGeom>
          <a:solidFill>
            <a:srgbClr val="DDE8F5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0896" y="4078224"/>
            <a:ext cx="1514246" cy="182880"/>
          </a:xfrm>
          <a:prstGeom prst="ellipse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0896" y="3547872"/>
            <a:ext cx="1514246" cy="182880"/>
          </a:xfrm>
          <a:prstGeom prst="ellipse">
            <a:avLst/>
          </a:prstGeom>
          <a:solidFill>
            <a:srgbClr val="8AADD4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67588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Search DB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47472" y="3931920"/>
            <a:ext cx="14410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880006" y="3639312"/>
            <a:ext cx="1514246" cy="530352"/>
          </a:xfrm>
          <a:prstGeom prst="rect">
            <a:avLst/>
          </a:prstGeom>
          <a:solidFill>
            <a:srgbClr val="DFF0E4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80006" y="4078224"/>
            <a:ext cx="1514246" cy="182880"/>
          </a:xfrm>
          <a:prstGeom prst="ellipse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80006" y="3547872"/>
            <a:ext cx="1514246" cy="182880"/>
          </a:xfrm>
          <a:prstGeom prst="ellipse">
            <a:avLst/>
          </a:prstGeom>
          <a:solidFill>
            <a:srgbClr val="8EC99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16582" y="367588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DB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916582" y="3931920"/>
            <a:ext cx="14410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449117" y="3639312"/>
            <a:ext cx="1514246" cy="530352"/>
          </a:xfrm>
          <a:prstGeom prst="rect">
            <a:avLst/>
          </a:prstGeom>
          <a:solidFill>
            <a:srgbClr val="F3E8DE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49117" y="4078224"/>
            <a:ext cx="1514246" cy="182880"/>
          </a:xfrm>
          <a:prstGeom prst="ellipse">
            <a:avLst/>
          </a:prstGeom>
          <a:solidFill>
            <a:srgbClr val="A06535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49117" y="3547872"/>
            <a:ext cx="1514246" cy="182880"/>
          </a:xfrm>
          <a:prstGeom prst="ellipse">
            <a:avLst/>
          </a:prstGeom>
          <a:solidFill>
            <a:srgbClr val="C9A882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85693" y="367588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DB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485693" y="3931920"/>
            <a:ext cx="14410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018227" y="3639312"/>
            <a:ext cx="1514246" cy="530352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18227" y="4078224"/>
            <a:ext cx="1514246" cy="182880"/>
          </a:xfrm>
          <a:prstGeom prst="ellipse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18227" y="3547872"/>
            <a:ext cx="1514246" cy="182880"/>
          </a:xfrm>
          <a:prstGeom prst="ellipse">
            <a:avLst/>
          </a:prstGeom>
          <a:solidFill>
            <a:srgbClr val="E0B87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54803" y="367588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Queue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054803" y="3931920"/>
            <a:ext cx="14410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587338" y="3639312"/>
            <a:ext cx="1514246" cy="530352"/>
          </a:xfrm>
          <a:prstGeom prst="rect">
            <a:avLst/>
          </a:prstGeom>
          <a:solidFill>
            <a:srgbClr val="EDE6DF"/>
          </a:solidFill>
          <a:ln w="12700">
            <a:solidFill>
              <a:srgbClr val="7A66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7338" y="4078224"/>
            <a:ext cx="1514246" cy="182880"/>
          </a:xfrm>
          <a:prstGeom prst="ellipse">
            <a:avLst/>
          </a:prstGeom>
          <a:solidFill>
            <a:srgbClr val="7A6655"/>
          </a:solidFill>
          <a:ln w="12700">
            <a:solidFill>
              <a:srgbClr val="7A665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87338" y="3547872"/>
            <a:ext cx="1514246" cy="182880"/>
          </a:xfrm>
          <a:prstGeom prst="ellipse">
            <a:avLst/>
          </a:prstGeom>
          <a:solidFill>
            <a:srgbClr val="B8A898"/>
          </a:solidFill>
          <a:ln w="12700">
            <a:solidFill>
              <a:srgbClr val="7A66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3914" y="367588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623914" y="3931920"/>
            <a:ext cx="14410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302752" y="2103120"/>
            <a:ext cx="3694176" cy="2029968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02752" y="2103120"/>
            <a:ext cx="3694176" cy="5486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74" name="Text 72"/>
          <p:cNvSpPr/>
          <p:nvPr/>
        </p:nvSpPr>
        <p:spPr>
          <a:xfrm>
            <a:off x="8394192" y="217627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LAYER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394192" y="2359152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394192" y="2688336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→ modern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394192" y="3035808"/>
            <a:ext cx="351129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12480" y="30358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Debezium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GoldenGate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8394192" y="3383280"/>
            <a:ext cx="351129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412480" y="3383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394192" y="3730752"/>
            <a:ext cx="351129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412480" y="3730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Sync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64592" y="4187952"/>
            <a:ext cx="11832336" cy="749808"/>
          </a:xfrm>
          <a:prstGeom prst="rect">
            <a:avLst/>
          </a:prstGeom>
          <a:solidFill>
            <a:srgbClr val="DFF0E4"/>
          </a:solidFill>
          <a:ln w="12700">
            <a:solidFill>
              <a:srgbClr val="8EC99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4592" y="4187952"/>
            <a:ext cx="11832336" cy="54864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85" name="Text 83"/>
          <p:cNvSpPr/>
          <p:nvPr/>
        </p:nvSpPr>
        <p:spPr>
          <a:xfrm>
            <a:off x="310896" y="4261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DOMAIN SERVICES  —  DB-PER-SERVICE  ·  INDEPENDENTLY DEPLOYABLE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10896" y="4443984"/>
            <a:ext cx="1609344" cy="438912"/>
          </a:xfrm>
          <a:prstGeom prst="rect">
            <a:avLst/>
          </a:prstGeom>
          <a:solidFill>
            <a:srgbClr val="FEF0D4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0896" y="4443984"/>
            <a:ext cx="1609344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8" name="Text 86"/>
          <p:cNvSpPr/>
          <p:nvPr/>
        </p:nvSpPr>
        <p:spPr>
          <a:xfrm>
            <a:off x="347472" y="44897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Domain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347472" y="468172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Read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(Migrating)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1965960" y="4443984"/>
            <a:ext cx="16093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965960" y="4443984"/>
            <a:ext cx="1609344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92" name="Text 90"/>
          <p:cNvSpPr/>
          <p:nvPr/>
        </p:nvSpPr>
        <p:spPr>
          <a:xfrm>
            <a:off x="2002536" y="44897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2002536" y="468172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3621024" y="4443984"/>
            <a:ext cx="16093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621024" y="4443984"/>
            <a:ext cx="1609344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96" name="Text 94"/>
          <p:cNvSpPr/>
          <p:nvPr/>
        </p:nvSpPr>
        <p:spPr>
          <a:xfrm>
            <a:off x="3657600" y="44897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3657600" y="468172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5276088" y="4443984"/>
            <a:ext cx="16093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AADD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276088" y="4443984"/>
            <a:ext cx="1609344" cy="45720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100" name="Text 98"/>
          <p:cNvSpPr/>
          <p:nvPr/>
        </p:nvSpPr>
        <p:spPr>
          <a:xfrm>
            <a:off x="5312664" y="44897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AML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5312664" y="468172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6931152" y="4443984"/>
            <a:ext cx="16093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AADD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31152" y="4443984"/>
            <a:ext cx="1609344" cy="45720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104" name="Text 102"/>
          <p:cNvSpPr/>
          <p:nvPr/>
        </p:nvSpPr>
        <p:spPr>
          <a:xfrm>
            <a:off x="6967728" y="44897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Mgmt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6967728" y="468172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8586216" y="4443984"/>
            <a:ext cx="16093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586216" y="4443984"/>
            <a:ext cx="1609344" cy="457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08" name="Text 106"/>
          <p:cNvSpPr/>
          <p:nvPr/>
        </p:nvSpPr>
        <p:spPr>
          <a:xfrm>
            <a:off x="8622792" y="44897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8622792" y="468172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10241280" y="4443984"/>
            <a:ext cx="1609344" cy="43891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1280" y="4443984"/>
            <a:ext cx="1609344" cy="45720"/>
          </a:xfrm>
          <a:prstGeom prst="rect">
            <a:avLst/>
          </a:prstGeom>
          <a:solidFill>
            <a:srgbClr val="7A6655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277856" y="44897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Svcs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10277856" y="468172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164592" y="4992624"/>
            <a:ext cx="11832336" cy="475488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64592" y="4992624"/>
            <a:ext cx="11832336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16" name="Text 114"/>
          <p:cNvSpPr/>
          <p:nvPr/>
        </p:nvSpPr>
        <p:spPr>
          <a:xfrm>
            <a:off x="310896" y="505663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 ·  OBSERVABILITY  ·  PLATFORM ENGINEERING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310896" y="5230368"/>
            <a:ext cx="188518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B5187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47472" y="5230368"/>
            <a:ext cx="1812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 Blue/Green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2241804" y="5230368"/>
            <a:ext cx="188518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B5187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78380" y="5230368"/>
            <a:ext cx="1812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4172712" y="5230368"/>
            <a:ext cx="188518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F6B3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209288" y="5230368"/>
            <a:ext cx="1812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 GitOps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6103620" y="5230368"/>
            <a:ext cx="188518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F6B3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140196" y="5230368"/>
            <a:ext cx="1812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8034528" y="5230368"/>
            <a:ext cx="188518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071104" y="5230368"/>
            <a:ext cx="1812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+ PagerDuty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9965436" y="5230368"/>
            <a:ext cx="1885188" cy="201168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002012" y="5230368"/>
            <a:ext cx="1812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99.99999%  (7 Nine's)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5943600" cy="877824"/>
          </a:xfrm>
          <a:prstGeom prst="rect">
            <a:avLst/>
          </a:prstGeom>
          <a:solidFill>
            <a:srgbClr val="FEF0D4"/>
          </a:solidFill>
          <a:ln w="12700">
            <a:solidFill>
              <a:srgbClr val="FEF0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87782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64008"/>
            <a:ext cx="6217920" cy="877824"/>
          </a:xfrm>
          <a:prstGeom prst="rect">
            <a:avLst/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64008"/>
            <a:ext cx="64008" cy="877824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109728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TPS MONOLITH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constraints limiting growth to $1B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08192" y="10972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ELC PLATFORM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08192" y="5669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built to scale beyond $1B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960120"/>
            <a:ext cx="12161520" cy="320040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14416" y="111556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11155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State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12280" y="11155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" y="1298448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389888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DB · 1,800 tables shared across all services · Schema change = system-wide risk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22976" y="1444752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41264" y="1463040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56832" y="1298448"/>
            <a:ext cx="64008" cy="82296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0840" y="1298448"/>
            <a:ext cx="5330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389888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DB-per-Service · PostgreSQL · MongoDB · pgvector · Services independently deployable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9728" y="2203704"/>
            <a:ext cx="5394960" cy="8229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" y="2295144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stored procedures trapped in the database · Untestable, unversionable, undocumentable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22976" y="2350008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41264" y="236829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56832" y="2203704"/>
            <a:ext cx="64008" cy="82296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27" name="Shape 25"/>
          <p:cNvSpPr/>
          <p:nvPr/>
        </p:nvSpPr>
        <p:spPr>
          <a:xfrm>
            <a:off x="6720840" y="2203704"/>
            <a:ext cx="5330952" cy="822960"/>
          </a:xfrm>
          <a:prstGeom prst="rect">
            <a:avLst/>
          </a:prstGeom>
          <a:solidFill>
            <a:srgbClr val="DFF0E4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295144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 application layer · Version-controlled · Unit-testable · Independently deployable per service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9728" y="3108960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" y="3200400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ESB spaghetti · Tight coupling across all systems · Any change risks outage everywhere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22976" y="3255264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41264" y="3273552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656832" y="3108960"/>
            <a:ext cx="64008" cy="82296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34" name="Shape 32"/>
          <p:cNvSpPr/>
          <p:nvPr/>
        </p:nvSpPr>
        <p:spPr>
          <a:xfrm>
            <a:off x="6720840" y="3108960"/>
            <a:ext cx="5330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20040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streaming backbone · CDC via Debezium/GoldenGate · Async &amp; replay-capable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9728" y="4014216"/>
            <a:ext cx="5394960" cy="8229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" y="4105656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Batch-only overnight jobs · No real-time events · STP capped at 20% — high manual load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22976" y="4160520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41264" y="4178808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56832" y="4014216"/>
            <a:ext cx="64008" cy="82296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41" name="Shape 39"/>
          <p:cNvSpPr/>
          <p:nvPr/>
        </p:nvSpPr>
        <p:spPr>
          <a:xfrm>
            <a:off x="6720840" y="4014216"/>
            <a:ext cx="5330952" cy="822960"/>
          </a:xfrm>
          <a:prstGeom prst="rect">
            <a:avLst/>
          </a:prstGeom>
          <a:solidFill>
            <a:srgbClr val="DFF0E4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4105656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event-driven processing · AI Workflow Engine (ELC) · STP target ~90%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9728" y="4919472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5010912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instance — vertical only · VSI deployment · 3 9's — outages expected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522976" y="5065776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41264" y="5084064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656832" y="4919472"/>
            <a:ext cx="64008" cy="82296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48" name="Shape 46"/>
          <p:cNvSpPr/>
          <p:nvPr/>
        </p:nvSpPr>
        <p:spPr>
          <a:xfrm>
            <a:off x="6720840" y="4919472"/>
            <a:ext cx="5330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5010912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horizontal auto-scaling · 4-cluster HA deployment · 7 9's — 99.99999% uptime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9728" y="5824728"/>
            <a:ext cx="5394960" cy="8229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7744" y="5916168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integration · All document processing manual · All decisions require human review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22976" y="5971032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41264" y="5989320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Intelligence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656832" y="5824728"/>
            <a:ext cx="64008" cy="82296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55" name="Shape 53"/>
          <p:cNvSpPr/>
          <p:nvPr/>
        </p:nvSpPr>
        <p:spPr>
          <a:xfrm>
            <a:off x="6720840" y="5824728"/>
            <a:ext cx="5330952" cy="822960"/>
          </a:xfrm>
          <a:prstGeom prst="rect">
            <a:avLst/>
          </a:prstGeom>
          <a:solidFill>
            <a:srgbClr val="DFF0E4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5916168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LLM-native ELC · RAG + OCR pipeline · &gt;95% accuracy · Maker/Checker fully automated at R2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— API Commercialisation Layer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partner · Any integration method · Platform as a revenue channel · Reach 2,000+ counterparties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627632"/>
            <a:ext cx="2432304" cy="1920240"/>
          </a:xfrm>
          <a:prstGeom prst="ellipse">
            <a:avLst/>
          </a:prstGeom>
          <a:solidFill>
            <a:srgbClr val="DDE8F5"/>
          </a:solidFill>
          <a:ln w="25400">
            <a:solidFill>
              <a:srgbClr val="2B5187"/>
            </a:solidFill>
            <a:prstDash val="solid"/>
          </a:ln>
          <a:effectLst>
            <a:outerShdw sx="100000" sy="100000" kx="0" ky="0" algn="bl" rotWithShape="0" blurRad="127000" dist="38100" dir="8100000">
              <a:srgbClr val="9A886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02352" y="1810512"/>
            <a:ext cx="2011680" cy="16276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ADD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120640" y="206654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4505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CHANNELS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1168" y="1298448"/>
            <a:ext cx="2944368" cy="7132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1298448"/>
            <a:ext cx="64008" cy="7132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17007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45536" y="1645920"/>
            <a:ext cx="1700784" cy="640080"/>
          </a:xfrm>
          <a:prstGeom prst="line">
            <a:avLst/>
          </a:prstGeom>
          <a:noFill/>
          <a:ln w="12700">
            <a:solidFill>
              <a:srgbClr val="8AA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2185416"/>
            <a:ext cx="2944368" cy="7132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185416"/>
            <a:ext cx="64008" cy="7132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276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2587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45536" y="2532888"/>
            <a:ext cx="1700784" cy="-64008"/>
          </a:xfrm>
          <a:prstGeom prst="line">
            <a:avLst/>
          </a:prstGeom>
          <a:noFill/>
          <a:ln w="12700">
            <a:solidFill>
              <a:srgbClr val="8AAD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3072384"/>
            <a:ext cx="2944368" cy="7132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3072384"/>
            <a:ext cx="64008" cy="7132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163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MQ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34747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protocols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45536" y="3419856"/>
            <a:ext cx="1700784" cy="-768096"/>
          </a:xfrm>
          <a:prstGeom prst="line">
            <a:avLst/>
          </a:prstGeom>
          <a:noFill/>
          <a:ln w="12700">
            <a:solidFill>
              <a:srgbClr val="8AAD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3959352"/>
            <a:ext cx="2944368" cy="7132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959352"/>
            <a:ext cx="64008" cy="7132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4361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guided entry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45536" y="4306824"/>
            <a:ext cx="1700784" cy="-1472184"/>
          </a:xfrm>
          <a:prstGeom prst="line">
            <a:avLst/>
          </a:prstGeom>
          <a:noFill/>
          <a:ln w="12700">
            <a:solidFill>
              <a:srgbClr val="8AA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96528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NETWORK REACH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796528" y="1298448"/>
            <a:ext cx="3200400" cy="7132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796528" y="1298448"/>
            <a:ext cx="64008" cy="7132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79408" y="14264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1338560" y="1517904"/>
            <a:ext cx="566928" cy="274320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338560" y="15179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78624" y="2286000"/>
            <a:ext cx="1517904" cy="-640080"/>
          </a:xfrm>
          <a:prstGeom prst="line">
            <a:avLst/>
          </a:prstGeom>
          <a:noFill/>
          <a:ln w="12700">
            <a:solidFill>
              <a:srgbClr val="8AAD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96528" y="2185416"/>
            <a:ext cx="3200400" cy="713232"/>
          </a:xfrm>
          <a:prstGeom prst="rect">
            <a:avLst/>
          </a:prstGeom>
          <a:solidFill>
            <a:srgbClr val="DFF0E4"/>
          </a:solidFill>
          <a:ln w="9525">
            <a:solidFill>
              <a:srgbClr val="8EC99E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796528" y="2185416"/>
            <a:ext cx="64008" cy="713232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79408" y="23134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1338560" y="2404872"/>
            <a:ext cx="566928" cy="274320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338560" y="24048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78624" y="2468880"/>
            <a:ext cx="1517904" cy="64008"/>
          </a:xfrm>
          <a:prstGeom prst="line">
            <a:avLst/>
          </a:prstGeom>
          <a:noFill/>
          <a:ln w="12700">
            <a:solidFill>
              <a:srgbClr val="8EC99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96528" y="3072384"/>
            <a:ext cx="3200400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796528" y="3072384"/>
            <a:ext cx="64008" cy="713232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79408" y="32004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1338560" y="3291840"/>
            <a:ext cx="566928" cy="27432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338560" y="32918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278624" y="2651760"/>
            <a:ext cx="1517904" cy="768096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96528" y="3959352"/>
            <a:ext cx="3200400" cy="713232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796528" y="3959352"/>
            <a:ext cx="64008" cy="713232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79408" y="40873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1338560" y="4178808"/>
            <a:ext cx="566928" cy="27432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338560" y="41788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278624" y="2834640"/>
            <a:ext cx="1517904" cy="1472184"/>
          </a:xfrm>
          <a:prstGeom prst="line">
            <a:avLst/>
          </a:prstGeom>
          <a:noFill/>
          <a:ln w="12700">
            <a:solidFill>
              <a:srgbClr val="E0B87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42816" y="38221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READY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261104" y="4096512"/>
            <a:ext cx="1133856" cy="621792"/>
          </a:xfrm>
          <a:prstGeom prst="rect">
            <a:avLst/>
          </a:prstGeom>
          <a:solidFill>
            <a:srgbClr val="F7F4F0"/>
          </a:solidFill>
          <a:ln w="19050">
            <a:solidFill>
              <a:srgbClr val="5C331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61104" y="4096512"/>
            <a:ext cx="1133856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1" name="Text 59"/>
          <p:cNvSpPr/>
          <p:nvPr/>
        </p:nvSpPr>
        <p:spPr>
          <a:xfrm>
            <a:off x="4315968" y="418795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04688" y="4096512"/>
            <a:ext cx="1133856" cy="621792"/>
          </a:xfrm>
          <a:prstGeom prst="rect">
            <a:avLst/>
          </a:prstGeom>
          <a:solidFill>
            <a:srgbClr val="F7F4F0"/>
          </a:solidFill>
          <a:ln w="19050">
            <a:solidFill>
              <a:srgbClr val="2B518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04688" y="4096512"/>
            <a:ext cx="1133856" cy="6400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64" name="Text 62"/>
          <p:cNvSpPr/>
          <p:nvPr/>
        </p:nvSpPr>
        <p:spPr>
          <a:xfrm>
            <a:off x="5559552" y="418795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748272" y="4096512"/>
            <a:ext cx="1133856" cy="621792"/>
          </a:xfrm>
          <a:prstGeom prst="rect">
            <a:avLst/>
          </a:prstGeom>
          <a:solidFill>
            <a:srgbClr val="F7F4F0"/>
          </a:solidFill>
          <a:ln w="19050">
            <a:solidFill>
              <a:srgbClr val="2F6B3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48272" y="4096512"/>
            <a:ext cx="1133856" cy="6400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67" name="Text 65"/>
          <p:cNvSpPr/>
          <p:nvPr/>
        </p:nvSpPr>
        <p:spPr>
          <a:xfrm>
            <a:off x="6803136" y="418795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01168" y="4828032"/>
            <a:ext cx="5486400" cy="159105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01168" y="4828032"/>
            <a:ext cx="64008" cy="1591056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048" y="49194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USE CASE — SBLC Issuance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84048" y="5248656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corporate client installs the SBLC Plugin on their ERP. With a single API call they issue a Standby Letter of Credit directly — no portal login, no manual entry, no email chain. The Connector validates through the AI Workflow Engine and returns a confirmed reference in seconds. Friction eliminated, volume unlocked.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035040" y="4828032"/>
            <a:ext cx="5943600" cy="1591056"/>
          </a:xfrm>
          <a:prstGeom prst="rect">
            <a:avLst/>
          </a:prstGeom>
          <a:solidFill>
            <a:srgbClr val="DFF0E4"/>
          </a:solidFill>
          <a:ln w="9525">
            <a:solidFill>
              <a:srgbClr val="8EC99E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035040" y="4828032"/>
            <a:ext cx="64008" cy="1591056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36208" y="49194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 MODEL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236208" y="52669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API subscription tiers — per-call or monthly volume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236208" y="54955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White-label plugin licensing to bank partners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236208" y="57241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Marketplace listing: KYC · Doc Mgmt · AI/ML modules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36208" y="59527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Revenue share on embedded fintech partner integrations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Duplication Crisis — Two Orgs, Same Logic, No Single Owner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&amp; APAR both contain duplicate Billing · Participation · CIF — any change requires all systems, all teams, full regression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3017520" cy="512064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05840"/>
            <a:ext cx="3017520" cy="36576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042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Shared Modules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1847088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8653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76856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706624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724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Initiation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136392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154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3566160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584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995928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0142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Express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425696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443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4855464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8737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5285232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53035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PUPEE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1005840"/>
            <a:ext cx="85953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83280" y="1005840"/>
            <a:ext cx="8595360" cy="36576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3" name="Text 31"/>
          <p:cNvSpPr/>
          <p:nvPr/>
        </p:nvSpPr>
        <p:spPr>
          <a:xfrm>
            <a:off x="3529584" y="1042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ORG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Systems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29584" y="14447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Applications: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529584" y="1719072"/>
            <a:ext cx="2578608" cy="2788920"/>
          </a:xfrm>
          <a:prstGeom prst="rect">
            <a:avLst/>
          </a:prstGeom>
          <a:solidFill>
            <a:srgbClr val="DDE8F5"/>
          </a:solidFill>
          <a:ln w="12700">
            <a:solidFill>
              <a:srgbClr val="8AADD4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529584" y="1719072"/>
            <a:ext cx="2578608" cy="310896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39" name="Text 37"/>
          <p:cNvSpPr/>
          <p:nvPr/>
        </p:nvSpPr>
        <p:spPr>
          <a:xfrm>
            <a:off x="3639312" y="17373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39312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39312" y="2322576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67328" y="23408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274320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67328" y="2761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39312" y="3163824"/>
            <a:ext cx="2304288" cy="347472"/>
          </a:xfrm>
          <a:prstGeom prst="rect">
            <a:avLst/>
          </a:prstGeom>
          <a:solidFill>
            <a:srgbClr val="FEF0D4"/>
          </a:solidFill>
          <a:ln w="15240">
            <a:solidFill>
              <a:srgbClr val="9B601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67328" y="3182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21808" y="3236976"/>
            <a:ext cx="512064" cy="201168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21808" y="323697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39312" y="356616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67328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72784" y="1719072"/>
            <a:ext cx="2578608" cy="2788920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72784" y="1719072"/>
            <a:ext cx="2578608" cy="310896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53" name="Text 51"/>
          <p:cNvSpPr/>
          <p:nvPr/>
        </p:nvSpPr>
        <p:spPr>
          <a:xfrm>
            <a:off x="6382512" y="17373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82512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382512" y="2322576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0528" y="23408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82512" y="274320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0528" y="2761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82512" y="3163824"/>
            <a:ext cx="2304288" cy="347472"/>
          </a:xfrm>
          <a:prstGeom prst="rect">
            <a:avLst/>
          </a:prstGeom>
          <a:solidFill>
            <a:srgbClr val="FEE8C2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0528" y="3182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65008" y="3236976"/>
            <a:ext cx="512064" cy="201168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65008" y="323697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382512" y="356616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10528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034272" y="19385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70848" y="1947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0543032" y="19385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79608" y="1947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034272" y="225856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70848" y="226771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543032" y="225856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579608" y="226771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034272" y="257860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070848" y="258775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ClearTrade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0543032" y="257860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579608" y="258775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TradeSharp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034272" y="289864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70848" y="29077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0543032" y="289864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79608" y="29077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Inigio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9034272" y="321868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070848" y="32278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0543032" y="321868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579608" y="32278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CRM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9034272" y="35387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070848" y="35478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SmartDX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10543032" y="35387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579608" y="35478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Integrator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9034272" y="1700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Systems: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201168" y="4608576"/>
            <a:ext cx="11777472" cy="1463040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01168" y="4608576"/>
            <a:ext cx="11777472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92" name="Text 90"/>
          <p:cNvSpPr/>
          <p:nvPr/>
        </p:nvSpPr>
        <p:spPr>
          <a:xfrm>
            <a:off x="347472" y="4700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of Duplication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347472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billing change?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347472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TPS + APAR + full regression on both. 2× dev effort, 2× QA, 2× deployment risk.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3291840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 mobilised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3291840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CIF, Participation, Ops, QA — every change becomes a multi-team programme.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236208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bugs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6236208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differs across platforms — inconsistent client results across channels.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9180576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crushed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180576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3–12 months. A config change takes weeks across coordinated release trains.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914400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Domain Ownership — From Duplication to Clarity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92608" y="56692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logic has a single owner, every change is faster, cheaper, and safer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512064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05840"/>
            <a:ext cx="5120640" cy="347472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0607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BEFORE — Duplicated Logic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" y="1481328"/>
            <a:ext cx="4864608" cy="877824"/>
          </a:xfrm>
          <a:prstGeom prst="rect">
            <a:avLst/>
          </a:prstGeom>
          <a:solidFill>
            <a:srgbClr val="FEF0D4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5544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Logic  exists in: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184708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86537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75104" y="184708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186537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47872" y="184708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86537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0896" y="2487168"/>
            <a:ext cx="4864608" cy="877824"/>
          </a:xfrm>
          <a:prstGeom prst="rect">
            <a:avLst/>
          </a:prstGeom>
          <a:solidFill>
            <a:srgbClr val="F7F4F0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5603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Logic  exists in: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2336" y="285292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87121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975104" y="285292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3392" y="287121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0896" y="3493008"/>
            <a:ext cx="4864608" cy="877824"/>
          </a:xfrm>
          <a:prstGeom prst="rect">
            <a:avLst/>
          </a:prstGeom>
          <a:solidFill>
            <a:srgbClr val="FEF0D4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5661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Logic  exists in: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2336" y="385876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87705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975104" y="385876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387705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0896" y="4498848"/>
            <a:ext cx="4864608" cy="585216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572000"/>
            <a:ext cx="4718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requires all systems · all teams · full regression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24728" y="1353312"/>
            <a:ext cx="0" cy="3145536"/>
          </a:xfrm>
          <a:prstGeom prst="line">
            <a:avLst/>
          </a:prstGeom>
          <a:noFill/>
          <a:ln w="12700">
            <a:solidFill>
              <a:srgbClr val="C9A882"/>
            </a:solidFill>
            <a:prstDash val="sysDash"/>
          </a:ln>
        </p:spPr>
      </p:sp>
      <p:sp>
        <p:nvSpPr>
          <p:cNvPr id="34" name="Shape 32"/>
          <p:cNvSpPr/>
          <p:nvPr/>
        </p:nvSpPr>
        <p:spPr>
          <a:xfrm>
            <a:off x="5431536" y="2395728"/>
            <a:ext cx="786384" cy="786384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49824" y="24140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345936" y="1005840"/>
            <a:ext cx="5632704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8EC99E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45936" y="1005840"/>
            <a:ext cx="5632704" cy="347472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1060704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 — Focused Ownership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73952" y="1481328"/>
            <a:ext cx="5376672" cy="877824"/>
          </a:xfrm>
          <a:prstGeom prst="rect">
            <a:avLst/>
          </a:prstGeom>
          <a:solidFill>
            <a:srgbClr val="DFF0E4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73952" y="1481328"/>
            <a:ext cx="64008" cy="877824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41" name="Text 39"/>
          <p:cNvSpPr/>
          <p:nvPr/>
        </p:nvSpPr>
        <p:spPr>
          <a:xfrm>
            <a:off x="6638544" y="157276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Domain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38544" y="188366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· Own DB · Own team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405872" y="1645920"/>
            <a:ext cx="1389888" cy="274320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24160" y="166420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Team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473952" y="2487168"/>
            <a:ext cx="5376672" cy="877824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73952" y="2487168"/>
            <a:ext cx="64008" cy="877824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47" name="Text 45"/>
          <p:cNvSpPr/>
          <p:nvPr/>
        </p:nvSpPr>
        <p:spPr>
          <a:xfrm>
            <a:off x="6638544" y="257860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Domain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38544" y="288950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· Own DB · Own team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405872" y="2651760"/>
            <a:ext cx="1389888" cy="274320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24160" y="267004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Team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473952" y="3493008"/>
            <a:ext cx="5376672" cy="877824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73952" y="3493008"/>
            <a:ext cx="64008" cy="87782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53" name="Text 51"/>
          <p:cNvSpPr/>
          <p:nvPr/>
        </p:nvSpPr>
        <p:spPr>
          <a:xfrm>
            <a:off x="6638544" y="358444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Domain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638544" y="389534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· Own DB · Own team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0405872" y="3657600"/>
            <a:ext cx="1389888" cy="27432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24160" y="367588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Team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73952" y="4498848"/>
            <a:ext cx="5376672" cy="585216"/>
          </a:xfrm>
          <a:prstGeom prst="rect">
            <a:avLst/>
          </a:prstGeom>
          <a:solidFill>
            <a:srgbClr val="DFF0E4"/>
          </a:solidFill>
          <a:ln w="12700">
            <a:solidFill>
              <a:srgbClr val="8EC99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73952" y="4498848"/>
            <a:ext cx="64008" cy="585216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59" name="Text 57"/>
          <p:cNvSpPr/>
          <p:nvPr/>
        </p:nvSpPr>
        <p:spPr>
          <a:xfrm>
            <a:off x="6638544" y="4572000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domain owner engages · Targeted tests only · No full regression needed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2880" y="5248656"/>
            <a:ext cx="29260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82880" y="5248656"/>
            <a:ext cx="2926080" cy="6400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62" name="Text 60"/>
          <p:cNvSpPr/>
          <p:nvPr/>
        </p:nvSpPr>
        <p:spPr>
          <a:xfrm>
            <a:off x="310896" y="53766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SCOPE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65760" y="5650992"/>
            <a:ext cx="256032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0896" y="57241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10896" y="598017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310896" y="6181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 only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145536" y="5248656"/>
            <a:ext cx="29260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145536" y="5248656"/>
            <a:ext cx="2926080" cy="6400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69" name="Text 67"/>
          <p:cNvSpPr/>
          <p:nvPr/>
        </p:nvSpPr>
        <p:spPr>
          <a:xfrm>
            <a:off x="3273552" y="53766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MOBILISED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328416" y="5650992"/>
            <a:ext cx="256032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73552" y="57241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 required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273552" y="598017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273552" y="6181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owner only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108192" y="5248656"/>
            <a:ext cx="29260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108192" y="5248656"/>
            <a:ext cx="292608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76" name="Text 74"/>
          <p:cNvSpPr/>
          <p:nvPr/>
        </p:nvSpPr>
        <p:spPr>
          <a:xfrm>
            <a:off x="6236208" y="53766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EFFORT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291072" y="5650992"/>
            <a:ext cx="256032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36208" y="57241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suite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236208" y="598017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236208" y="6181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tests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9070848" y="5248656"/>
            <a:ext cx="29260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9070848" y="5248656"/>
            <a:ext cx="2926080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3" name="Text 81"/>
          <p:cNvSpPr/>
          <p:nvPr/>
        </p:nvSpPr>
        <p:spPr>
          <a:xfrm>
            <a:off x="9198864" y="53766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MARKET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9253728" y="5650992"/>
            <a:ext cx="256032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198864" y="57241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9198864" y="598017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9198864" y="6181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weeks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Consolidated — End State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Trade Shared modules + 9 Payment Shared modules · No duplication · Each domain owns its logic and data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3017520" cy="539496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05840"/>
            <a:ext cx="3017520" cy="36576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042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Shared Modules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1847088"/>
            <a:ext cx="2706624" cy="365760"/>
          </a:xfrm>
          <a:prstGeom prst="rect">
            <a:avLst/>
          </a:prstGeom>
          <a:solidFill>
            <a:srgbClr val="DFF0E4"/>
          </a:solidFill>
          <a:ln w="6350">
            <a:solidFill>
              <a:srgbClr val="8EC9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33472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286000"/>
            <a:ext cx="2706624" cy="365760"/>
          </a:xfrm>
          <a:prstGeom prst="rect">
            <a:avLst/>
          </a:prstGeom>
          <a:solidFill>
            <a:srgbClr val="DFF0E4"/>
          </a:solidFill>
          <a:ln w="6350">
            <a:solidFill>
              <a:srgbClr val="8EC9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33472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2724912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Initiation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3163824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82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602736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041648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0599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Express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4480560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4988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4919472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9377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5358384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53766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PUPEE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1005840"/>
            <a:ext cx="85953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83280" y="1005840"/>
            <a:ext cx="8595360" cy="36576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5" name="Text 33"/>
          <p:cNvSpPr/>
          <p:nvPr/>
        </p:nvSpPr>
        <p:spPr>
          <a:xfrm>
            <a:off x="3529584" y="1042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ORG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Systems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29584" y="14447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Applications: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529584" y="1700784"/>
            <a:ext cx="1325880" cy="2560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 ●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28616" y="1700784"/>
            <a:ext cx="1325880" cy="2560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 ●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327648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4224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726680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63256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125712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62288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524744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61320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529584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66160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ClearTrade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928616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TradeSharp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327648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64224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726680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63256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Inigio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125712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62288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524744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61320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CRM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529584" y="234086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66160" y="235000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SmartDX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928616" y="234086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65192" y="235000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Integrator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401568" y="2450592"/>
            <a:ext cx="8412480" cy="29718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401568" y="2450592"/>
            <a:ext cx="8412480" cy="6400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69" name="Text 67"/>
          <p:cNvSpPr/>
          <p:nvPr/>
        </p:nvSpPr>
        <p:spPr>
          <a:xfrm>
            <a:off x="3547872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Shared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1082528" y="2505456"/>
            <a:ext cx="640080" cy="219456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082528" y="2505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Modules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54787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18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547872" y="2834640"/>
            <a:ext cx="1115568" cy="6400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74" name="Text 72"/>
          <p:cNvSpPr/>
          <p:nvPr/>
        </p:nvSpPr>
        <p:spPr>
          <a:xfrm>
            <a:off x="359359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73659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736592" y="2834640"/>
            <a:ext cx="1115568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77" name="Text 75"/>
          <p:cNvSpPr/>
          <p:nvPr/>
        </p:nvSpPr>
        <p:spPr>
          <a:xfrm>
            <a:off x="478231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92531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E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925312" y="2834640"/>
            <a:ext cx="1115568" cy="6400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80" name="Text 78"/>
          <p:cNvSpPr/>
          <p:nvPr/>
        </p:nvSpPr>
        <p:spPr>
          <a:xfrm>
            <a:off x="597103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11403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18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114032" y="2834640"/>
            <a:ext cx="1115568" cy="6400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83" name="Text 81"/>
          <p:cNvSpPr/>
          <p:nvPr/>
        </p:nvSpPr>
        <p:spPr>
          <a:xfrm>
            <a:off x="715975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Ingestion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30275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8302752" y="2834640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6" name="Text 84"/>
          <p:cNvSpPr/>
          <p:nvPr/>
        </p:nvSpPr>
        <p:spPr>
          <a:xfrm>
            <a:off x="834847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Screening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949147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E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9491472" y="2834640"/>
            <a:ext cx="1115568" cy="6400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89" name="Text 87"/>
          <p:cNvSpPr/>
          <p:nvPr/>
        </p:nvSpPr>
        <p:spPr>
          <a:xfrm>
            <a:off x="953719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068019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10680192" y="2834640"/>
            <a:ext cx="1115568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92" name="Text 90"/>
          <p:cNvSpPr/>
          <p:nvPr/>
        </p:nvSpPr>
        <p:spPr>
          <a:xfrm>
            <a:off x="1072591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Distribution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54787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E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3547872" y="3456432"/>
            <a:ext cx="1115568" cy="6400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95" name="Text 93"/>
          <p:cNvSpPr/>
          <p:nvPr/>
        </p:nvSpPr>
        <p:spPr>
          <a:xfrm>
            <a:off x="359359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Mgmt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73659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18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4736592" y="3456432"/>
            <a:ext cx="1115568" cy="6400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98" name="Text 96"/>
          <p:cNvSpPr/>
          <p:nvPr/>
        </p:nvSpPr>
        <p:spPr>
          <a:xfrm>
            <a:off x="478231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Mgmt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592531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5925312" y="3456432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01" name="Text 99"/>
          <p:cNvSpPr/>
          <p:nvPr/>
        </p:nvSpPr>
        <p:spPr>
          <a:xfrm>
            <a:off x="597103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Mgmt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11403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7114032" y="3456432"/>
            <a:ext cx="1115568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04" name="Text 102"/>
          <p:cNvSpPr/>
          <p:nvPr/>
        </p:nvSpPr>
        <p:spPr>
          <a:xfrm>
            <a:off x="715975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Extraction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30275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18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8302752" y="3456432"/>
            <a:ext cx="1115568" cy="6400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107" name="Text 105"/>
          <p:cNvSpPr/>
          <p:nvPr/>
        </p:nvSpPr>
        <p:spPr>
          <a:xfrm>
            <a:off x="834847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949147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9491472" y="3456432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10" name="Text 108"/>
          <p:cNvSpPr/>
          <p:nvPr/>
        </p:nvSpPr>
        <p:spPr>
          <a:xfrm>
            <a:off x="953719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TBML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1068019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E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10680192" y="3456432"/>
            <a:ext cx="1115568" cy="6400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113" name="Text 111"/>
          <p:cNvSpPr/>
          <p:nvPr/>
        </p:nvSpPr>
        <p:spPr>
          <a:xfrm>
            <a:off x="1072591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914400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Architecture — 2030 North Star View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778240" y="128016"/>
            <a:ext cx="3273552" cy="292608"/>
          </a:xfrm>
          <a:prstGeom prst="rect">
            <a:avLst/>
          </a:prstGeom>
          <a:solidFill>
            <a:srgbClr val="F0EFF9"/>
          </a:solidFill>
          <a:ln w="12700">
            <a:solidFill>
              <a:srgbClr val="9B98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128016"/>
            <a:ext cx="64008" cy="292608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0" y="12801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Indigo = AI-Agentic Domain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56692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AI-orchestrated end-to-end flows · Context extraction · Autonomous decision-making · Agentic processing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" y="969264"/>
            <a:ext cx="1280160" cy="537667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969264"/>
            <a:ext cx="1280160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" y="106070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LOGIN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2880" y="133502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335024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App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(TCFE)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171907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171907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21031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10312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" y="248716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487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287121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287121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3291840"/>
            <a:ext cx="109728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336499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CHANNELS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82880" y="3639312"/>
            <a:ext cx="1097280" cy="310896"/>
          </a:xfrm>
          <a:prstGeom prst="rect">
            <a:avLst/>
          </a:prstGeom>
          <a:solidFill>
            <a:srgbClr val="DDE8F5"/>
          </a:solidFill>
          <a:ln w="6350">
            <a:solidFill>
              <a:srgbClr val="8AAD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363931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4023360"/>
            <a:ext cx="1097280" cy="310896"/>
          </a:xfrm>
          <a:prstGeom prst="rect">
            <a:avLst/>
          </a:prstGeom>
          <a:solidFill>
            <a:srgbClr val="DDE8F5"/>
          </a:solidFill>
          <a:ln w="6350">
            <a:solidFill>
              <a:srgbClr val="8AAD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402336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4407408"/>
            <a:ext cx="1097280" cy="310896"/>
          </a:xfrm>
          <a:prstGeom prst="rect">
            <a:avLst/>
          </a:prstGeom>
          <a:solidFill>
            <a:srgbClr val="DDE8F5"/>
          </a:solidFill>
          <a:ln w="6350">
            <a:solidFill>
              <a:srgbClr val="8AAD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440740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FI's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" y="4791456"/>
            <a:ext cx="1097280" cy="310896"/>
          </a:xfrm>
          <a:prstGeom prst="rect">
            <a:avLst/>
          </a:prstGeom>
          <a:solidFill>
            <a:srgbClr val="DDE8F5"/>
          </a:solidFill>
          <a:ln w="6350">
            <a:solidFill>
              <a:srgbClr val="8AA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479145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2880" y="5175504"/>
            <a:ext cx="1097280" cy="310896"/>
          </a:xfrm>
          <a:prstGeom prst="rect">
            <a:avLst/>
          </a:prstGeom>
          <a:solidFill>
            <a:srgbClr val="DDE8F5"/>
          </a:solidFill>
          <a:ln w="6350">
            <a:solidFill>
              <a:srgbClr val="8AAD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5175504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89888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89888" y="40782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572768" y="969264"/>
            <a:ext cx="1225296" cy="537667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72768" y="969264"/>
            <a:ext cx="1225296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0" name="Text 38"/>
          <p:cNvSpPr/>
          <p:nvPr/>
        </p:nvSpPr>
        <p:spPr>
          <a:xfrm>
            <a:off x="1645920" y="10607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CONNECTOR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664208" y="13167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64208" y="1536192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00784" y="153619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664208" y="1865376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00784" y="186537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664208" y="2194560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00784" y="219456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664208" y="2523744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00784" y="252374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L/c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664208" y="2852928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00784" y="285292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664208" y="3328416"/>
            <a:ext cx="1042416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64208" y="340156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664208" y="3621024"/>
            <a:ext cx="1042416" cy="256032"/>
          </a:xfrm>
          <a:prstGeom prst="rect">
            <a:avLst/>
          </a:prstGeom>
          <a:solidFill>
            <a:srgbClr val="DFF0E4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00784" y="362102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664208" y="3950208"/>
            <a:ext cx="1042416" cy="256032"/>
          </a:xfrm>
          <a:prstGeom prst="rect">
            <a:avLst/>
          </a:prstGeom>
          <a:solidFill>
            <a:srgbClr val="DFF0E4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00784" y="395020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664208" y="4279392"/>
            <a:ext cx="1042416" cy="256032"/>
          </a:xfrm>
          <a:prstGeom prst="rect">
            <a:avLst/>
          </a:prstGeom>
          <a:solidFill>
            <a:srgbClr val="DFF0E4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00784" y="427939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664208" y="4608576"/>
            <a:ext cx="1042416" cy="256032"/>
          </a:xfrm>
          <a:prstGeom prst="rect">
            <a:avLst/>
          </a:prstGeom>
          <a:solidFill>
            <a:srgbClr val="DFF0E4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00784" y="460857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816352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2816352" y="40782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781410" y="969264"/>
            <a:ext cx="4452396" cy="29260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27714" y="969264"/>
            <a:ext cx="4159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TwC AGENTIC FLOWS  —  AI ORCHESTRATION LAYER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07608" y="1261872"/>
            <a:ext cx="0" cy="146304"/>
          </a:xfrm>
          <a:prstGeom prst="line">
            <a:avLst/>
          </a:prstGeom>
          <a:noFill/>
          <a:ln w="19050">
            <a:solidFill>
              <a:srgbClr val="9B98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99232" y="1426464"/>
            <a:ext cx="2737622" cy="2578608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2999232" y="1426464"/>
            <a:ext cx="2737622" cy="54864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69" name="Text 67"/>
          <p:cNvSpPr/>
          <p:nvPr/>
        </p:nvSpPr>
        <p:spPr>
          <a:xfrm>
            <a:off x="3108960" y="1517904"/>
            <a:ext cx="20975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DECISION ENGINE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950470" y="149961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50470" y="149961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3108960" y="179222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108960" y="179222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74" name="Text 72"/>
          <p:cNvSpPr/>
          <p:nvPr/>
        </p:nvSpPr>
        <p:spPr>
          <a:xfrm>
            <a:off x="3163824" y="184708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084579" y="18288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349755" y="179222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349755" y="179222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78" name="Text 76"/>
          <p:cNvSpPr/>
          <p:nvPr/>
        </p:nvSpPr>
        <p:spPr>
          <a:xfrm>
            <a:off x="4404619" y="184708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325374" y="18288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108960" y="252374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3108960" y="252374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82" name="Text 80"/>
          <p:cNvSpPr/>
          <p:nvPr/>
        </p:nvSpPr>
        <p:spPr>
          <a:xfrm>
            <a:off x="3163824" y="257860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TBML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084579" y="25603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49755" y="252374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349755" y="252374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86" name="Text 84"/>
          <p:cNvSpPr/>
          <p:nvPr/>
        </p:nvSpPr>
        <p:spPr>
          <a:xfrm>
            <a:off x="4404619" y="257860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325374" y="25603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108960" y="325526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3108960" y="325526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90" name="Text 88"/>
          <p:cNvSpPr/>
          <p:nvPr/>
        </p:nvSpPr>
        <p:spPr>
          <a:xfrm>
            <a:off x="3163824" y="331012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TEMPLATING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084579" y="32918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349755" y="325526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4349755" y="325526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94" name="Text 92"/>
          <p:cNvSpPr/>
          <p:nvPr/>
        </p:nvSpPr>
        <p:spPr>
          <a:xfrm>
            <a:off x="4404619" y="331012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WORKABILITY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5325374" y="32918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810006" y="1426464"/>
            <a:ext cx="3205978" cy="2578608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5810006" y="1426464"/>
            <a:ext cx="3205978" cy="54864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98" name="Text 96"/>
          <p:cNvSpPr/>
          <p:nvPr/>
        </p:nvSpPr>
        <p:spPr>
          <a:xfrm>
            <a:off x="5919734" y="1517904"/>
            <a:ext cx="2364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8266176" y="149961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66176" y="149961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5727710" y="2587752"/>
            <a:ext cx="100584" cy="256032"/>
          </a:xfrm>
          <a:prstGeom prst="rect">
            <a:avLst/>
          </a:prstGeom>
          <a:solidFill>
            <a:srgbClr val="9B98CC"/>
          </a:solidFill>
          <a:ln w="12700">
            <a:solidFill>
              <a:srgbClr val="9B98C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681990" y="253288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5938022" y="1792224"/>
            <a:ext cx="2949946" cy="950976"/>
          </a:xfrm>
          <a:prstGeom prst="rect">
            <a:avLst/>
          </a:prstGeom>
          <a:solidFill>
            <a:srgbClr val="E8E7F4"/>
          </a:solidFill>
          <a:ln w="12700">
            <a:solidFill>
              <a:srgbClr val="9B98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938022" y="1792224"/>
            <a:ext cx="2949946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105" name="Text 103"/>
          <p:cNvSpPr/>
          <p:nvPr/>
        </p:nvSpPr>
        <p:spPr>
          <a:xfrm>
            <a:off x="5974598" y="1792224"/>
            <a:ext cx="287679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5938022" y="2852928"/>
            <a:ext cx="2949946" cy="1115568"/>
          </a:xfrm>
          <a:prstGeom prst="rect">
            <a:avLst/>
          </a:prstGeom>
          <a:solidFill>
            <a:srgbClr val="E8E7F4"/>
          </a:solidFill>
          <a:ln w="12700">
            <a:solidFill>
              <a:srgbClr val="9B98C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938022" y="2852928"/>
            <a:ext cx="2949946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108" name="Text 106"/>
          <p:cNvSpPr/>
          <p:nvPr/>
        </p:nvSpPr>
        <p:spPr>
          <a:xfrm>
            <a:off x="5974598" y="2852928"/>
            <a:ext cx="287679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4231162" y="4005072"/>
            <a:ext cx="0" cy="201168"/>
          </a:xfrm>
          <a:prstGeom prst="line">
            <a:avLst/>
          </a:prstGeom>
          <a:noFill/>
          <a:ln w="19050">
            <a:solidFill>
              <a:srgbClr val="C9A88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066570" y="404164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7412995" y="4005072"/>
            <a:ext cx="0" cy="201168"/>
          </a:xfrm>
          <a:prstGeom prst="line">
            <a:avLst/>
          </a:prstGeom>
          <a:noFill/>
          <a:ln w="19050">
            <a:solidFill>
              <a:srgbClr val="C9A88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248403" y="404164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2999232" y="4242816"/>
            <a:ext cx="6016752" cy="2066544"/>
          </a:xfrm>
          <a:prstGeom prst="rect">
            <a:avLst/>
          </a:prstGeom>
          <a:solidFill>
            <a:srgbClr val="DFF0E4"/>
          </a:solidFill>
          <a:ln w="12700">
            <a:solidFill>
              <a:srgbClr val="8EC99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999232" y="4242816"/>
            <a:ext cx="6016752" cy="54864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115" name="Text 113"/>
          <p:cNvSpPr/>
          <p:nvPr/>
        </p:nvSpPr>
        <p:spPr>
          <a:xfrm>
            <a:off x="3127248" y="43342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PLATFORM  —  Shared Domain Services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3127248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127248" y="4608576"/>
            <a:ext cx="1108253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118" name="Text 116"/>
          <p:cNvSpPr/>
          <p:nvPr/>
        </p:nvSpPr>
        <p:spPr>
          <a:xfrm>
            <a:off x="3163824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290365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90365" y="4608576"/>
            <a:ext cx="1108253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121" name="Text 119"/>
          <p:cNvSpPr/>
          <p:nvPr/>
        </p:nvSpPr>
        <p:spPr>
          <a:xfrm>
            <a:off x="4326941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453482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453482" y="4608576"/>
            <a:ext cx="1108253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124" name="Text 122"/>
          <p:cNvSpPr/>
          <p:nvPr/>
        </p:nvSpPr>
        <p:spPr>
          <a:xfrm>
            <a:off x="5490058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6616598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616598" y="4608576"/>
            <a:ext cx="1108253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127" name="Text 125"/>
          <p:cNvSpPr/>
          <p:nvPr/>
        </p:nvSpPr>
        <p:spPr>
          <a:xfrm>
            <a:off x="6653174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7779715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779715" y="4608576"/>
            <a:ext cx="1108253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130" name="Text 128"/>
          <p:cNvSpPr/>
          <p:nvPr/>
        </p:nvSpPr>
        <p:spPr>
          <a:xfrm>
            <a:off x="7816291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3127248" y="5212080"/>
            <a:ext cx="1108253" cy="493776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127248" y="5212080"/>
            <a:ext cx="1108253" cy="457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33" name="Text 131"/>
          <p:cNvSpPr/>
          <p:nvPr/>
        </p:nvSpPr>
        <p:spPr>
          <a:xfrm>
            <a:off x="3163824" y="5266944"/>
            <a:ext cx="7973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3467405" y="524865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467405" y="524865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4290365" y="5212080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290365" y="5212080"/>
            <a:ext cx="1108253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138" name="Text 136"/>
          <p:cNvSpPr/>
          <p:nvPr/>
        </p:nvSpPr>
        <p:spPr>
          <a:xfrm>
            <a:off x="4326941" y="5266944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5453482" y="5212080"/>
            <a:ext cx="1108253" cy="493776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453482" y="5212080"/>
            <a:ext cx="1108253" cy="457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41" name="Text 139"/>
          <p:cNvSpPr/>
          <p:nvPr/>
        </p:nvSpPr>
        <p:spPr>
          <a:xfrm>
            <a:off x="5490058" y="5266944"/>
            <a:ext cx="7973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5793638" y="524865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793638" y="524865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44" name="Shape 142"/>
          <p:cNvSpPr/>
          <p:nvPr/>
        </p:nvSpPr>
        <p:spPr>
          <a:xfrm>
            <a:off x="6616598" y="5212080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8EC99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616598" y="5212080"/>
            <a:ext cx="1108253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146" name="Text 144"/>
          <p:cNvSpPr/>
          <p:nvPr/>
        </p:nvSpPr>
        <p:spPr>
          <a:xfrm>
            <a:off x="6653174" y="5266944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7779715" y="5212080"/>
            <a:ext cx="1108253" cy="493776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779715" y="5212080"/>
            <a:ext cx="1108253" cy="457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49" name="Text 147"/>
          <p:cNvSpPr/>
          <p:nvPr/>
        </p:nvSpPr>
        <p:spPr>
          <a:xfrm>
            <a:off x="7816291" y="5266944"/>
            <a:ext cx="7973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8119872" y="524865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119872" y="524865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52" name="Text 150"/>
          <p:cNvSpPr/>
          <p:nvPr/>
        </p:nvSpPr>
        <p:spPr>
          <a:xfrm>
            <a:off x="9034272" y="174284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3" name="Text 151"/>
          <p:cNvSpPr/>
          <p:nvPr/>
        </p:nvSpPr>
        <p:spPr>
          <a:xfrm>
            <a:off x="9034272" y="506943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4" name="Shape 152"/>
          <p:cNvSpPr/>
          <p:nvPr/>
        </p:nvSpPr>
        <p:spPr>
          <a:xfrm>
            <a:off x="9217152" y="969264"/>
            <a:ext cx="2907792" cy="281635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217152" y="969264"/>
            <a:ext cx="2907792" cy="54864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156" name="Text 154"/>
          <p:cNvSpPr/>
          <p:nvPr/>
        </p:nvSpPr>
        <p:spPr>
          <a:xfrm>
            <a:off x="9308592" y="106070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 PLATFORM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9326880" y="1353312"/>
            <a:ext cx="2688336" cy="384048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345168" y="13533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9326880" y="1819656"/>
            <a:ext cx="2688336" cy="384048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345168" y="18196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9326880" y="2286000"/>
            <a:ext cx="2688336" cy="384048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345168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SWIFTS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9326880" y="2752344"/>
            <a:ext cx="2688336" cy="384048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345168" y="27523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9326880" y="3218688"/>
            <a:ext cx="2688336" cy="384048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345168" y="3218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12134088" y="969264"/>
            <a:ext cx="0" cy="5376672"/>
          </a:xfrm>
          <a:prstGeom prst="line">
            <a:avLst/>
          </a:prstGeom>
          <a:noFill/>
          <a:ln w="9525">
            <a:solidFill>
              <a:srgbClr val="D6CCC2"/>
            </a:solidFill>
            <a:prstDash val="dash"/>
          </a:ln>
        </p:spPr>
      </p:sp>
      <p:sp>
        <p:nvSpPr>
          <p:cNvPr id="168" name="Shape 166"/>
          <p:cNvSpPr/>
          <p:nvPr/>
        </p:nvSpPr>
        <p:spPr>
          <a:xfrm>
            <a:off x="9217152" y="3895344"/>
            <a:ext cx="2907792" cy="245059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217152" y="3895344"/>
            <a:ext cx="2907792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70" name="Text 168"/>
          <p:cNvSpPr/>
          <p:nvPr/>
        </p:nvSpPr>
        <p:spPr>
          <a:xfrm>
            <a:off x="9308592" y="398678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 DATA LAKE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9326880" y="4279392"/>
            <a:ext cx="2688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9345168" y="42793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</a:t>
            </a:r>
            <a:endParaRPr lang="en-US" sz="950" dirty="0"/>
          </a:p>
        </p:txBody>
      </p:sp>
      <p:sp>
        <p:nvSpPr>
          <p:cNvPr id="173" name="Shape 171"/>
          <p:cNvSpPr/>
          <p:nvPr/>
        </p:nvSpPr>
        <p:spPr>
          <a:xfrm>
            <a:off x="9326880" y="4828032"/>
            <a:ext cx="2688336" cy="438912"/>
          </a:xfrm>
          <a:prstGeom prst="rect">
            <a:avLst/>
          </a:prstGeom>
          <a:solidFill>
            <a:srgbClr val="F0EFF9"/>
          </a:solidFill>
          <a:ln w="15240">
            <a:solidFill>
              <a:srgbClr val="9B98C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326880" y="4828032"/>
            <a:ext cx="2688336" cy="457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75" name="Text 173"/>
          <p:cNvSpPr/>
          <p:nvPr/>
        </p:nvSpPr>
        <p:spPr>
          <a:xfrm>
            <a:off x="9345168" y="4828032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176" name="Shape 174"/>
          <p:cNvSpPr/>
          <p:nvPr/>
        </p:nvSpPr>
        <p:spPr>
          <a:xfrm>
            <a:off x="11247120" y="4946904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1247120" y="494690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78" name="Shape 176"/>
          <p:cNvSpPr/>
          <p:nvPr/>
        </p:nvSpPr>
        <p:spPr>
          <a:xfrm>
            <a:off x="9326880" y="5376672"/>
            <a:ext cx="2688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9345168" y="53766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REPORTING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Migration Roadmap  ·  2025 → 2030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Foundation · Business Capabilities · AI Automation · Infrastructure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83664" y="987552"/>
            <a:ext cx="1986077" cy="42062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987552"/>
            <a:ext cx="10923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 STABILISE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6006" y="987552"/>
            <a:ext cx="8738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06317" y="987552"/>
            <a:ext cx="4008730" cy="420624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4333" y="987552"/>
            <a:ext cx="220480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MODERNISE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11118" y="987552"/>
            <a:ext cx="17638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51622" y="987552"/>
            <a:ext cx="4008730" cy="42062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79638" y="987552"/>
            <a:ext cx="220480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SCALE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56424" y="987552"/>
            <a:ext cx="17638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2028–2030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83664" y="987552"/>
            <a:ext cx="0" cy="5413248"/>
          </a:xfrm>
          <a:prstGeom prst="line">
            <a:avLst/>
          </a:prstGeom>
          <a:noFill/>
          <a:ln w="12700">
            <a:solidFill>
              <a:srgbClr val="B8A8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83664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06317" y="987552"/>
            <a:ext cx="0" cy="5413248"/>
          </a:xfrm>
          <a:prstGeom prst="line">
            <a:avLst/>
          </a:prstGeom>
          <a:noFill/>
          <a:ln w="6350">
            <a:solidFill>
              <a:srgbClr val="EDE6D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906317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28970" y="987552"/>
            <a:ext cx="0" cy="5413248"/>
          </a:xfrm>
          <a:prstGeom prst="line">
            <a:avLst/>
          </a:prstGeom>
          <a:noFill/>
          <a:ln w="6350">
            <a:solidFill>
              <a:srgbClr val="EDE6DF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928970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51622" y="987552"/>
            <a:ext cx="0" cy="5413248"/>
          </a:xfrm>
          <a:prstGeom prst="line">
            <a:avLst/>
          </a:prstGeom>
          <a:noFill/>
          <a:ln w="6350">
            <a:solidFill>
              <a:srgbClr val="EDE6D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951622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974275" y="987552"/>
            <a:ext cx="0" cy="5413248"/>
          </a:xfrm>
          <a:prstGeom prst="line">
            <a:avLst/>
          </a:prstGeom>
          <a:noFill/>
          <a:ln w="6350">
            <a:solidFill>
              <a:srgbClr val="EDE6D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974275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996928" y="987552"/>
            <a:ext cx="0" cy="5413248"/>
          </a:xfrm>
          <a:prstGeom prst="line">
            <a:avLst/>
          </a:prstGeom>
          <a:noFill/>
          <a:ln w="12700">
            <a:solidFill>
              <a:srgbClr val="B8A8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96928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1440" y="1700784"/>
            <a:ext cx="1737360" cy="96926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" y="1792224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883664" y="1700784"/>
            <a:ext cx="1011326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75104" y="1764792"/>
            <a:ext cx="1839773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975104" y="1764792"/>
            <a:ext cx="1839773" cy="457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4" name="Text 32"/>
          <p:cNvSpPr/>
          <p:nvPr/>
        </p:nvSpPr>
        <p:spPr>
          <a:xfrm>
            <a:off x="2066544" y="1819656"/>
            <a:ext cx="16568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&amp; Document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66544" y="2029968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Audit Oracle/Mule (1.8k tables, 10k procs)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066544" y="2176272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Map all E2E workflows end-to-end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066544" y="2322576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Quick-win STP: 20% → 40%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066544" y="2468880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Architecture decision records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997757" y="1764792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997757" y="1764792"/>
            <a:ext cx="3862426" cy="457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1" name="Text 39"/>
          <p:cNvSpPr/>
          <p:nvPr/>
        </p:nvSpPr>
        <p:spPr>
          <a:xfrm>
            <a:off x="4089197" y="1819656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&amp; Modernise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089197" y="202996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Provider-agnostic processing layer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089197" y="217627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Micro-frontend + shared toolkit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089197" y="232257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Kafka event-driven core live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089197" y="246888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Off VSI — containerised K8s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043062" y="1764792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43062" y="1764792"/>
            <a:ext cx="3862426" cy="457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8" name="Text 46"/>
          <p:cNvSpPr/>
          <p:nvPr/>
        </p:nvSpPr>
        <p:spPr>
          <a:xfrm>
            <a:off x="8134502" y="1819656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at Scale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134502" y="202996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4-cluster HA, auto-scaling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8134502" y="217627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CI/CD GitOps pipeline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134502" y="232257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 Nine's availability SLA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134502" y="246888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Blue/green zero-downtime deploys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1440" y="2715768"/>
            <a:ext cx="1737360" cy="969264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8016" y="2807208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883664" y="2715768"/>
            <a:ext cx="10113264" cy="969264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75104" y="2779776"/>
            <a:ext cx="1839773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2F6B3E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975104" y="2779776"/>
            <a:ext cx="1839773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58" name="Text 56"/>
          <p:cNvSpPr/>
          <p:nvPr/>
        </p:nvSpPr>
        <p:spPr>
          <a:xfrm>
            <a:off x="2066544" y="2834640"/>
            <a:ext cx="16568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Must-Haves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066544" y="3044952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Unified client UX across channels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066544" y="3191256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Portfolio + deal dashboards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066544" y="3337560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Improved channel onboarding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066544" y="3483864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Quick wins: high-value pain points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997757" y="2779776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2F6B3E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997757" y="2779776"/>
            <a:ext cx="3862426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65" name="Text 63"/>
          <p:cNvSpPr/>
          <p:nvPr/>
        </p:nvSpPr>
        <p:spPr>
          <a:xfrm>
            <a:off x="4089197" y="2834640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089197" y="304495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Tokenisation capabilities live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089197" y="319125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Fintech integration (WCA)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089197" y="333756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Structured working capital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089197" y="348386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GSCF-like distribution models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043062" y="2779776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2F6B3E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043062" y="2779776"/>
            <a:ext cx="3862426" cy="45720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72" name="Text 70"/>
          <p:cNvSpPr/>
          <p:nvPr/>
        </p:nvSpPr>
        <p:spPr>
          <a:xfrm>
            <a:off x="8134502" y="2834640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Leadership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8134502" y="304495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Trade distribution platform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134502" y="319125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$1B revenue architecture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134502" y="333756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Unified commercial accelerator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134502" y="348386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 &amp; analytics product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91440" y="3730752"/>
            <a:ext cx="1737360" cy="969264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28016" y="3822192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883664" y="3730752"/>
            <a:ext cx="1011326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975104" y="3794760"/>
            <a:ext cx="1839773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2B518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975104" y="3794760"/>
            <a:ext cx="1839773" cy="45720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82" name="Text 80"/>
          <p:cNvSpPr/>
          <p:nvPr/>
        </p:nvSpPr>
        <p:spPr>
          <a:xfrm>
            <a:off x="2066544" y="3849624"/>
            <a:ext cx="16568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Baseline (R0)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2066544" y="4059936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OCR + document ingestion pipeline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066544" y="4206240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RAG on trade finance corpus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066544" y="4352544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Maker accuracy baseline &gt;90%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066544" y="4498848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Human-in-loop feedback loops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997757" y="3794760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2B518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3997757" y="3794760"/>
            <a:ext cx="3862426" cy="45720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89" name="Text 87"/>
          <p:cNvSpPr/>
          <p:nvPr/>
        </p:nvSpPr>
        <p:spPr>
          <a:xfrm>
            <a:off x="4089197" y="3849624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(R1)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089197" y="405993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Semi-automated Maker role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089197" y="420624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90–95% accuracy in production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4089197" y="435254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Model retraining pipelines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4089197" y="449884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Checker AI assist — pilot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8043062" y="3794760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2B518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8043062" y="3794760"/>
            <a:ext cx="3862426" cy="45720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96" name="Text 94"/>
          <p:cNvSpPr/>
          <p:nvPr/>
        </p:nvSpPr>
        <p:spPr>
          <a:xfrm>
            <a:off x="8134502" y="3849624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(R2)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134502" y="405993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Maker automation live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8134502" y="420624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Checker — exceptions only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8134502" y="435254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&gt;95% accuracy · ~90% STP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8134502" y="449884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Human reserved for edge cases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91440" y="4745736"/>
            <a:ext cx="1737360" cy="96926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28016" y="4837176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883664" y="4745736"/>
            <a:ext cx="10113264" cy="969264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975104" y="4809744"/>
            <a:ext cx="1839773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1975104" y="4809744"/>
            <a:ext cx="183977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06" name="Text 104"/>
          <p:cNvSpPr/>
          <p:nvPr/>
        </p:nvSpPr>
        <p:spPr>
          <a:xfrm>
            <a:off x="2066544" y="4864608"/>
            <a:ext cx="16568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2066544" y="5074920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VSI → container pilot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2066544" y="5221224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Security hardening + DR plan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066544" y="5367528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Cost baseline established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066544" y="5513832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Observability tooling deployed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997757" y="4809744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3997757" y="4809744"/>
            <a:ext cx="3862426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13" name="Text 111"/>
          <p:cNvSpPr/>
          <p:nvPr/>
        </p:nvSpPr>
        <p:spPr>
          <a:xfrm>
            <a:off x="4089197" y="4864608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 Infra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4089197" y="507492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Multi-cluster HA deployment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4089197" y="522122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Shared platform utilities layer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4089197" y="536752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Cost of change −30%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089197" y="551383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Time-to-market: 2–6 months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8043062" y="4809744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8043062" y="4809744"/>
            <a:ext cx="3862426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20" name="Text 118"/>
          <p:cNvSpPr/>
          <p:nvPr/>
        </p:nvSpPr>
        <p:spPr>
          <a:xfrm>
            <a:off x="8134502" y="4864608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Scale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8134502" y="507492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auto-scaling operations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8134502" y="522122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Multi-tenant architecture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8134502" y="536752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Infrastructure fully as code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8134502" y="551383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SLA target 99.999%+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1883664" y="6016752"/>
            <a:ext cx="10113264" cy="54864"/>
          </a:xfrm>
          <a:prstGeom prst="rect">
            <a:avLst/>
          </a:prstGeom>
          <a:solidFill>
            <a:srgbClr val="D6CCC2"/>
          </a:solidFill>
          <a:ln w="12700">
            <a:solidFill>
              <a:srgbClr val="D6CCC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883664" y="6016752"/>
            <a:ext cx="2022653" cy="5486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906317" y="6016752"/>
            <a:ext cx="4045306" cy="54864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951622" y="6016752"/>
            <a:ext cx="4045306" cy="5486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778301" y="5943600"/>
            <a:ext cx="256032" cy="256032"/>
          </a:xfrm>
          <a:prstGeom prst="ellipse">
            <a:avLst/>
          </a:prstGeom>
          <a:solidFill>
            <a:srgbClr val="9B601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357677" y="5833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Gate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357677" y="6199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&gt;40%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7823606" y="5943600"/>
            <a:ext cx="256032" cy="256032"/>
          </a:xfrm>
          <a:prstGeom prst="ellipse">
            <a:avLst/>
          </a:prstGeom>
          <a:solidFill>
            <a:srgbClr val="9B601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402982" y="5833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Gate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7402982" y="6199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&gt;70%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11666647" y="5943600"/>
            <a:ext cx="256032" cy="256032"/>
          </a:xfrm>
          <a:prstGeom prst="ellipse">
            <a:avLst/>
          </a:prstGeom>
          <a:solidFill>
            <a:srgbClr val="9B601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1246023" y="5833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Gate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11246023" y="6199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~90%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Execution Plan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each phase — and what it unlocks for the business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24128"/>
            <a:ext cx="3858768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127000" dist="38100" dir="8100000">
              <a:srgbClr val="9A886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24128"/>
            <a:ext cx="3858768" cy="475488"/>
          </a:xfrm>
          <a:prstGeom prst="rect">
            <a:avLst/>
          </a:prstGeom>
          <a:solidFill>
            <a:srgbClr val="D8C8B8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0789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— STABILISE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29844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" y="1499616"/>
            <a:ext cx="3858768" cy="438912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536192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bleeding. Build the foundation.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1975104"/>
            <a:ext cx="356616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066544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066544"/>
            <a:ext cx="64008" cy="47548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08483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document Oracle/Mule landscape (1.8k tables, ~10k procedures)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2596896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596896"/>
            <a:ext cx="64008" cy="47548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2615184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end-to-end workflows; capture SME knowledge before it is lost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3127248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127248"/>
            <a:ext cx="64008" cy="47548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145536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Quick-win STP improvements: target 20% → 40%+ straight-through processing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3657600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657600"/>
            <a:ext cx="64008" cy="47548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67588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micro-frontend architecture &amp; shared utilities layer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4187952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4187952"/>
            <a:ext cx="64008" cy="47548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420624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AI/OCR baseline for document processing (&gt;90% accuracy)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4718304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4718304"/>
            <a:ext cx="64008" cy="47548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" y="473659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migration pilot; security hardening on VSI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1168" y="5852160"/>
            <a:ext cx="3858768" cy="658368"/>
          </a:xfrm>
          <a:prstGeom prst="rect">
            <a:avLst/>
          </a:prstGeom>
          <a:solidFill>
            <a:srgbClr val="EDE6DF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" y="5888736"/>
            <a:ext cx="3602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STP &gt;40%  ·  Architecture blueprint ready  ·  Ops risk reduced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87952" y="1024128"/>
            <a:ext cx="3858768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127000" dist="38100" dir="8100000">
              <a:srgbClr val="9A8868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87952" y="1024128"/>
            <a:ext cx="3858768" cy="47548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37" name="Text 35"/>
          <p:cNvSpPr/>
          <p:nvPr/>
        </p:nvSpPr>
        <p:spPr>
          <a:xfrm>
            <a:off x="4334256" y="10789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MODERNISE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34256" y="129844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87952" y="1499616"/>
            <a:ext cx="3858768" cy="438912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40" name="Text 38"/>
          <p:cNvSpPr/>
          <p:nvPr/>
        </p:nvSpPr>
        <p:spPr>
          <a:xfrm>
            <a:off x="4334256" y="1536192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Replace, don't patch. Decouple everything.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34256" y="1975104"/>
            <a:ext cx="356616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34256" y="2066544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34256" y="2066544"/>
            <a:ext cx="64008" cy="47548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44" name="Text 42"/>
          <p:cNvSpPr/>
          <p:nvPr/>
        </p:nvSpPr>
        <p:spPr>
          <a:xfrm>
            <a:off x="4462272" y="208483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processing layer — swap Loan IQ / Absolute without FE impact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34256" y="2596896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34256" y="2596896"/>
            <a:ext cx="64008" cy="47548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47" name="Text 45"/>
          <p:cNvSpPr/>
          <p:nvPr/>
        </p:nvSpPr>
        <p:spPr>
          <a:xfrm>
            <a:off x="4462272" y="2615184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Micro-frontend rollout + shared utilities framework in production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334256" y="3127248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34256" y="3127248"/>
            <a:ext cx="64008" cy="47548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50" name="Text 48"/>
          <p:cNvSpPr/>
          <p:nvPr/>
        </p:nvSpPr>
        <p:spPr>
          <a:xfrm>
            <a:off x="4462272" y="3145536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event-driven core for all payment workflows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334256" y="3657600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34256" y="3657600"/>
            <a:ext cx="64008" cy="47548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53" name="Text 51"/>
          <p:cNvSpPr/>
          <p:nvPr/>
        </p:nvSpPr>
        <p:spPr>
          <a:xfrm>
            <a:off x="4462272" y="367588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Maker role; semi-automated STP — accuracy 90–95%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34256" y="4187952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34256" y="4187952"/>
            <a:ext cx="64008" cy="47548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56" name="Text 54"/>
          <p:cNvSpPr/>
          <p:nvPr/>
        </p:nvSpPr>
        <p:spPr>
          <a:xfrm>
            <a:off x="4462272" y="420624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+ Fintech partner integration (Working Capital Accelerator)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34256" y="4718304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34256" y="4718304"/>
            <a:ext cx="64008" cy="47548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59" name="Text 57"/>
          <p:cNvSpPr/>
          <p:nvPr/>
        </p:nvSpPr>
        <p:spPr>
          <a:xfrm>
            <a:off x="4462272" y="473659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off VSI; multi-cluster HA; cost of change −30%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187952" y="5852160"/>
            <a:ext cx="3858768" cy="65836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61" name="Text 59"/>
          <p:cNvSpPr/>
          <p:nvPr/>
        </p:nvSpPr>
        <p:spPr>
          <a:xfrm>
            <a:off x="4334256" y="5888736"/>
            <a:ext cx="3602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STP &gt;70%  ·  Time-to-market 2–6 months  ·  Accuracy 90–95%  ·  Cost −30%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174736" y="1024128"/>
            <a:ext cx="3858768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127000" dist="38100" dir="8100000">
              <a:srgbClr val="9A8868">
                <a:alpha val="2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174736" y="1024128"/>
            <a:ext cx="3858768" cy="47548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4" name="Text 62"/>
          <p:cNvSpPr/>
          <p:nvPr/>
        </p:nvSpPr>
        <p:spPr>
          <a:xfrm>
            <a:off x="8321040" y="10789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SCALE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321040" y="129844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2028–2030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174736" y="1499616"/>
            <a:ext cx="3858768" cy="438912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67" name="Text 65"/>
          <p:cNvSpPr/>
          <p:nvPr/>
        </p:nvSpPr>
        <p:spPr>
          <a:xfrm>
            <a:off x="8321040" y="1536192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$1B. Platform becomes a product.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321040" y="1975104"/>
            <a:ext cx="356616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21040" y="2066544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21040" y="2066544"/>
            <a:ext cx="64008" cy="47548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71" name="Text 69"/>
          <p:cNvSpPr/>
          <p:nvPr/>
        </p:nvSpPr>
        <p:spPr>
          <a:xfrm>
            <a:off x="8449056" y="208483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9's availability across 4 clusters with auto-scaling operations model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321040" y="2596896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21040" y="2596896"/>
            <a:ext cx="64008" cy="47548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74" name="Text 72"/>
          <p:cNvSpPr/>
          <p:nvPr/>
        </p:nvSpPr>
        <p:spPr>
          <a:xfrm>
            <a:off x="8449056" y="2615184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Maker + AI-assisted Checker; human only for true exceptions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321040" y="3127248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21040" y="3127248"/>
            <a:ext cx="64008" cy="47548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77" name="Text 75"/>
          <p:cNvSpPr/>
          <p:nvPr/>
        </p:nvSpPr>
        <p:spPr>
          <a:xfrm>
            <a:off x="8449056" y="3145536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distribution (GSCF-like) + structured working capital evolution live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321040" y="3657600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321040" y="3657600"/>
            <a:ext cx="64008" cy="47548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80" name="Text 78"/>
          <p:cNvSpPr/>
          <p:nvPr/>
        </p:nvSpPr>
        <p:spPr>
          <a:xfrm>
            <a:off x="8449056" y="367588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accelerator framework + data &amp; analytics platform in production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321040" y="4187952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321040" y="4187952"/>
            <a:ext cx="64008" cy="47548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83" name="Text 81"/>
          <p:cNvSpPr/>
          <p:nvPr/>
        </p:nvSpPr>
        <p:spPr>
          <a:xfrm>
            <a:off x="8449056" y="420624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commercialisable, multi-tenant, and scaled to $1B revenue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321040" y="4718304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21040" y="4718304"/>
            <a:ext cx="64008" cy="47548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86" name="Text 84"/>
          <p:cNvSpPr/>
          <p:nvPr/>
        </p:nvSpPr>
        <p:spPr>
          <a:xfrm>
            <a:off x="8449056" y="473659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~90%  ·  Accuracy &gt;95%  ·  Process steps 6 → 4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174736" y="5852160"/>
            <a:ext cx="3858768" cy="65836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88" name="Text 86"/>
          <p:cNvSpPr/>
          <p:nvPr/>
        </p:nvSpPr>
        <p:spPr>
          <a:xfrm>
            <a:off x="8321040" y="5888736"/>
            <a:ext cx="3602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STP ~90%  ·  Accuracy &gt;95%  ·  7 9's uptime  ·  Commercially viable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F6B3E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Strategic Themes &amp; Non-Negotiable Priorities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execution pillars that apply across every phase of the programme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5669280" cy="1572768"/>
          </a:xfrm>
          <a:prstGeom prst="rect">
            <a:avLst/>
          </a:prstGeom>
          <a:solidFill>
            <a:srgbClr val="F3E8DE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05840"/>
            <a:ext cx="64008" cy="1572768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0976" y="1133856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Modernise, Don't Patch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539496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45920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Mule workflows and the Oracle monolith with event-driven microservices. Every decision evaluated against commercialisability from day one. Patching only defers and multiplies the cost.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3328" y="1005840"/>
            <a:ext cx="5925312" cy="1572768"/>
          </a:xfrm>
          <a:prstGeom prst="rect">
            <a:avLst/>
          </a:prstGeom>
          <a:solidFill>
            <a:srgbClr val="DDE8F5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53328" y="1005840"/>
            <a:ext cx="64008" cy="1572768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03136" y="113385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Core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572768"/>
            <a:ext cx="5650992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645920"/>
            <a:ext cx="56327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the processing layer so Loan IQ or Absolute can be swapped without any frontend impact. Eliminates vendor lock-in, accelerates change, and reduces contractual risk.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" y="2743200"/>
            <a:ext cx="5669280" cy="1572768"/>
          </a:xfrm>
          <a:prstGeom prst="rect">
            <a:avLst/>
          </a:prstGeom>
          <a:solidFill>
            <a:srgbClr val="DFF0E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743200"/>
            <a:ext cx="64008" cy="1572768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976" y="2871216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Operations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310128"/>
            <a:ext cx="539496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383280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from AI-assisted (R1) to fully automated Maker/Checker (R2). Human involvement reserved for truly exceptional cases. Target &gt;95% document accuracy, ~90% STP by 2030.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53328" y="2743200"/>
            <a:ext cx="5925312" cy="1572768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53328" y="2743200"/>
            <a:ext cx="64008" cy="1572768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03136" y="287121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Capabilities as Big Rocks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3310128"/>
            <a:ext cx="5650992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3383280"/>
            <a:ext cx="56327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Tokenisation, fintech integration, GSCF-like trade distribution, and deal management are competitive necessities — not optional features — to reach $1B revenue.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" y="4480560"/>
            <a:ext cx="5669280" cy="1572768"/>
          </a:xfrm>
          <a:prstGeom prst="rect">
            <a:avLst/>
          </a:prstGeom>
          <a:solidFill>
            <a:srgbClr val="F3E8DE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1168" y="4480560"/>
            <a:ext cx="64008" cy="1572768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50976" y="4608576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Product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5047488"/>
            <a:ext cx="539496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5120640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End-state is commercialisable and multi-tenant. Every architecture decision must answer: 'Can we sell this?' The Connector and API layer unlock a direct new revenue stream.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53328" y="4480560"/>
            <a:ext cx="5925312" cy="1572768"/>
          </a:xfrm>
          <a:prstGeom prst="rect">
            <a:avLst/>
          </a:prstGeom>
          <a:solidFill>
            <a:srgbClr val="F3E8DE"/>
          </a:solidFill>
          <a:ln w="19050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53328" y="4480560"/>
            <a:ext cx="64008" cy="157276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0" name="Shape 38"/>
          <p:cNvSpPr/>
          <p:nvPr/>
        </p:nvSpPr>
        <p:spPr>
          <a:xfrm>
            <a:off x="6254496" y="5138928"/>
            <a:ext cx="5376672" cy="0"/>
          </a:xfrm>
          <a:prstGeom prst="line">
            <a:avLst/>
          </a:prstGeom>
          <a:noFill/>
          <a:ln w="6350">
            <a:solidFill>
              <a:srgbClr val="C9A8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460857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what we have  →  These are the constraints  →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must change to scale."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54496" y="559612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  ·  Omar Review  ·  2025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2026-02-19T14:02:49Z</dcterms:created>
  <dcterms:modified xsi:type="dcterms:W3CDTF">2026-02-19T14:02:49Z</dcterms:modified>
</cp:coreProperties>
</file>