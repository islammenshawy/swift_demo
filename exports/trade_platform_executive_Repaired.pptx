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761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973568" y="0"/>
            <a:ext cx="91440" cy="6858000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138160" y="457200"/>
            <a:ext cx="3840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E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6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973568" cy="64008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56032"/>
            <a:ext cx="2011680" cy="274320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56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PLATFORM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658368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Roadmap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$1B Platform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457200" y="3127248"/>
            <a:ext cx="4754880" cy="0"/>
          </a:xfrm>
          <a:prstGeom prst="line">
            <a:avLst/>
          </a:prstGeom>
          <a:noFill/>
          <a:ln w="31750">
            <a:solidFill>
              <a:srgbClr val="5C33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255264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fragmented legacy monolith to unified,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AI-native trade finance platform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315968"/>
            <a:ext cx="1700784" cy="1225296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4315968"/>
            <a:ext cx="1700784" cy="64008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440740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RATE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66928" y="4681728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→ ~90%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0" y="4315968"/>
            <a:ext cx="1700784" cy="1225296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286000" y="4315968"/>
            <a:ext cx="1700784" cy="6400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395728" y="440740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395728" y="4681728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 → 1 hr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0" y="4315968"/>
            <a:ext cx="1700784" cy="1225296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0" y="4315968"/>
            <a:ext cx="1700784" cy="64008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24528" y="440740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224528" y="4681728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9's → 7 9's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0" y="4315968"/>
            <a:ext cx="1700784" cy="1225296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43600" y="4315968"/>
            <a:ext cx="1700784" cy="64008"/>
          </a:xfrm>
          <a:prstGeom prst="rect">
            <a:avLst/>
          </a:prstGeom>
          <a:solidFill>
            <a:srgbClr val="9B6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53328" y="440740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CHANGE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053328" y="4681728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568756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 ·  Leadership Review  ·  Confidential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9B6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9B6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Legacy Monolith Architecture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today's platform cannot support $1B revenue — and what breaks under load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992624" y="1865376"/>
            <a:ext cx="2176272" cy="1631290"/>
          </a:xfrm>
          <a:prstGeom prst="ellipse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  <a:effectLst>
            <a:outerShdw blurRad="177800" dist="50800" dir="8100000" algn="bl" rotWithShape="0">
              <a:srgbClr val="B8882A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19472" y="1773936"/>
            <a:ext cx="2322576" cy="1389888"/>
          </a:xfrm>
          <a:prstGeom prst="rect">
            <a:avLst/>
          </a:prstGeom>
          <a:solidFill>
            <a:srgbClr val="FEF0D4"/>
          </a:solidFill>
          <a:ln w="1905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19472" y="2962656"/>
            <a:ext cx="2322576" cy="402336"/>
          </a:xfrm>
          <a:prstGeom prst="ellipse">
            <a:avLst/>
          </a:prstGeom>
          <a:solidFill>
            <a:srgbClr val="E8C87A"/>
          </a:solidFill>
          <a:ln w="1905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19472" y="1572768"/>
            <a:ext cx="2322576" cy="402336"/>
          </a:xfrm>
          <a:prstGeom prst="ellipse">
            <a:avLst/>
          </a:prstGeom>
          <a:solidFill>
            <a:srgbClr val="FBE8C0"/>
          </a:solidFill>
          <a:ln w="1905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10912" y="1865376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10912" y="2249424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 Tables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10912" y="248716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DB for ALL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93792" y="3236976"/>
            <a:ext cx="1773936" cy="27432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2080" y="3236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~10,000 Stored Procedures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1168" y="1188720"/>
            <a:ext cx="2944368" cy="786384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01168" y="1188720"/>
            <a:ext cx="64008" cy="786384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128016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/ Mule ESB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16093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 coupled integration bus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45536" y="1581912"/>
            <a:ext cx="1773936" cy="886968"/>
          </a:xfrm>
          <a:prstGeom prst="line">
            <a:avLst/>
          </a:prstGeom>
          <a:noFill/>
          <a:ln w="12700">
            <a:solidFill>
              <a:srgbClr val="E0B87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01168" y="2194560"/>
            <a:ext cx="2944368" cy="786384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01168" y="2194560"/>
            <a:ext cx="64008" cy="786384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22860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Core (Java)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26151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embedded in database layer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45536" y="2587752"/>
            <a:ext cx="1773936" cy="0"/>
          </a:xfrm>
          <a:prstGeom prst="line">
            <a:avLst/>
          </a:prstGeom>
          <a:noFill/>
          <a:ln w="12700">
            <a:solidFill>
              <a:srgbClr val="E0B87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01168" y="3200400"/>
            <a:ext cx="2944368" cy="786384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01168" y="3200400"/>
            <a:ext cx="64008" cy="786384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4048" y="32918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Jobs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" y="362102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runs — no real-time processing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45536" y="3593592"/>
            <a:ext cx="1773936" cy="0"/>
          </a:xfrm>
          <a:prstGeom prst="line">
            <a:avLst/>
          </a:prstGeom>
          <a:noFill/>
          <a:ln w="12700">
            <a:solidFill>
              <a:srgbClr val="E0B87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034272" y="1188720"/>
            <a:ext cx="2944368" cy="786384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034272" y="1188720"/>
            <a:ext cx="64008" cy="786384"/>
          </a:xfrm>
          <a:prstGeom prst="rect">
            <a:avLst/>
          </a:prstGeom>
          <a:solidFill>
            <a:srgbClr val="A89580"/>
          </a:solidFill>
          <a:ln w="12700">
            <a:solidFill>
              <a:srgbClr val="A89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198864" y="128016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(Tightly Coupled)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98864" y="16093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DB queries via Mule — no abstraction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242048" y="2468880"/>
            <a:ext cx="1792224" cy="0"/>
          </a:xfrm>
          <a:prstGeom prst="line">
            <a:avLst/>
          </a:prstGeom>
          <a:noFill/>
          <a:ln w="12700">
            <a:solidFill>
              <a:srgbClr val="D6CCC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034272" y="2194560"/>
            <a:ext cx="2944368" cy="786384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034272" y="2194560"/>
            <a:ext cx="64008" cy="786384"/>
          </a:xfrm>
          <a:prstGeom prst="rect">
            <a:avLst/>
          </a:prstGeom>
          <a:solidFill>
            <a:srgbClr val="A89580"/>
          </a:solidFill>
          <a:ln w="12700">
            <a:solidFill>
              <a:srgbClr val="A89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198864" y="22860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Layer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198864" y="26151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queries on production Oracle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242048" y="2468880"/>
            <a:ext cx="1792224" cy="118872"/>
          </a:xfrm>
          <a:prstGeom prst="line">
            <a:avLst/>
          </a:prstGeom>
          <a:noFill/>
          <a:ln w="12700">
            <a:solidFill>
              <a:srgbClr val="D6CCC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034272" y="3200400"/>
            <a:ext cx="2944368" cy="786384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034272" y="3200400"/>
            <a:ext cx="64008" cy="786384"/>
          </a:xfrm>
          <a:prstGeom prst="rect">
            <a:avLst/>
          </a:prstGeom>
          <a:solidFill>
            <a:srgbClr val="A89580"/>
          </a:solidFill>
          <a:ln w="12700">
            <a:solidFill>
              <a:srgbClr val="A89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198864" y="32918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Integrations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198864" y="362102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/ direct database access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242048" y="2468880"/>
            <a:ext cx="1792224" cy="1124712"/>
          </a:xfrm>
          <a:prstGeom prst="line">
            <a:avLst/>
          </a:prstGeom>
          <a:noFill/>
          <a:ln w="12700">
            <a:solidFill>
              <a:srgbClr val="D6CCC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01168" y="4114800"/>
            <a:ext cx="3858768" cy="914400"/>
          </a:xfrm>
          <a:prstGeom prst="rect">
            <a:avLst/>
          </a:prstGeom>
          <a:solidFill>
            <a:srgbClr val="FEF0D4"/>
          </a:solidFill>
          <a:ln w="9525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01168" y="4114800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84048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DB Anti-Pattern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84048" y="4498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read/write same Oracle — any schema change is a system-wide event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197096" y="4114800"/>
            <a:ext cx="3858768" cy="914400"/>
          </a:xfrm>
          <a:prstGeom prst="rect">
            <a:avLst/>
          </a:prstGeom>
          <a:solidFill>
            <a:srgbClr val="FEF0D4"/>
          </a:solidFill>
          <a:ln w="9525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197096" y="4114800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379976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Trapped in Database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379976" y="4498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~10k stored procedures = untestable, unversionable, undocumentable business logic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193024" y="4114800"/>
            <a:ext cx="3858768" cy="914400"/>
          </a:xfrm>
          <a:prstGeom prst="rect">
            <a:avLst/>
          </a:prstGeom>
          <a:solidFill>
            <a:srgbClr val="FEF0D4"/>
          </a:solidFill>
          <a:ln w="9525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193024" y="4114800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375904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Horizontal Scaling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375904" y="4498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Oracle on VSI — cannot auto-scale; outages are expected, not exceptional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01168" y="5157216"/>
            <a:ext cx="3858768" cy="91440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01168" y="5157216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84048" y="5248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Batch-Only Processing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84048" y="55412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streaming; STP capped at 20% — high manual load every transaction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197096" y="5157216"/>
            <a:ext cx="3858768" cy="91440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197096" y="5157216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379976" y="5248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 ESB Spaghetti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379976" y="55412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undocumented flows; tight coupling means any change risks outage everywhere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8193024" y="5157216"/>
            <a:ext cx="3858768" cy="91440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8193024" y="5157216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375904" y="5248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Observability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375904" y="55412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distributed tracing, no metrics — failures discovered by clients before operations team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Architecture: Event-Driven, AI-Native Platform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independently deployable · DB-per-service · 7 9's availability · AI-powered STP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987552"/>
            <a:ext cx="11777472" cy="841248"/>
          </a:xfrm>
          <a:prstGeom prst="rect">
            <a:avLst/>
          </a:prstGeom>
          <a:solidFill>
            <a:srgbClr val="DFF0E4"/>
          </a:solidFill>
          <a:ln w="9525">
            <a:solidFill>
              <a:srgbClr val="8EC9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987552"/>
            <a:ext cx="11777472" cy="6400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0241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—  REACT MICRO-FRONTENDS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18288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2336" y="128016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04288" y="1261872"/>
            <a:ext cx="18288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40864" y="128016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42816" y="1261872"/>
            <a:ext cx="18288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79392" y="128016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81344" y="1261872"/>
            <a:ext cx="1828800" cy="493776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128016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  (AI + Workflow)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119872" y="1261872"/>
            <a:ext cx="1828800" cy="493776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56448" y="128016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Dashboard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0058400" y="1261872"/>
            <a:ext cx="182880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94976" y="128016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Toolkit  (LLM · Design)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1168" y="1901952"/>
            <a:ext cx="7059168" cy="2231136"/>
          </a:xfrm>
          <a:prstGeom prst="rect">
            <a:avLst/>
          </a:prstGeom>
          <a:solidFill>
            <a:srgbClr val="DDE8F5"/>
          </a:solidFill>
          <a:ln w="9525">
            <a:solidFill>
              <a:srgbClr val="8AA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01168" y="1901952"/>
            <a:ext cx="7059168" cy="64008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19476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 PLATFORM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65760" y="2212848"/>
            <a:ext cx="3246120" cy="310896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22219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WORKFLOW ENGINE  (AI-Powered)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578608"/>
            <a:ext cx="32461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258775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·  Rate Limiting · Auth · Routing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2889504"/>
            <a:ext cx="7315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4048" y="2907792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Powered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170432" y="2889504"/>
            <a:ext cx="7315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88720" y="2907792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975104" y="2889504"/>
            <a:ext cx="7315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993392" y="2907792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79776" y="2889504"/>
            <a:ext cx="7315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98064" y="2907792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584448" y="2889504"/>
            <a:ext cx="731520" cy="603504"/>
          </a:xfrm>
          <a:prstGeom prst="rect">
            <a:avLst/>
          </a:prstGeom>
          <a:solidFill>
            <a:srgbClr val="2B5187"/>
          </a:solidFill>
          <a:ln w="6350">
            <a:solidFill>
              <a:srgbClr val="2B51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02736" y="2907792"/>
            <a:ext cx="694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5760" y="3566160"/>
            <a:ext cx="131673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84048" y="35753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eic_db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(pgvector)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783080" y="3566160"/>
            <a:ext cx="131673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801368" y="35753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(MongoDB)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200400" y="3566160"/>
            <a:ext cx="131673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218688" y="35753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txn_db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(PostgreSQL)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65760" y="38770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DB-PER-SERVICE PATTERN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333488" y="1901952"/>
            <a:ext cx="1938528" cy="2231136"/>
          </a:xfrm>
          <a:prstGeom prst="rect">
            <a:avLst/>
          </a:prstGeom>
          <a:solidFill>
            <a:srgbClr val="FEF0D4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333488" y="1901952"/>
            <a:ext cx="1938528" cy="64008"/>
          </a:xfrm>
          <a:prstGeom prst="rect">
            <a:avLst/>
          </a:prstGeom>
          <a:solidFill>
            <a:srgbClr val="9B6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424928" y="194767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424928" y="223113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Data Capture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424928" y="2679192"/>
            <a:ext cx="168249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443216" y="26974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Connect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424928" y="3108960"/>
            <a:ext cx="168249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443216" y="31272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Debezium / GoldenGate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424928" y="3538728"/>
            <a:ext cx="168249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443216" y="355701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Bi-directional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01168" y="4206240"/>
            <a:ext cx="11777472" cy="1225296"/>
          </a:xfrm>
          <a:prstGeom prst="rect">
            <a:avLst/>
          </a:prstGeom>
          <a:solidFill>
            <a:srgbClr val="DFF0E4"/>
          </a:solidFill>
          <a:ln w="9525">
            <a:solidFill>
              <a:srgbClr val="8EC9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01168" y="4206240"/>
            <a:ext cx="11777472" cy="6400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65760" y="42611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SERVICES  —  DB-PER-SERVICE  ·  EACH WITH OWN DATABASE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65760" y="4544568"/>
            <a:ext cx="2834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65760" y="4544568"/>
            <a:ext cx="64008" cy="731520"/>
          </a:xfrm>
          <a:prstGeom prst="rect">
            <a:avLst/>
          </a:prstGeom>
          <a:solidFill>
            <a:srgbClr val="9B6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30352" y="4626864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  (Migrating — Dual Read)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291840" y="4544568"/>
            <a:ext cx="28346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3291840" y="4544568"/>
            <a:ext cx="64008" cy="731520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456432" y="4626864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 (Own DB — Complete)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217920" y="4544568"/>
            <a:ext cx="28346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217920" y="4544568"/>
            <a:ext cx="64008" cy="731520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382512" y="4626864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 (Own DB — Complete)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144000" y="4544568"/>
            <a:ext cx="283464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144000" y="4544568"/>
            <a:ext cx="64008" cy="731520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9308592" y="4626864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Services  (Independent)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01168" y="5504688"/>
            <a:ext cx="11777472" cy="64008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65760" y="5532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OBSERVABILITY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365760" y="5760720"/>
            <a:ext cx="1828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02336" y="57790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+ Blue/Green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304288" y="5760720"/>
            <a:ext cx="1828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2340864" y="57790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IaC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242816" y="5760720"/>
            <a:ext cx="1828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279392" y="57790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GitOps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181344" y="5760720"/>
            <a:ext cx="1828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6217920" y="57790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8119872" y="5760720"/>
            <a:ext cx="18288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8156448" y="57790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+ PagerDuty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0058400" y="5760720"/>
            <a:ext cx="1828800" cy="310896"/>
          </a:xfrm>
          <a:prstGeom prst="rect">
            <a:avLst/>
          </a:prstGeom>
          <a:solidFill>
            <a:srgbClr val="5C3317"/>
          </a:solidFill>
          <a:ln w="6350">
            <a:solidFill>
              <a:srgbClr val="5C33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10094976" y="5779008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99.99999%  (7 9's)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5943600" cy="877824"/>
          </a:xfrm>
          <a:prstGeom prst="rect">
            <a:avLst/>
          </a:prstGeom>
          <a:solidFill>
            <a:srgbClr val="FEF0D4"/>
          </a:solidFill>
          <a:ln w="12700">
            <a:solidFill>
              <a:srgbClr val="FEF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109728" cy="877824"/>
          </a:xfrm>
          <a:prstGeom prst="rect">
            <a:avLst/>
          </a:prstGeom>
          <a:solidFill>
            <a:srgbClr val="9B6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0" y="64008"/>
            <a:ext cx="6217920" cy="877824"/>
          </a:xfrm>
          <a:prstGeom prst="rect">
            <a:avLst/>
          </a:prstGeom>
          <a:solidFill>
            <a:srgbClr val="DFF0E4"/>
          </a:solidFill>
          <a:ln w="12700">
            <a:solidFill>
              <a:srgbClr val="DFF0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0" y="64008"/>
            <a:ext cx="64008" cy="877824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" y="109728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TPS MONOLITH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constraints limiting growth to $1B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08192" y="10972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ELC PLATFORM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08192" y="5669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built to scale beyond $1B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960120"/>
            <a:ext cx="12161520" cy="320040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14416" y="111556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" y="11155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State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12280" y="11155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State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728" y="1298448"/>
            <a:ext cx="5394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7744" y="1389888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Oracle DB · 1,800 tables shared across all services · Schema change = system-wide risk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22976" y="1444752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41264" y="1463040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656832" y="1298448"/>
            <a:ext cx="64008" cy="822960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20840" y="1298448"/>
            <a:ext cx="53309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1389888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DB-per-Service · PostgreSQL · MongoDB · pgvector · Services independently deployable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9728" y="2203704"/>
            <a:ext cx="5394960" cy="8229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7744" y="2295144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~10,000 stored procedures trapped in the database · Untestable, unversionable, undocumentable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22976" y="2350008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541264" y="2368296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656832" y="2203704"/>
            <a:ext cx="64008" cy="822960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720840" y="2203704"/>
            <a:ext cx="5330952" cy="822960"/>
          </a:xfrm>
          <a:prstGeom prst="rect">
            <a:avLst/>
          </a:prstGeom>
          <a:solidFill>
            <a:srgbClr val="DFF0E4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0" y="2295144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in application layer · Version-controlled · Unit-testable · Independently deployable per service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9728" y="3108960"/>
            <a:ext cx="5394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37744" y="3200400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 ESB spaghetti · Tight coupling across all systems · Any change risks outage everywhere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22976" y="3255264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541264" y="3273552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656832" y="3108960"/>
            <a:ext cx="64008" cy="822960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720840" y="3108960"/>
            <a:ext cx="53309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58000" y="3200400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 streaming backbone · CDC via Debezium/GoldenGate · Async &amp; replay-capable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9728" y="4014216"/>
            <a:ext cx="5394960" cy="8229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37744" y="4105656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Batch-only overnight jobs · No real-time events · STP capped at 20% — high manual load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22976" y="4160520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541264" y="4178808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656832" y="4014216"/>
            <a:ext cx="64008" cy="822960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720840" y="4014216"/>
            <a:ext cx="5330952" cy="822960"/>
          </a:xfrm>
          <a:prstGeom prst="rect">
            <a:avLst/>
          </a:prstGeom>
          <a:solidFill>
            <a:srgbClr val="DFF0E4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58000" y="4105656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event-driven processing · AI Workflow Engine (ELC) · STP target ~90%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9728" y="4919472"/>
            <a:ext cx="5394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37744" y="5010912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Oracle instance — vertical only · VSI deployment · 3 9's — outages expected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522976" y="5065776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541264" y="5084064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656832" y="4919472"/>
            <a:ext cx="64008" cy="822960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720840" y="4919472"/>
            <a:ext cx="53309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858000" y="5010912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horizontal auto-scaling · 4-cluster HA deployment · 7 9's — 99.99999% uptime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09728" y="5824728"/>
            <a:ext cx="5394960" cy="8229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37744" y="5916168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AI integration · All document processing manual · All decisions require human review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522976" y="5971032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541264" y="5989320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Intelligence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656832" y="5824728"/>
            <a:ext cx="64008" cy="822960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720840" y="5824728"/>
            <a:ext cx="5330952" cy="822960"/>
          </a:xfrm>
          <a:prstGeom prst="rect">
            <a:avLst/>
          </a:prstGeom>
          <a:solidFill>
            <a:srgbClr val="DFF0E4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858000" y="5916168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LLM-native ELC · RAG + OCR pipeline · &gt;95% accuracy · Maker/Checker fully automated at R2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Connector — API Commercialisation Layer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partner · Any integration method · Platform as a revenue channel · Reach 2,000+ counterparties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0" y="1627632"/>
            <a:ext cx="2432304" cy="1920240"/>
          </a:xfrm>
          <a:prstGeom prst="ellipse">
            <a:avLst/>
          </a:prstGeom>
          <a:solidFill>
            <a:srgbClr val="DDE8F5"/>
          </a:solidFill>
          <a:ln w="25400">
            <a:solidFill>
              <a:srgbClr val="2B5187"/>
            </a:solidFill>
            <a:prstDash val="solid"/>
          </a:ln>
          <a:effectLst>
            <a:outerShdw blurRad="127000" dist="38100" dir="8100000" algn="bl" rotWithShape="0">
              <a:srgbClr val="9A886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02352" y="1810512"/>
            <a:ext cx="2011680" cy="16276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ADD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0" y="206654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245059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" y="9875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CHANNELS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01168" y="1298448"/>
            <a:ext cx="2944368" cy="713232"/>
          </a:xfrm>
          <a:prstGeom prst="rect">
            <a:avLst/>
          </a:prstGeom>
          <a:solidFill>
            <a:srgbClr val="DDE8F5"/>
          </a:solidFill>
          <a:ln w="9525">
            <a:solidFill>
              <a:srgbClr val="8AADD4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01168" y="1298448"/>
            <a:ext cx="64008" cy="713232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1389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170078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integration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45536" y="1645920"/>
            <a:ext cx="1700784" cy="640080"/>
          </a:xfrm>
          <a:prstGeom prst="line">
            <a:avLst/>
          </a:prstGeom>
          <a:noFill/>
          <a:ln w="12700">
            <a:solidFill>
              <a:srgbClr val="8AA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01168" y="2185416"/>
            <a:ext cx="2944368" cy="713232"/>
          </a:xfrm>
          <a:prstGeom prst="rect">
            <a:avLst/>
          </a:prstGeom>
          <a:solidFill>
            <a:srgbClr val="DDE8F5"/>
          </a:solidFill>
          <a:ln w="9525">
            <a:solidFill>
              <a:srgbClr val="8AADD4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01168" y="2185416"/>
            <a:ext cx="64008" cy="713232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2276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25877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145536" y="2532888"/>
            <a:ext cx="1700784" cy="0"/>
          </a:xfrm>
          <a:prstGeom prst="line">
            <a:avLst/>
          </a:prstGeom>
          <a:noFill/>
          <a:ln w="12700">
            <a:solidFill>
              <a:srgbClr val="8AA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01168" y="3072384"/>
            <a:ext cx="2944368" cy="713232"/>
          </a:xfrm>
          <a:prstGeom prst="rect">
            <a:avLst/>
          </a:prstGeom>
          <a:solidFill>
            <a:srgbClr val="DDE8F5"/>
          </a:solidFill>
          <a:ln w="9525">
            <a:solidFill>
              <a:srgbClr val="8AADD4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01168" y="3072384"/>
            <a:ext cx="64008" cy="713232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" y="31638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/ MQ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" y="34747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protocols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 flipV="1">
            <a:off x="3145536" y="2898648"/>
            <a:ext cx="1700784" cy="521208"/>
          </a:xfrm>
          <a:prstGeom prst="line">
            <a:avLst/>
          </a:prstGeom>
          <a:noFill/>
          <a:ln w="12700">
            <a:solidFill>
              <a:srgbClr val="8AA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01168" y="3959352"/>
            <a:ext cx="2944368" cy="713232"/>
          </a:xfrm>
          <a:prstGeom prst="rect">
            <a:avLst/>
          </a:prstGeom>
          <a:solidFill>
            <a:srgbClr val="DDE8F5"/>
          </a:solidFill>
          <a:ln w="9525">
            <a:solidFill>
              <a:srgbClr val="8AADD4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01168" y="3959352"/>
            <a:ext cx="64008" cy="713232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4048" y="4050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" y="43616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guided entry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 flipV="1">
            <a:off x="3145536" y="3182112"/>
            <a:ext cx="1901952" cy="1124712"/>
          </a:xfrm>
          <a:prstGeom prst="line">
            <a:avLst/>
          </a:prstGeom>
          <a:noFill/>
          <a:ln w="12700">
            <a:solidFill>
              <a:srgbClr val="8AA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796528" y="9875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NETWORK REACH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796528" y="1298448"/>
            <a:ext cx="3200400" cy="713232"/>
          </a:xfrm>
          <a:prstGeom prst="rect">
            <a:avLst/>
          </a:prstGeom>
          <a:solidFill>
            <a:srgbClr val="DDE8F5"/>
          </a:solidFill>
          <a:ln w="9525">
            <a:solidFill>
              <a:srgbClr val="8AADD4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796528" y="1298448"/>
            <a:ext cx="64008" cy="713232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979408" y="142646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1338560" y="1517904"/>
            <a:ext cx="566928" cy="274320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1338560" y="15179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 flipV="1">
            <a:off x="7278624" y="1664208"/>
            <a:ext cx="1517904" cy="621792"/>
          </a:xfrm>
          <a:prstGeom prst="line">
            <a:avLst/>
          </a:prstGeom>
          <a:noFill/>
          <a:ln w="12700">
            <a:solidFill>
              <a:srgbClr val="8AA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796528" y="2185416"/>
            <a:ext cx="3200400" cy="713232"/>
          </a:xfrm>
          <a:prstGeom prst="rect">
            <a:avLst/>
          </a:prstGeom>
          <a:solidFill>
            <a:srgbClr val="DFF0E4"/>
          </a:solidFill>
          <a:ln w="9525">
            <a:solidFill>
              <a:srgbClr val="8EC99E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796528" y="2185416"/>
            <a:ext cx="64008" cy="713232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979408" y="23134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1338560" y="2404872"/>
            <a:ext cx="566928" cy="274320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1338560" y="24048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1,200+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278624" y="2468880"/>
            <a:ext cx="1517904" cy="64008"/>
          </a:xfrm>
          <a:prstGeom prst="line">
            <a:avLst/>
          </a:prstGeom>
          <a:noFill/>
          <a:ln w="12700">
            <a:solidFill>
              <a:srgbClr val="8EC9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796528" y="3072384"/>
            <a:ext cx="3200400" cy="7132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796528" y="3072384"/>
            <a:ext cx="64008" cy="713232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979408" y="32004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11338560" y="3291840"/>
            <a:ext cx="566928" cy="27432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1338560" y="32918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278624" y="2651760"/>
            <a:ext cx="1517904" cy="768096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796528" y="3959352"/>
            <a:ext cx="3200400" cy="713232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796528" y="3959352"/>
            <a:ext cx="64008" cy="713232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979408" y="40873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Corporates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11338560" y="4178808"/>
            <a:ext cx="566928" cy="27432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1338560" y="41788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232904" y="2935224"/>
            <a:ext cx="1563624" cy="1371600"/>
          </a:xfrm>
          <a:prstGeom prst="line">
            <a:avLst/>
          </a:prstGeom>
          <a:noFill/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242816" y="38221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READY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261104" y="4096512"/>
            <a:ext cx="1133856" cy="621792"/>
          </a:xfrm>
          <a:prstGeom prst="rect">
            <a:avLst/>
          </a:prstGeom>
          <a:solidFill>
            <a:srgbClr val="F7F4F0"/>
          </a:solidFill>
          <a:ln w="19050">
            <a:solidFill>
              <a:srgbClr val="5C33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261104" y="4096512"/>
            <a:ext cx="1133856" cy="64008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315968" y="4187952"/>
            <a:ext cx="1024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504688" y="4096512"/>
            <a:ext cx="1133856" cy="621792"/>
          </a:xfrm>
          <a:prstGeom prst="rect">
            <a:avLst/>
          </a:prstGeom>
          <a:solidFill>
            <a:srgbClr val="F7F4F0"/>
          </a:solidFill>
          <a:ln w="19050">
            <a:solidFill>
              <a:srgbClr val="2B51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5504688" y="4096512"/>
            <a:ext cx="1133856" cy="64008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559552" y="4187952"/>
            <a:ext cx="1024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748272" y="4096512"/>
            <a:ext cx="1133856" cy="621792"/>
          </a:xfrm>
          <a:prstGeom prst="rect">
            <a:avLst/>
          </a:prstGeom>
          <a:solidFill>
            <a:srgbClr val="F7F4F0"/>
          </a:solidFill>
          <a:ln w="19050">
            <a:solidFill>
              <a:srgbClr val="2F6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748272" y="4096512"/>
            <a:ext cx="1133856" cy="6400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803136" y="4187952"/>
            <a:ext cx="1024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01168" y="4828032"/>
            <a:ext cx="5486400" cy="1591056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201168" y="4828032"/>
            <a:ext cx="64008" cy="1591056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84048" y="49194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USE CASE — SBLC Issuance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84048" y="5248656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corporate client installs the SBLC Plugin on their ERP. With a single API call they issue a Standby Letter of Credit directly — no portal login, no manual entry, no email chain. The Connector validates through the AI Workflow Engine and returns a confirmed reference in seconds. Friction eliminated, volume unlocked.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035040" y="4828032"/>
            <a:ext cx="5943600" cy="1591056"/>
          </a:xfrm>
          <a:prstGeom prst="rect">
            <a:avLst/>
          </a:prstGeom>
          <a:solidFill>
            <a:srgbClr val="DFF0E4"/>
          </a:solidFill>
          <a:ln w="9525">
            <a:solidFill>
              <a:srgbClr val="8EC99E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035040" y="4828032"/>
            <a:ext cx="64008" cy="1591056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236208" y="491947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 MODEL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236208" y="526694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API subscription tiers — per-call or monthly volume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236208" y="549554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White-label plugin licensing to bank partners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236208" y="572414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Marketplace listing: KYC · Doc Mgmt · AI/ML modules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236208" y="595274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Revenue share on embedded fintech partner integrations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9B6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9B6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Duplication Crisis — Two Orgs, Same Logic, No Single Owner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&amp; APAR both contain duplicate Billing · Participation · CIF — any change requires all systems, all teams, full regression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005840"/>
            <a:ext cx="3017520" cy="512064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1005840"/>
            <a:ext cx="3017520" cy="365760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042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ORG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481328"/>
            <a:ext cx="1417320" cy="256032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14813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Shared Modules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" y="1847088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18653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276856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Posting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2706624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27249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Initiation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3136392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" y="3154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Service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3566160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" y="35844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3995928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" y="40142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Express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4425696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" y="44439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4855464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" y="48737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5285232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" y="53035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PUPEE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83280" y="1005840"/>
            <a:ext cx="859536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383280" y="1005840"/>
            <a:ext cx="8595360" cy="365760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529584" y="10424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ORG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1228832" y="1078992"/>
            <a:ext cx="676656" cy="219456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1228832" y="107899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Systems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529584" y="14447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Applications: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529584" y="1719072"/>
            <a:ext cx="2578608" cy="2788920"/>
          </a:xfrm>
          <a:prstGeom prst="rect">
            <a:avLst/>
          </a:prstGeom>
          <a:solidFill>
            <a:srgbClr val="DDE8F5"/>
          </a:solidFill>
          <a:ln w="12700">
            <a:solidFill>
              <a:srgbClr val="8AADD4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529584" y="1719072"/>
            <a:ext cx="2578608" cy="310896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39312" y="173736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Platform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39312" y="2103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639312" y="2322576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767328" y="23408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2743200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767328" y="27614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Posting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39312" y="3163824"/>
            <a:ext cx="2304288" cy="347472"/>
          </a:xfrm>
          <a:prstGeom prst="rect">
            <a:avLst/>
          </a:prstGeom>
          <a:solidFill>
            <a:srgbClr val="FEF0D4"/>
          </a:solidFill>
          <a:ln w="1524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767328" y="31821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321808" y="3236976"/>
            <a:ext cx="512064" cy="201168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321808" y="323697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639312" y="3566160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767328" y="3584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72784" y="1719072"/>
            <a:ext cx="2578608" cy="2788920"/>
          </a:xfrm>
          <a:prstGeom prst="rect">
            <a:avLst/>
          </a:prstGeom>
          <a:solidFill>
            <a:srgbClr val="FEF0D4"/>
          </a:solidFill>
          <a:ln w="12700">
            <a:solidFill>
              <a:srgbClr val="9B6010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272784" y="1719072"/>
            <a:ext cx="2578608" cy="310896"/>
          </a:xfrm>
          <a:prstGeom prst="rect">
            <a:avLst/>
          </a:prstGeom>
          <a:solidFill>
            <a:srgbClr val="9B6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382512" y="173736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 Platform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382512" y="2103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382512" y="2322576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510528" y="23408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382512" y="2743200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510528" y="27614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Posting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382512" y="3163824"/>
            <a:ext cx="2304288" cy="347472"/>
          </a:xfrm>
          <a:prstGeom prst="rect">
            <a:avLst/>
          </a:prstGeom>
          <a:solidFill>
            <a:srgbClr val="FEE8C2"/>
          </a:solidFill>
          <a:ln w="1905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510528" y="31821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065008" y="3236976"/>
            <a:ext cx="512064" cy="201168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065008" y="323697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382512" y="3566160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510528" y="3584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034272" y="193852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9070848" y="194767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TCFE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0543032" y="193852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0579608" y="194767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TCE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9034272" y="225856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9070848" y="226771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0543032" y="225856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10579608" y="226771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9034272" y="257860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9070848" y="258775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ClearTrade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10543032" y="257860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10579608" y="258775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TradeSharp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9034272" y="289864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9070848" y="290779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10543032" y="289864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10579608" y="290779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Inigio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9034272" y="321868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9070848" y="322783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10543032" y="321868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10579608" y="322783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CRM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9034272" y="353872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9070848" y="354787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SmartDX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10543032" y="353872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10579608" y="354787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Integrator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9034272" y="17007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Systems: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201168" y="4608576"/>
            <a:ext cx="11777472" cy="1463040"/>
          </a:xfrm>
          <a:prstGeom prst="rect">
            <a:avLst/>
          </a:prstGeom>
          <a:solidFill>
            <a:srgbClr val="FEF0D4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201168" y="4608576"/>
            <a:ext cx="11777472" cy="64008"/>
          </a:xfrm>
          <a:prstGeom prst="rect">
            <a:avLst/>
          </a:prstGeom>
          <a:solidFill>
            <a:srgbClr val="9B6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347472" y="4700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Cost of Duplication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347472" y="5010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billing change?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347472" y="532180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TPS + APAR + full regression on both. 2× dev effort, 2× QA, 2× deployment risk.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3291840" y="5010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teams mobilised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3291840" y="532180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CIF, Participation, Ops, QA — every change becomes a multi-team programme.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6236208" y="5010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Divergent bugs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6236208" y="532180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 differs across platforms — inconsistent client results across channels.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9180576" y="5010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crushed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9180576" y="532180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Time-to-market 3–12 months. A config change takes weeks across coordinated release trains.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5943600" cy="877824"/>
          </a:xfrm>
          <a:prstGeom prst="rect">
            <a:avLst/>
          </a:prstGeom>
          <a:solidFill>
            <a:srgbClr val="FEF0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109728" cy="877824"/>
          </a:xfrm>
          <a:prstGeom prst="rect">
            <a:avLst/>
          </a:prstGeom>
          <a:solidFill>
            <a:srgbClr val="9B6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0" y="64008"/>
            <a:ext cx="6217920" cy="877824"/>
          </a:xfrm>
          <a:prstGeom prst="rect">
            <a:avLst/>
          </a:prstGeom>
          <a:solidFill>
            <a:srgbClr val="DFF0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0" y="64008"/>
            <a:ext cx="64008" cy="877824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" y="109728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Duplicated Logic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ripple across all systems &amp; all teams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08192" y="10972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Focused Domain Ownership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08192" y="5669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where they matter — only required team engaged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94960" y="2121408"/>
            <a:ext cx="1371600" cy="1371600"/>
          </a:xfrm>
          <a:prstGeom prst="ellipse">
            <a:avLst/>
          </a:prstGeom>
          <a:solidFill>
            <a:srgbClr val="EDE6DF"/>
          </a:solidFill>
          <a:ln w="19050">
            <a:solidFill>
              <a:srgbClr val="5C3317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13248" y="2258568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080760" y="3511296"/>
            <a:ext cx="0" cy="384048"/>
          </a:xfrm>
          <a:prstGeom prst="line">
            <a:avLst/>
          </a:prstGeom>
          <a:noFill/>
          <a:ln w="19050">
            <a:solidFill>
              <a:srgbClr val="5C33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80176" y="38587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" y="1005840"/>
            <a:ext cx="5047488" cy="950976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" y="1005840"/>
            <a:ext cx="64008" cy="950976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10972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Logic exists in: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1444752"/>
            <a:ext cx="1444752" cy="329184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144475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Platform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938528" y="1444752"/>
            <a:ext cx="1444752" cy="329184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938528" y="144475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 Platform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511296" y="1444752"/>
            <a:ext cx="1444752" cy="329184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11296" y="144475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01168" y="2084832"/>
            <a:ext cx="5047488" cy="950976"/>
          </a:xfrm>
          <a:prstGeom prst="rect">
            <a:avLst/>
          </a:prstGeom>
          <a:solidFill>
            <a:srgbClr val="F7F4F0"/>
          </a:solidFill>
          <a:ln w="9525">
            <a:solidFill>
              <a:srgbClr val="E0B8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01168" y="2084832"/>
            <a:ext cx="64008" cy="950976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21762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 Logic exists in: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2523744"/>
            <a:ext cx="1444752" cy="329184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252374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Platform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938528" y="2523744"/>
            <a:ext cx="1444752" cy="329184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938528" y="252374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 Platform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01168" y="3163824"/>
            <a:ext cx="5047488" cy="950976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01168" y="3163824"/>
            <a:ext cx="64008" cy="950976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325526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Logic exists in: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602736"/>
            <a:ext cx="1444752" cy="329184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3602736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Platform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938528" y="3602736"/>
            <a:ext cx="1444752" cy="329184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938528" y="3602736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 Platform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01168" y="4242816"/>
            <a:ext cx="5047488" cy="786384"/>
          </a:xfrm>
          <a:prstGeom prst="rect">
            <a:avLst/>
          </a:prstGeom>
          <a:solidFill>
            <a:srgbClr val="FEF0D4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431596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change is needed: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608576"/>
            <a:ext cx="1444752" cy="310896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4608576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All Teams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938528" y="4608576"/>
            <a:ext cx="1444752" cy="310896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938528" y="4608576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All Systems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11296" y="4608576"/>
            <a:ext cx="1444752" cy="310896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511296" y="4608576"/>
            <a:ext cx="1444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Full Testing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876288" y="1005840"/>
            <a:ext cx="5047488" cy="685800"/>
          </a:xfrm>
          <a:prstGeom prst="rect">
            <a:avLst/>
          </a:prstGeom>
          <a:solidFill>
            <a:srgbClr val="DFF0E4"/>
          </a:solidFill>
          <a:ln w="9525">
            <a:solidFill>
              <a:srgbClr val="8EC99E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876288" y="1005840"/>
            <a:ext cx="64008" cy="685800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0408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Domain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040880" y="14081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0533888" y="1188720"/>
            <a:ext cx="1298448" cy="274320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533888" y="11887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Team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876288" y="1828800"/>
            <a:ext cx="5047488" cy="685800"/>
          </a:xfrm>
          <a:prstGeom prst="rect">
            <a:avLst/>
          </a:prstGeom>
          <a:solidFill>
            <a:srgbClr val="DDE8F5"/>
          </a:solidFill>
          <a:ln w="9525">
            <a:solidFill>
              <a:srgbClr val="8AADD4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876288" y="1828800"/>
            <a:ext cx="64008" cy="685800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04088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 Domain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040880" y="22311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0533888" y="2011680"/>
            <a:ext cx="1298448" cy="274320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0533888" y="20116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 Team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876288" y="2651760"/>
            <a:ext cx="5047488" cy="685800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876288" y="2651760"/>
            <a:ext cx="64008" cy="68580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04088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Domain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040880" y="305409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0533888" y="2834640"/>
            <a:ext cx="1298448" cy="27432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0533888" y="283464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Team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876288" y="3529584"/>
            <a:ext cx="5047488" cy="1517904"/>
          </a:xfrm>
          <a:prstGeom prst="rect">
            <a:avLst/>
          </a:prstGeom>
          <a:solidFill>
            <a:srgbClr val="DFF0E4"/>
          </a:solidFill>
          <a:ln w="12700">
            <a:solidFill>
              <a:srgbClr val="8EC9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876288" y="3529584"/>
            <a:ext cx="5047488" cy="6400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040880" y="36027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billing logic needs to change: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040880" y="3950208"/>
            <a:ext cx="1078992" cy="274320"/>
          </a:xfrm>
          <a:prstGeom prst="rect">
            <a:avLst/>
          </a:prstGeom>
          <a:solidFill>
            <a:srgbClr val="2F6B3E"/>
          </a:solidFill>
          <a:ln w="6350">
            <a:solidFill>
              <a:srgbClr val="2F6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077456" y="396849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Billing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8193024" y="3950208"/>
            <a:ext cx="9875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8229600" y="3968496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CIF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9253728" y="3950208"/>
            <a:ext cx="135331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9290304" y="396849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Participation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10680192" y="3950208"/>
            <a:ext cx="9875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10716768" y="3968496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Ops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1740896" y="3950208"/>
            <a:ext cx="9875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11777472" y="3968496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QA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040880" y="431596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required team engages · Targeted tests only · No full regression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01168" y="5248656"/>
            <a:ext cx="2852928" cy="135331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201168" y="5248656"/>
            <a:ext cx="2852928" cy="64008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29184" y="535838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SCOPE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329184" y="563270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systems  →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329184" y="5943600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domain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3200400" y="5248656"/>
            <a:ext cx="2852928" cy="135331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3200400" y="5248656"/>
            <a:ext cx="2852928" cy="6400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3328416" y="535838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INVOLVED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3328416" y="563270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 →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3328416" y="5943600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owner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6199632" y="5248656"/>
            <a:ext cx="2852928" cy="135331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6199632" y="5248656"/>
            <a:ext cx="2852928" cy="64008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327648" y="535838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EFFORT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6327648" y="563270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regression  →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6327648" y="5943600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tests</a:t>
            </a:r>
            <a:endParaRPr lang="en-US" sz="1400" dirty="0"/>
          </a:p>
        </p:txBody>
      </p:sp>
      <p:sp>
        <p:nvSpPr>
          <p:cNvPr id="93" name="Shape 91"/>
          <p:cNvSpPr/>
          <p:nvPr/>
        </p:nvSpPr>
        <p:spPr>
          <a:xfrm>
            <a:off x="9198864" y="5248656"/>
            <a:ext cx="2852928" cy="135331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9198864" y="5248656"/>
            <a:ext cx="2852928" cy="64008"/>
          </a:xfrm>
          <a:prstGeom prst="rect">
            <a:avLst/>
          </a:prstGeom>
          <a:solidFill>
            <a:srgbClr val="9B6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9326880" y="535838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AGILITY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9326880" y="563270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months  →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9326880" y="5943600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weeks</a:t>
            </a:r>
            <a:endParaRPr lang="en-US" sz="1400" dirty="0"/>
          </a:p>
        </p:txBody>
      </p:sp>
      <p:sp>
        <p:nvSpPr>
          <p:cNvPr id="98" name="Text 96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Services Consolidated — End State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Trade Shared modules + 9 Payment Shared modules · No duplication · Each domain owns its logic and data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005840"/>
            <a:ext cx="3017520" cy="539496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1005840"/>
            <a:ext cx="3017520" cy="365760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042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ORG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481328"/>
            <a:ext cx="1417320" cy="256032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14813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Shared Modules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" y="1847088"/>
            <a:ext cx="2706624" cy="365760"/>
          </a:xfrm>
          <a:prstGeom prst="rect">
            <a:avLst/>
          </a:prstGeom>
          <a:solidFill>
            <a:srgbClr val="DFF0E4"/>
          </a:solidFill>
          <a:ln w="6350">
            <a:solidFill>
              <a:srgbClr val="8EC9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18653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33472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2286000"/>
            <a:ext cx="2706624" cy="365760"/>
          </a:xfrm>
          <a:prstGeom prst="rect">
            <a:avLst/>
          </a:prstGeom>
          <a:solidFill>
            <a:srgbClr val="DFF0E4"/>
          </a:solidFill>
          <a:ln w="6350">
            <a:solidFill>
              <a:srgbClr val="8EC9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23042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Posting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33472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2724912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" y="2743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Initiation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3163824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" y="31821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Service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3602736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" y="36210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4041648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" y="40599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Express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4480560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" y="44988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4919472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" y="49377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" y="5358384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" y="53766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PUPEE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83280" y="1005840"/>
            <a:ext cx="859536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383280" y="1005840"/>
            <a:ext cx="8595360" cy="365760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529584" y="10424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ORG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1228832" y="1078992"/>
            <a:ext cx="676656" cy="219456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1228832" y="107899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Systems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529584" y="14447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Applications: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529584" y="1700784"/>
            <a:ext cx="1325880" cy="256032"/>
          </a:xfrm>
          <a:prstGeom prst="rect">
            <a:avLst/>
          </a:prstGeom>
          <a:solidFill>
            <a:srgbClr val="DDE8F5"/>
          </a:solidFill>
          <a:ln w="9525">
            <a:solidFill>
              <a:srgbClr val="8AA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566160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Platform ●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928616" y="1700784"/>
            <a:ext cx="1325880" cy="256032"/>
          </a:xfrm>
          <a:prstGeom prst="rect">
            <a:avLst/>
          </a:prstGeom>
          <a:solidFill>
            <a:srgbClr val="DDE8F5"/>
          </a:solidFill>
          <a:ln w="9525">
            <a:solidFill>
              <a:srgbClr val="8AA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65192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 Platform ●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327648" y="170078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64224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TCFE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726680" y="170078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763256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9125712" y="170078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162288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0524744" y="170078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0561320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529584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566160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ClearTrade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928616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965192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TradeSharp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327648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364224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726680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763256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Inigio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9125712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162288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0524744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0561320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CRM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529584" y="234086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566160" y="235000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SmartDX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928616" y="234086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965192" y="235000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Integrator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401568" y="2450592"/>
            <a:ext cx="8412480" cy="297180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3401568" y="2450592"/>
            <a:ext cx="8412480" cy="6400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547872" y="2505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Shared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1082528" y="2505456"/>
            <a:ext cx="640080" cy="219456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1082528" y="2505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Modules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54787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B5187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3547872" y="2834640"/>
            <a:ext cx="1115568" cy="64008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359359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73659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5C3317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4736592" y="2834640"/>
            <a:ext cx="1115568" cy="64008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78231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592531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E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5925312" y="2834640"/>
            <a:ext cx="1115568" cy="6400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597103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11403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B5187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7114032" y="2834640"/>
            <a:ext cx="1115568" cy="64008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715975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Ingestion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830275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B6010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8302752" y="2834640"/>
            <a:ext cx="1115568" cy="64008"/>
          </a:xfrm>
          <a:prstGeom prst="rect">
            <a:avLst/>
          </a:prstGeom>
          <a:solidFill>
            <a:srgbClr val="9B6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834847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 Screening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949147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E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9491472" y="2834640"/>
            <a:ext cx="1115568" cy="6400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953719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1068019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5C3317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0680192" y="2834640"/>
            <a:ext cx="1115568" cy="64008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1072591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Distribution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354787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E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3547872" y="3456432"/>
            <a:ext cx="1115568" cy="6400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359359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Mgmt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73659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B5187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4736592" y="3456432"/>
            <a:ext cx="1115568" cy="64008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478231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Mgmt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592531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B6010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5925312" y="3456432"/>
            <a:ext cx="1115568" cy="64008"/>
          </a:xfrm>
          <a:prstGeom prst="rect">
            <a:avLst/>
          </a:prstGeom>
          <a:solidFill>
            <a:srgbClr val="9B6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597103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Mgmt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711403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5C3317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7114032" y="3456432"/>
            <a:ext cx="1115568" cy="64008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715975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Extraction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830275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B5187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8302752" y="3456432"/>
            <a:ext cx="1115568" cy="64008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834847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949147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B6010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9491472" y="3456432"/>
            <a:ext cx="1115568" cy="64008"/>
          </a:xfrm>
          <a:prstGeom prst="rect">
            <a:avLst/>
          </a:prstGeom>
          <a:solidFill>
            <a:srgbClr val="9B6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953719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TBML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1068019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E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10680192" y="3456432"/>
            <a:ext cx="1115568" cy="6400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1072591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Migration Roadmap  ·  2025 → 2030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Foundation · Business Capabilities · AI Automation · Infrastructure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01952" y="1005840"/>
            <a:ext cx="1975104" cy="329184"/>
          </a:xfrm>
          <a:prstGeom prst="rect">
            <a:avLst/>
          </a:prstGeom>
          <a:solidFill>
            <a:srgbClr val="D8C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93392" y="10058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— STABILISE  ·  2025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931920" y="1005840"/>
            <a:ext cx="4005072" cy="329184"/>
          </a:xfrm>
          <a:prstGeom prst="rect">
            <a:avLst/>
          </a:prstGeom>
          <a:solidFill>
            <a:srgbClr val="7A4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3360" y="1005840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— MODERNISE  ·  2026–2027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991856" y="1005840"/>
            <a:ext cx="4005072" cy="329184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83296" y="1005840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— SCALE  ·  2028–2030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01952" y="1371600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01952" y="1353312"/>
            <a:ext cx="0" cy="4992624"/>
          </a:xfrm>
          <a:prstGeom prst="line">
            <a:avLst/>
          </a:prstGeom>
          <a:noFill/>
          <a:ln w="9525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31920" y="1371600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31920" y="1353312"/>
            <a:ext cx="0" cy="4992624"/>
          </a:xfrm>
          <a:prstGeom prst="line">
            <a:avLst/>
          </a:prstGeom>
          <a:noFill/>
          <a:ln w="9525">
            <a:solidFill>
              <a:srgbClr val="EDE6D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61888" y="1371600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61888" y="1353312"/>
            <a:ext cx="0" cy="4992624"/>
          </a:xfrm>
          <a:prstGeom prst="line">
            <a:avLst/>
          </a:prstGeom>
          <a:noFill/>
          <a:ln w="9525">
            <a:solidFill>
              <a:srgbClr val="EDE6D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991856" y="1371600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991856" y="1353312"/>
            <a:ext cx="0" cy="4992624"/>
          </a:xfrm>
          <a:prstGeom prst="line">
            <a:avLst/>
          </a:prstGeom>
          <a:noFill/>
          <a:ln w="9525">
            <a:solidFill>
              <a:srgbClr val="EDE6D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21824" y="1371600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021824" y="1353312"/>
            <a:ext cx="0" cy="4992624"/>
          </a:xfrm>
          <a:prstGeom prst="line">
            <a:avLst/>
          </a:prstGeom>
          <a:noFill/>
          <a:ln w="9525">
            <a:solidFill>
              <a:srgbClr val="EDE6D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051792" y="1371600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2051792" y="1353312"/>
            <a:ext cx="0" cy="4992624"/>
          </a:xfrm>
          <a:prstGeom prst="line">
            <a:avLst/>
          </a:prstGeom>
          <a:noFill/>
          <a:ln w="9525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9728" y="1664208"/>
            <a:ext cx="1737360" cy="1078992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64592" y="1700784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901952" y="1664208"/>
            <a:ext cx="101498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975104" y="1737360"/>
            <a:ext cx="1883664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5C3317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975104" y="1737360"/>
            <a:ext cx="64008" cy="932688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112264" y="1773936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 &amp; Document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112264" y="2011680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Oracle/Mule audit (1.8k tables)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112264" y="217627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E2E workflow mapping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112264" y="234086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Quick-win STP improvements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112264" y="250545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Architecture blueprint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005072" y="1737360"/>
            <a:ext cx="391363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5C3317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005072" y="1737360"/>
            <a:ext cx="64008" cy="932688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142232" y="1773936"/>
            <a:ext cx="3694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&amp; Modernise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142232" y="2011680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Provider-agnostic layer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142232" y="2176272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Micro-frontend architecture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142232" y="2340864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Kafka event-driven core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142232" y="2505456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Migrate off VSI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065008" y="1737360"/>
            <a:ext cx="391363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5C3317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065008" y="1737360"/>
            <a:ext cx="64008" cy="932688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202168" y="1773936"/>
            <a:ext cx="3694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Scale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202168" y="2011680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4-cluster HA deployment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202168" y="2176272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Auto-scaling &amp; observability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202168" y="2340864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Full CI/CD automation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202168" y="2505456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7 9's availability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09728" y="2779776"/>
            <a:ext cx="1737360" cy="1078992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64592" y="2816352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901952" y="2779776"/>
            <a:ext cx="10149840" cy="1078992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975104" y="2852928"/>
            <a:ext cx="1883664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2F6B3E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975104" y="2852928"/>
            <a:ext cx="64008" cy="93268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112264" y="2889504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Must-Haves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112264" y="31272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Unified client experience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112264" y="3291840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Portfolio dashboards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2112264" y="345643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Deal management framework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2112264" y="362102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Improved channel UX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005072" y="2852928"/>
            <a:ext cx="391363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2F6B3E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005072" y="2852928"/>
            <a:ext cx="64008" cy="93268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142232" y="2889504"/>
            <a:ext cx="3694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Drivers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142232" y="3127248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Tokenisation capabilities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142232" y="3291840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Fintech integration (WCA)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4142232" y="3456432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Structured WC evolution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142232" y="3621024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GSCF-like models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8065008" y="2852928"/>
            <a:ext cx="391363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2F6B3E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8065008" y="2852928"/>
            <a:ext cx="64008" cy="93268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202168" y="2889504"/>
            <a:ext cx="3694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Leadership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8202168" y="3127248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Trade distribution platform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8202168" y="3291840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Unified accelerator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8202168" y="3456432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Data &amp; analytics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8202168" y="3621024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Commercialisable product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109728" y="3895344"/>
            <a:ext cx="1737360" cy="1078992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64592" y="3931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</a:t>
            </a:r>
            <a:endParaRPr lang="en-US" sz="800" dirty="0"/>
          </a:p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901952" y="3895344"/>
            <a:ext cx="1014984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975104" y="3968496"/>
            <a:ext cx="1883664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2B5187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975104" y="3968496"/>
            <a:ext cx="64008" cy="932688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2112264" y="400507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Baseline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2112264" y="424281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Document OCR pipeline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2112264" y="440740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RAG for trade docs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2112264" y="4572000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Maker accuracy &gt;90%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2112264" y="473659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Feedback loop setup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005072" y="3968496"/>
            <a:ext cx="391363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2B5187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4005072" y="3968496"/>
            <a:ext cx="64008" cy="932688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4142232" y="4005072"/>
            <a:ext cx="3694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(R1)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4142232" y="4242816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Semi-auto Maker role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4142232" y="4407408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Accuracy 90–95%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4142232" y="4572000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Model retraining pipeline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4142232" y="4736592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Checker AI assist pilot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8065008" y="3968496"/>
            <a:ext cx="391363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2B5187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8065008" y="3968496"/>
            <a:ext cx="64008" cy="932688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8202168" y="4005072"/>
            <a:ext cx="3694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(R2)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8202168" y="4242816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Full Maker automation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8202168" y="4407408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AI Checker operational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8202168" y="4572000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Accuracy &gt;95%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8202168" y="4736592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~90% STP achieved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109728" y="5010912"/>
            <a:ext cx="1737360" cy="1078992"/>
          </a:xfrm>
          <a:prstGeom prst="rect">
            <a:avLst/>
          </a:prstGeom>
          <a:solidFill>
            <a:srgbClr val="9B6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164592" y="504748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</a:t>
            </a:r>
            <a:endParaRPr lang="en-US" sz="800" dirty="0"/>
          </a:p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1901952" y="5010912"/>
            <a:ext cx="10149840" cy="1078992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1975104" y="5084064"/>
            <a:ext cx="1883664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9B6010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1975104" y="5084064"/>
            <a:ext cx="64008" cy="932688"/>
          </a:xfrm>
          <a:prstGeom prst="rect">
            <a:avLst/>
          </a:prstGeom>
          <a:solidFill>
            <a:srgbClr val="9B6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2112264" y="512064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2112264" y="535838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VSI → container pilot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2112264" y="552297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Security hardening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2112264" y="568756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Cost baseline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2112264" y="5852160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DR design started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4005072" y="5084064"/>
            <a:ext cx="391363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9B6010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4005072" y="5084064"/>
            <a:ext cx="64008" cy="932688"/>
          </a:xfrm>
          <a:prstGeom prst="rect">
            <a:avLst/>
          </a:prstGeom>
          <a:solidFill>
            <a:srgbClr val="9B6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4142232" y="5120640"/>
            <a:ext cx="3694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Modernise Infra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4142232" y="5358384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Shared utilities layer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4142232" y="5522976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Multi-cluster HA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4142232" y="5687568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Cost of change –30%</a:t>
            </a:r>
            <a:endParaRPr lang="en-US" sz="750" dirty="0"/>
          </a:p>
        </p:txBody>
      </p:sp>
      <p:sp>
        <p:nvSpPr>
          <p:cNvPr id="114" name="Text 112"/>
          <p:cNvSpPr/>
          <p:nvPr/>
        </p:nvSpPr>
        <p:spPr>
          <a:xfrm>
            <a:off x="4142232" y="5852160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Time-to-market 2–6 mo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8065008" y="5084064"/>
            <a:ext cx="3913632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9B6010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8065008" y="5084064"/>
            <a:ext cx="64008" cy="932688"/>
          </a:xfrm>
          <a:prstGeom prst="rect">
            <a:avLst/>
          </a:prstGeom>
          <a:solidFill>
            <a:srgbClr val="9B6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8202168" y="5120640"/>
            <a:ext cx="3694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8202168" y="5358384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Full ops scalability</a:t>
            </a:r>
            <a:endParaRPr lang="en-US" sz="750" dirty="0"/>
          </a:p>
        </p:txBody>
      </p:sp>
      <p:sp>
        <p:nvSpPr>
          <p:cNvPr id="119" name="Text 117"/>
          <p:cNvSpPr/>
          <p:nvPr/>
        </p:nvSpPr>
        <p:spPr>
          <a:xfrm>
            <a:off x="8202168" y="5522976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Multi-tenant ready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8202168" y="5687568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Infrastructure as code</a:t>
            </a:r>
            <a:endParaRPr lang="en-US" sz="750" dirty="0"/>
          </a:p>
        </p:txBody>
      </p:sp>
      <p:sp>
        <p:nvSpPr>
          <p:cNvPr id="121" name="Text 119"/>
          <p:cNvSpPr/>
          <p:nvPr/>
        </p:nvSpPr>
        <p:spPr>
          <a:xfrm>
            <a:off x="8202168" y="5852160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SLA &gt;99.999%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 rot="2700000">
            <a:off x="3730752" y="5760720"/>
            <a:ext cx="402336" cy="402336"/>
          </a:xfrm>
          <a:prstGeom prst="rect">
            <a:avLst/>
          </a:prstGeom>
          <a:solidFill>
            <a:srgbClr val="9B601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3310128" y="6236208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Gate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&gt;40%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 rot="2700000">
            <a:off x="7790688" y="5760720"/>
            <a:ext cx="402336" cy="402336"/>
          </a:xfrm>
          <a:prstGeom prst="rect">
            <a:avLst/>
          </a:prstGeom>
          <a:solidFill>
            <a:srgbClr val="9B601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7370064" y="6236208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Gate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&gt;70%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 rot="2700000">
            <a:off x="11850624" y="5760720"/>
            <a:ext cx="402336" cy="402336"/>
          </a:xfrm>
          <a:prstGeom prst="rect">
            <a:avLst/>
          </a:prstGeom>
          <a:solidFill>
            <a:srgbClr val="9B6010"/>
          </a:solidFill>
          <a:ln w="12700">
            <a:solidFill>
              <a:srgbClr val="E0B8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11430000" y="6236208"/>
            <a:ext cx="1243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Gate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~90%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1901952" y="5961888"/>
            <a:ext cx="10149840" cy="0"/>
          </a:xfrm>
          <a:prstGeom prst="line">
            <a:avLst/>
          </a:prstGeom>
          <a:noFill/>
          <a:ln w="12700">
            <a:solidFill>
              <a:srgbClr val="E0B87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Phase-by-Phase Execution Plan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each phase — and what it unlocks for the business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024128"/>
            <a:ext cx="3858768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blurRad="127000" dist="38100" dir="8100000" algn="bl" rotWithShape="0">
              <a:srgbClr val="9A886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1024128"/>
            <a:ext cx="3858768" cy="475488"/>
          </a:xfrm>
          <a:prstGeom prst="rect">
            <a:avLst/>
          </a:prstGeom>
          <a:solidFill>
            <a:srgbClr val="D8C8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07899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— STABILISE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298448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" y="1499616"/>
            <a:ext cx="3858768" cy="438912"/>
          </a:xfrm>
          <a:prstGeom prst="rect">
            <a:avLst/>
          </a:prstGeom>
          <a:solidFill>
            <a:srgbClr val="F7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1536192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bleeding. Build the foundation.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1975104"/>
            <a:ext cx="3566160" cy="0"/>
          </a:xfrm>
          <a:prstGeom prst="line">
            <a:avLst/>
          </a:prstGeom>
          <a:noFill/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" y="2066544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" y="2066544"/>
            <a:ext cx="64008" cy="475488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" y="2084832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document Oracle/Mule landscape (1.8k tables, ~10k procedures)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2596896"/>
            <a:ext cx="3566160" cy="475488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7472" y="2596896"/>
            <a:ext cx="64008" cy="475488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" y="2615184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end-to-end workflows; capture SME knowledge before it is lost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3127248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47472" y="3127248"/>
            <a:ext cx="64008" cy="475488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" y="3145536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Quick-win STP improvements: target 20% → 40%+ straight-through processing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3657600"/>
            <a:ext cx="3566160" cy="475488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7472" y="3657600"/>
            <a:ext cx="64008" cy="475488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" y="367588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micro-frontend architecture &amp; shared utilities layer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7472" y="4187952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47472" y="4187952"/>
            <a:ext cx="64008" cy="475488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" y="4206240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AI/OCR baseline for document processing (&gt;90% accuracy)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7472" y="4718304"/>
            <a:ext cx="3566160" cy="475488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47472" y="4718304"/>
            <a:ext cx="64008" cy="475488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" y="4736592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migration pilot; security hardening on VSI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1168" y="5852160"/>
            <a:ext cx="3858768" cy="658368"/>
          </a:xfrm>
          <a:prstGeom prst="rect">
            <a:avLst/>
          </a:prstGeom>
          <a:solidFill>
            <a:srgbClr val="EDE6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7472" y="5888736"/>
            <a:ext cx="3602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STP &gt;40%  ·  Architecture blueprint ready  ·  Ops risk reduced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87952" y="1024128"/>
            <a:ext cx="3858768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blurRad="127000" dist="38100" dir="8100000" algn="bl" rotWithShape="0">
              <a:srgbClr val="9A886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187952" y="1024128"/>
            <a:ext cx="3858768" cy="475488"/>
          </a:xfrm>
          <a:prstGeom prst="rect">
            <a:avLst/>
          </a:prstGeom>
          <a:solidFill>
            <a:srgbClr val="7A4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334256" y="107899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— MODERNISE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34256" y="1298448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87952" y="1499616"/>
            <a:ext cx="3858768" cy="438912"/>
          </a:xfrm>
          <a:prstGeom prst="rect">
            <a:avLst/>
          </a:prstGeom>
          <a:solidFill>
            <a:srgbClr val="F7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334256" y="1536192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Replace, don't patch. Decouple everything.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334256" y="1975104"/>
            <a:ext cx="3566160" cy="0"/>
          </a:xfrm>
          <a:prstGeom prst="line">
            <a:avLst/>
          </a:prstGeom>
          <a:noFill/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334256" y="2066544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334256" y="2066544"/>
            <a:ext cx="64008" cy="475488"/>
          </a:xfrm>
          <a:prstGeom prst="rect">
            <a:avLst/>
          </a:prstGeom>
          <a:solidFill>
            <a:srgbClr val="7A4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462272" y="2084832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processing layer — swap Loan IQ / Absolute without FE impact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334256" y="2596896"/>
            <a:ext cx="3566160" cy="475488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334256" y="2596896"/>
            <a:ext cx="64008" cy="475488"/>
          </a:xfrm>
          <a:prstGeom prst="rect">
            <a:avLst/>
          </a:prstGeom>
          <a:solidFill>
            <a:srgbClr val="7A4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462272" y="2615184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Micro-frontend rollout + shared utilities framework in production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334256" y="3127248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334256" y="3127248"/>
            <a:ext cx="64008" cy="475488"/>
          </a:xfrm>
          <a:prstGeom prst="rect">
            <a:avLst/>
          </a:prstGeom>
          <a:solidFill>
            <a:srgbClr val="7A4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462272" y="3145536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event-driven core for all payment workflows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334256" y="3657600"/>
            <a:ext cx="3566160" cy="475488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334256" y="3657600"/>
            <a:ext cx="64008" cy="475488"/>
          </a:xfrm>
          <a:prstGeom prst="rect">
            <a:avLst/>
          </a:prstGeom>
          <a:solidFill>
            <a:srgbClr val="7A4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462272" y="367588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Maker role; semi-automated STP — accuracy 90–95%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334256" y="4187952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334256" y="4187952"/>
            <a:ext cx="64008" cy="475488"/>
          </a:xfrm>
          <a:prstGeom prst="rect">
            <a:avLst/>
          </a:prstGeom>
          <a:solidFill>
            <a:srgbClr val="7A4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462272" y="4206240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 + Fintech partner integration (Working Capital Accelerator)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334256" y="4718304"/>
            <a:ext cx="3566160" cy="475488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334256" y="4718304"/>
            <a:ext cx="64008" cy="475488"/>
          </a:xfrm>
          <a:prstGeom prst="rect">
            <a:avLst/>
          </a:prstGeom>
          <a:solidFill>
            <a:srgbClr val="7A4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462272" y="4736592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off VSI; multi-cluster HA; cost of change −30%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187952" y="5852160"/>
            <a:ext cx="3858768" cy="658368"/>
          </a:xfrm>
          <a:prstGeom prst="rect">
            <a:avLst/>
          </a:prstGeom>
          <a:solidFill>
            <a:srgbClr val="7A45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334256" y="5888736"/>
            <a:ext cx="3602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STP &gt;70%  ·  Time-to-market 2–6 months  ·  Accuracy 90–95%  ·  Cost −30%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174736" y="1024128"/>
            <a:ext cx="3858768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blurRad="127000" dist="38100" dir="8100000" algn="bl" rotWithShape="0">
              <a:srgbClr val="9A886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174736" y="1024128"/>
            <a:ext cx="3858768" cy="475488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321040" y="107899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— SCALE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321040" y="1298448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2028–2030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174736" y="1499616"/>
            <a:ext cx="3858768" cy="438912"/>
          </a:xfrm>
          <a:prstGeom prst="rect">
            <a:avLst/>
          </a:prstGeom>
          <a:solidFill>
            <a:srgbClr val="F7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321040" y="1536192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$1B. Platform becomes a product.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321040" y="1975104"/>
            <a:ext cx="3566160" cy="0"/>
          </a:xfrm>
          <a:prstGeom prst="line">
            <a:avLst/>
          </a:prstGeom>
          <a:noFill/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8321040" y="2066544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8321040" y="2066544"/>
            <a:ext cx="64008" cy="47548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8449056" y="2084832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9's availability across 4 clusters with auto-scaling operations model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8321040" y="2596896"/>
            <a:ext cx="3566160" cy="475488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8321040" y="2596896"/>
            <a:ext cx="64008" cy="47548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449056" y="2615184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Maker + AI-assisted Checker; human only for true exceptions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8321040" y="3127248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8321040" y="3127248"/>
            <a:ext cx="64008" cy="47548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8449056" y="3145536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distribution (GSCF-like) + structured working capital evolution live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8321040" y="3657600"/>
            <a:ext cx="3566160" cy="475488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8321040" y="3657600"/>
            <a:ext cx="64008" cy="47548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8449056" y="3675888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accelerator framework + data &amp; analytics platform in production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8321040" y="4187952"/>
            <a:ext cx="3566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8321040" y="4187952"/>
            <a:ext cx="64008" cy="47548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8449056" y="4206240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is commercialisable, multi-tenant, and scaled to $1B revenue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8321040" y="4718304"/>
            <a:ext cx="3566160" cy="475488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8321040" y="4718304"/>
            <a:ext cx="64008" cy="47548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8449056" y="4736592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~90%  ·  Accuracy &gt;95%  ·  Process steps 6 → 4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8174736" y="5852160"/>
            <a:ext cx="3858768" cy="658368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8321040" y="5888736"/>
            <a:ext cx="3602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STP ~90%  ·  Accuracy &gt;95%  ·  7 9's uptime  ·  Commercially viable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F6B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Strategic Themes &amp; Non-Negotiable Priorities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execution pillars that apply across every phase of the programme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005840"/>
            <a:ext cx="5669280" cy="1572768"/>
          </a:xfrm>
          <a:prstGeom prst="rect">
            <a:avLst/>
          </a:prstGeom>
          <a:solidFill>
            <a:srgbClr val="F3E8DE"/>
          </a:solidFill>
          <a:ln w="9525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1005840"/>
            <a:ext cx="64008" cy="1572768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50976" y="1133856"/>
            <a:ext cx="4773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Modernise, Don't Patch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572768"/>
            <a:ext cx="5394960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1645920"/>
            <a:ext cx="5376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Mule workflows and the Oracle monolith with event-driven microservices. Every decision evaluated against commercialisability from day one. Patching only defers and multiplies the cost.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53328" y="1005840"/>
            <a:ext cx="5925312" cy="1572768"/>
          </a:xfrm>
          <a:prstGeom prst="rect">
            <a:avLst/>
          </a:prstGeom>
          <a:solidFill>
            <a:srgbClr val="DDE8F5"/>
          </a:solidFill>
          <a:ln w="9525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53328" y="1005840"/>
            <a:ext cx="64008" cy="1572768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36208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03136" y="113385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Core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572768"/>
            <a:ext cx="5650992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36208" y="1645920"/>
            <a:ext cx="56327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the processing layer so Loan IQ or Absolute can be swapped without any frontend impact. Eliminates vendor lock-in, accelerates change, and reduces contractual risk.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1168" y="2743200"/>
            <a:ext cx="5669280" cy="1572768"/>
          </a:xfrm>
          <a:prstGeom prst="rect">
            <a:avLst/>
          </a:prstGeom>
          <a:solidFill>
            <a:srgbClr val="DFF0E4"/>
          </a:solidFill>
          <a:ln w="9525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1168" y="2743200"/>
            <a:ext cx="64008" cy="1572768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50976" y="2871216"/>
            <a:ext cx="4773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Operations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310128"/>
            <a:ext cx="5394960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" y="3383280"/>
            <a:ext cx="5376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from AI-assisted (R1) to fully automated Maker/Checker (R2). Human involvement reserved for truly exceptional cases. Target &gt;95% document accuracy, ~90% STP by 2030.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53328" y="2743200"/>
            <a:ext cx="5925312" cy="1572768"/>
          </a:xfrm>
          <a:prstGeom prst="rect">
            <a:avLst/>
          </a:prstGeom>
          <a:solidFill>
            <a:srgbClr val="FEF0D4"/>
          </a:solidFill>
          <a:ln w="9525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53328" y="2743200"/>
            <a:ext cx="64008" cy="1572768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36208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03136" y="287121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Capabilities as Big Rocks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0" y="3310128"/>
            <a:ext cx="5650992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36208" y="3383280"/>
            <a:ext cx="56327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Tokenisation, fintech integration, GSCF-like trade distribution, and deal management are competitive necessities — not optional features — to reach $1B revenue.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1168" y="4480560"/>
            <a:ext cx="5669280" cy="1572768"/>
          </a:xfrm>
          <a:prstGeom prst="rect">
            <a:avLst/>
          </a:prstGeom>
          <a:solidFill>
            <a:srgbClr val="F3E8DE"/>
          </a:solidFill>
          <a:ln w="9525">
            <a:solidFill>
              <a:srgbClr val="D6CCC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01168" y="4480560"/>
            <a:ext cx="64008" cy="1572768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4048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50976" y="4608576"/>
            <a:ext cx="4773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Product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5047488"/>
            <a:ext cx="5394960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84048" y="5120640"/>
            <a:ext cx="5376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End-state is commercialisable and multi-tenant. Every architecture decision must answer: 'Can we sell this?' The Connector and API layer unlock a direct new revenue stream.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53328" y="4480560"/>
            <a:ext cx="5925312" cy="1572768"/>
          </a:xfrm>
          <a:prstGeom prst="rect">
            <a:avLst/>
          </a:prstGeom>
          <a:solidFill>
            <a:srgbClr val="F3E8DE"/>
          </a:solidFill>
          <a:ln w="19050">
            <a:solidFill>
              <a:srgbClr val="C9A882"/>
            </a:solidFill>
            <a:prstDash val="solid"/>
          </a:ln>
          <a:effectLst>
            <a:outerShdw blurRad="63500" dist="25400" dir="8100000" algn="bl" rotWithShape="0">
              <a:srgbClr val="B8A8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053328" y="4480560"/>
            <a:ext cx="64008" cy="1572768"/>
          </a:xfrm>
          <a:prstGeom prst="rect">
            <a:avLst/>
          </a:prstGeom>
          <a:solidFill>
            <a:srgbClr val="5C33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254496" y="5138928"/>
            <a:ext cx="5376672" cy="0"/>
          </a:xfrm>
          <a:prstGeom prst="line">
            <a:avLst/>
          </a:prstGeom>
          <a:noFill/>
          <a:ln w="6350">
            <a:solidFill>
              <a:srgbClr val="C9A8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54496" y="4608576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what we have  →  These are the constraints  →</a:t>
            </a:r>
            <a:endParaRPr lang="en-US" sz="1300" dirty="0"/>
          </a:p>
          <a:p>
            <a:pPr marL="0" indent="0">
              <a:buNone/>
            </a:pPr>
            <a:r>
              <a:rPr lang="en-US" sz="1300" b="1" i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must change to scale."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54496" y="559612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  ·  Omar Review  ·  2025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2132</Words>
  <Application>Microsoft Macintosh PowerPoint</Application>
  <PresentationFormat>Widescreen</PresentationFormat>
  <Paragraphs>456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Islam Elmenshawy</cp:lastModifiedBy>
  <cp:revision>2</cp:revision>
  <dcterms:created xsi:type="dcterms:W3CDTF">2026-02-19T10:36:13Z</dcterms:created>
  <dcterms:modified xsi:type="dcterms:W3CDTF">2026-02-19T10:42:29Z</dcterms:modified>
</cp:coreProperties>
</file>