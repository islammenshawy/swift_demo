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0"/>
            <a:ext cx="91440" cy="685800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457200"/>
            <a:ext cx="3840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DE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60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973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56032"/>
            <a:ext cx="2011680" cy="274320"/>
          </a:xfrm>
          <a:prstGeom prst="rect">
            <a:avLst/>
          </a:prstGeom>
          <a:solidFill>
            <a:srgbClr val="7A4520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PLATFORM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58368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Roadmap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$1B Platform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4754880" cy="0"/>
          </a:xfrm>
          <a:prstGeom prst="line">
            <a:avLst/>
          </a:prstGeom>
          <a:noFill/>
          <a:ln w="31750">
            <a:solidFill>
              <a:srgbClr val="5C33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55264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legacy monolith to unified,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AI-native trade finance platform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4315968"/>
            <a:ext cx="1700784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669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→ ~90%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0" y="4315968"/>
            <a:ext cx="1700784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17" name="Text 15"/>
          <p:cNvSpPr/>
          <p:nvPr/>
        </p:nvSpPr>
        <p:spPr>
          <a:xfrm>
            <a:off x="23957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957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hrs → 1 hr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0" y="4315968"/>
            <a:ext cx="1700784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21" name="Text 19"/>
          <p:cNvSpPr/>
          <p:nvPr/>
        </p:nvSpPr>
        <p:spPr>
          <a:xfrm>
            <a:off x="42245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245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9's → 7 9's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0" y="4315968"/>
            <a:ext cx="1700784" cy="122529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4315968"/>
            <a:ext cx="1700784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25" name="Text 23"/>
          <p:cNvSpPr/>
          <p:nvPr/>
        </p:nvSpPr>
        <p:spPr>
          <a:xfrm>
            <a:off x="6053328" y="440740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CHANGE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53328" y="4681728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5687568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·  Leadership Review  · 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Legacy Monolith Architecture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platform cannot support $1B revenue — and what breaks under load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92624" y="1865376"/>
            <a:ext cx="2176272" cy="1631290"/>
          </a:xfrm>
          <a:prstGeom prst="ellipse">
            <a:avLst/>
          </a:prstGeom>
          <a:solidFill>
            <a:srgbClr val="E0B870"/>
          </a:solidFill>
          <a:ln w="12700">
            <a:solidFill>
              <a:srgbClr val="E0B870"/>
            </a:solidFill>
            <a:prstDash val="solid"/>
          </a:ln>
          <a:effectLst>
            <a:outerShdw sx="100000" sy="100000" kx="0" ky="0" algn="bl" rotWithShape="0" blurRad="177800" dist="50800" dir="8100000">
              <a:srgbClr val="B8882A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9472" y="1773936"/>
            <a:ext cx="2322576" cy="1389888"/>
          </a:xfrm>
          <a:prstGeom prst="rect">
            <a:avLst/>
          </a:prstGeom>
          <a:solidFill>
            <a:srgbClr val="FEF0D4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19472" y="2962656"/>
            <a:ext cx="2322576" cy="402336"/>
          </a:xfrm>
          <a:prstGeom prst="ellipse">
            <a:avLst/>
          </a:prstGeom>
          <a:solidFill>
            <a:srgbClr val="E8C87A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9472" y="1572768"/>
            <a:ext cx="2322576" cy="402336"/>
          </a:xfrm>
          <a:prstGeom prst="ellipse">
            <a:avLst/>
          </a:prstGeom>
          <a:solidFill>
            <a:srgbClr val="FBE8C0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1865376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10912" y="2249424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1,800 Tables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10912" y="248716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DB for ALL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93792" y="3236976"/>
            <a:ext cx="1773936" cy="27432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236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Stored Procedures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01168" y="118872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118872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280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/ Mule ESB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16093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 integration bus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45536" y="1581912"/>
            <a:ext cx="1773936" cy="886968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01168" y="219456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219456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Core (Java)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26151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embedded in database layer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145536" y="2587752"/>
            <a:ext cx="1773936" cy="-118872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01168" y="3200400"/>
            <a:ext cx="2944368" cy="78638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01168" y="3200400"/>
            <a:ext cx="64008" cy="78638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2918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Jobs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36210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runs — no real-time processing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45536" y="3593592"/>
            <a:ext cx="1773936" cy="-1124712"/>
          </a:xfrm>
          <a:prstGeom prst="line">
            <a:avLst/>
          </a:prstGeom>
          <a:noFill/>
          <a:ln w="12700">
            <a:solidFill>
              <a:srgbClr val="E0B87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9034272" y="118872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34272" y="118872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98864" y="1280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(Tightly Coupled)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98864" y="16093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DB queries via Mule — no abstraction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42048" y="2468880"/>
            <a:ext cx="1792224" cy="-886968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034272" y="219456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034272" y="219456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98864" y="228600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98864" y="26151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queries on production Oracle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42048" y="2468880"/>
            <a:ext cx="1792224" cy="118872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9034272" y="3200400"/>
            <a:ext cx="2944368" cy="786384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034272" y="3200400"/>
            <a:ext cx="64008" cy="786384"/>
          </a:xfrm>
          <a:prstGeom prst="rect">
            <a:avLst/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98864" y="32918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198864" y="362102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direct database access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242048" y="2468880"/>
            <a:ext cx="1792224" cy="1124712"/>
          </a:xfrm>
          <a:prstGeom prst="line">
            <a:avLst/>
          </a:prstGeom>
          <a:noFill/>
          <a:ln w="12700">
            <a:solidFill>
              <a:srgbClr val="D6CCC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201168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01168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DB Anti-Pattern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84048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read/write same Oracle — any schema change is a system-wide event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197096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197096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79976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Trapped in Database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379976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 stored procedures = untestable, unversionable, undocumentable business logic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193024" y="4114800"/>
            <a:ext cx="3858768" cy="914400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193024" y="4114800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75904" y="4206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Horizontal Scaling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75904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on VSI — cannot auto-scale; outages are expected, not exceptional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01168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201168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 Processing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84048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streaming; STP capped at 20% — high manual load every transaction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197096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4197096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79976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ESB Spaghetti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379976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undocumented flows; tight coupling means any change risks outage everywhere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8193024" y="5157216"/>
            <a:ext cx="3858768" cy="9144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193024" y="5157216"/>
            <a:ext cx="64008" cy="91440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75904" y="52486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Observability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8375904" y="5541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distributed tracing, no metrics — failures discovered by clients before operations team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Architecture: Event-Driven, AI-Native Platform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independently deployable · DB-per-service · 7 9's availability · AI-powered STP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969264"/>
            <a:ext cx="11832336" cy="914400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969264"/>
            <a:ext cx="11832336" cy="5486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0" name="Text 8"/>
          <p:cNvSpPr/>
          <p:nvPr/>
        </p:nvSpPr>
        <p:spPr>
          <a:xfrm>
            <a:off x="310896" y="10424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 —  REACT MICRO-FRONTENDS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10896" y="1280160"/>
            <a:ext cx="188671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34184" y="1280160"/>
            <a:ext cx="188671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70760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57472" y="1280160"/>
            <a:ext cx="188671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94048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IQ / Absolute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1280160"/>
            <a:ext cx="1886712" cy="530352"/>
          </a:xfrm>
          <a:prstGeom prst="rect">
            <a:avLst/>
          </a:prstGeom>
          <a:solidFill>
            <a:srgbClr val="9B6010"/>
          </a:solidFill>
          <a:ln w="9525">
            <a:solidFill>
              <a:srgbClr val="9B60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17336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 (AI + Workflow)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04048" y="1280160"/>
            <a:ext cx="1886712" cy="530352"/>
          </a:xfrm>
          <a:prstGeom prst="rect">
            <a:avLst/>
          </a:prstGeom>
          <a:solidFill>
            <a:srgbClr val="9B6010"/>
          </a:solidFill>
          <a:ln w="9525">
            <a:solidFill>
              <a:srgbClr val="9B60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0624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Dashboard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927336" y="1280160"/>
            <a:ext cx="188671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3912" y="1280160"/>
            <a:ext cx="1813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Toolkit  (LLM)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4592" y="2029968"/>
            <a:ext cx="11832336" cy="32918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2029968"/>
            <a:ext cx="11503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API GATEWAY  ·  Rate Limiting  ·  Auth  ·  Routing  ·  Load Balancing  ·  TLS Termination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64592" y="2505456"/>
            <a:ext cx="8083296" cy="2286000"/>
          </a:xfrm>
          <a:prstGeom prst="rect">
            <a:avLst/>
          </a:prstGeom>
          <a:solidFill>
            <a:srgbClr val="F3E8DE"/>
          </a:solidFill>
          <a:ln w="12700">
            <a:solidFill>
              <a:srgbClr val="C9A8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505456"/>
            <a:ext cx="8083296" cy="54864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27" name="Text 25"/>
          <p:cNvSpPr/>
          <p:nvPr/>
        </p:nvSpPr>
        <p:spPr>
          <a:xfrm>
            <a:off x="310896" y="257860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 PLATFORM  —  EVENT-DRIVEN CORE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10896" y="2798064"/>
            <a:ext cx="7790688" cy="36576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0624" y="2798064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AI WORKFLOW ENGINE  (ELC)  —  Maker / Checker Automation  ·  &gt;95% Accuracy Target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10896" y="3218688"/>
            <a:ext cx="7790688" cy="29260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218688"/>
            <a:ext cx="7571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KAFKA EVENT BUS  —  Async Pub/Sub  ·  Event Replay  ·  Stream Processing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10896" y="3566160"/>
            <a:ext cx="151424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0896" y="3566160"/>
            <a:ext cx="1514246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" y="3611880"/>
            <a:ext cx="14410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880006" y="3566160"/>
            <a:ext cx="151424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80006" y="3566160"/>
            <a:ext cx="1514246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37" name="Text 35"/>
          <p:cNvSpPr/>
          <p:nvPr/>
        </p:nvSpPr>
        <p:spPr>
          <a:xfrm>
            <a:off x="1916582" y="3611880"/>
            <a:ext cx="14410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449117" y="3566160"/>
            <a:ext cx="151424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49117" y="3566160"/>
            <a:ext cx="1514246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40" name="Text 38"/>
          <p:cNvSpPr/>
          <p:nvPr/>
        </p:nvSpPr>
        <p:spPr>
          <a:xfrm>
            <a:off x="3485693" y="3611880"/>
            <a:ext cx="14410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018227" y="3566160"/>
            <a:ext cx="151424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18227" y="3566160"/>
            <a:ext cx="1514246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3" name="Text 41"/>
          <p:cNvSpPr/>
          <p:nvPr/>
        </p:nvSpPr>
        <p:spPr>
          <a:xfrm>
            <a:off x="5054803" y="3611880"/>
            <a:ext cx="14410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(RAG)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587338" y="3566160"/>
            <a:ext cx="1514246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7338" y="3566160"/>
            <a:ext cx="1514246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6" name="Text 44"/>
          <p:cNvSpPr/>
          <p:nvPr/>
        </p:nvSpPr>
        <p:spPr>
          <a:xfrm>
            <a:off x="6623914" y="3611880"/>
            <a:ext cx="144109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0896" y="4215384"/>
            <a:ext cx="1514246" cy="603504"/>
          </a:xfrm>
          <a:prstGeom prst="rect">
            <a:avLst/>
          </a:prstGeom>
          <a:solidFill>
            <a:srgbClr val="F3E8DE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0896" y="4718304"/>
            <a:ext cx="1514246" cy="201168"/>
          </a:xfrm>
          <a:prstGeom prst="ellipse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0896" y="4114800"/>
            <a:ext cx="1514246" cy="201168"/>
          </a:xfrm>
          <a:prstGeom prst="ellipse">
            <a:avLst/>
          </a:prstGeom>
          <a:solidFill>
            <a:srgbClr val="C9A882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4251960"/>
            <a:ext cx="14410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Search DB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347472" y="4526280"/>
            <a:ext cx="14410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1880006" y="4215384"/>
            <a:ext cx="1514246" cy="603504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80006" y="4718304"/>
            <a:ext cx="1514246" cy="201168"/>
          </a:xfrm>
          <a:prstGeom prst="ellipse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80006" y="4114800"/>
            <a:ext cx="1514246" cy="20116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16582" y="4251960"/>
            <a:ext cx="14410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DB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916582" y="4526280"/>
            <a:ext cx="14410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449117" y="4215384"/>
            <a:ext cx="1514246" cy="603504"/>
          </a:xfrm>
          <a:prstGeom prst="rect">
            <a:avLst/>
          </a:prstGeom>
          <a:solidFill>
            <a:srgbClr val="F3E8DE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49117" y="4718304"/>
            <a:ext cx="1514246" cy="201168"/>
          </a:xfrm>
          <a:prstGeom prst="ellipse">
            <a:avLst/>
          </a:prstGeom>
          <a:solidFill>
            <a:srgbClr val="A06535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49117" y="4114800"/>
            <a:ext cx="1514246" cy="201168"/>
          </a:xfrm>
          <a:prstGeom prst="ellipse">
            <a:avLst/>
          </a:prstGeom>
          <a:solidFill>
            <a:srgbClr val="C9A882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485693" y="4251960"/>
            <a:ext cx="14410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DB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485693" y="4526280"/>
            <a:ext cx="14410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5018227" y="4215384"/>
            <a:ext cx="1514246" cy="603504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18227" y="4718304"/>
            <a:ext cx="1514246" cy="201168"/>
          </a:xfrm>
          <a:prstGeom prst="ellipse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18227" y="4114800"/>
            <a:ext cx="1514246" cy="201168"/>
          </a:xfrm>
          <a:prstGeom prst="ellipse">
            <a:avLst/>
          </a:prstGeom>
          <a:solidFill>
            <a:srgbClr val="E0B87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54803" y="4251960"/>
            <a:ext cx="14410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Queue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5054803" y="4526280"/>
            <a:ext cx="14410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587338" y="4215384"/>
            <a:ext cx="1514246" cy="603504"/>
          </a:xfrm>
          <a:prstGeom prst="rect">
            <a:avLst/>
          </a:prstGeom>
          <a:solidFill>
            <a:srgbClr val="EDE6DF"/>
          </a:solidFill>
          <a:ln w="12700">
            <a:solidFill>
              <a:srgbClr val="7A66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587338" y="4718304"/>
            <a:ext cx="1514246" cy="201168"/>
          </a:xfrm>
          <a:prstGeom prst="ellipse">
            <a:avLst/>
          </a:prstGeom>
          <a:solidFill>
            <a:srgbClr val="7A6655"/>
          </a:solidFill>
          <a:ln w="12700">
            <a:solidFill>
              <a:srgbClr val="7A6655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587338" y="4114800"/>
            <a:ext cx="1514246" cy="201168"/>
          </a:xfrm>
          <a:prstGeom prst="ellipse">
            <a:avLst/>
          </a:prstGeom>
          <a:solidFill>
            <a:srgbClr val="B8A898"/>
          </a:solidFill>
          <a:ln w="12700">
            <a:solidFill>
              <a:srgbClr val="7A66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3914" y="4251960"/>
            <a:ext cx="14410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Registry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623914" y="4526280"/>
            <a:ext cx="14410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Confluent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8394192" y="2505456"/>
            <a:ext cx="3602736" cy="2286000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94192" y="2505456"/>
            <a:ext cx="3602736" cy="5486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74" name="Text 72"/>
          <p:cNvSpPr/>
          <p:nvPr/>
        </p:nvSpPr>
        <p:spPr>
          <a:xfrm>
            <a:off x="8485632" y="2578608"/>
            <a:ext cx="3419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LAYER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485632" y="2779776"/>
            <a:ext cx="3419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8485632" y="3163824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→ modern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485632" y="3529584"/>
            <a:ext cx="341985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03920" y="35295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Debezium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GoldenGate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8485632" y="3931920"/>
            <a:ext cx="341985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03920" y="39319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8485632" y="4334256"/>
            <a:ext cx="341985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503920" y="43342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Sync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64592" y="4937760"/>
            <a:ext cx="11832336" cy="914400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64592" y="4937760"/>
            <a:ext cx="11832336" cy="5486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5" name="Text 83"/>
          <p:cNvSpPr/>
          <p:nvPr/>
        </p:nvSpPr>
        <p:spPr>
          <a:xfrm>
            <a:off x="310896" y="501091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DOMAIN SERVICES  —  DB-PER-SERVICE  ·  INDEPENDENTLY DEPLOYABLE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310896" y="5212080"/>
            <a:ext cx="1609344" cy="566928"/>
          </a:xfrm>
          <a:prstGeom prst="rect">
            <a:avLst/>
          </a:prstGeom>
          <a:solidFill>
            <a:srgbClr val="FEF0D4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10896" y="5212080"/>
            <a:ext cx="1609344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8" name="Text 86"/>
          <p:cNvSpPr/>
          <p:nvPr/>
        </p:nvSpPr>
        <p:spPr>
          <a:xfrm>
            <a:off x="347472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Domain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47472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Read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(Migrating)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1965960" y="5212080"/>
            <a:ext cx="160934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965960" y="5212080"/>
            <a:ext cx="1609344" cy="4572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92" name="Text 90"/>
          <p:cNvSpPr/>
          <p:nvPr/>
        </p:nvSpPr>
        <p:spPr>
          <a:xfrm>
            <a:off x="2002536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2002536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3621024" y="5212080"/>
            <a:ext cx="160934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621024" y="5212080"/>
            <a:ext cx="1609344" cy="4572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96" name="Text 94"/>
          <p:cNvSpPr/>
          <p:nvPr/>
        </p:nvSpPr>
        <p:spPr>
          <a:xfrm>
            <a:off x="3657600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3657600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✓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5276088" y="5212080"/>
            <a:ext cx="160934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276088" y="5212080"/>
            <a:ext cx="1609344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100" name="Text 98"/>
          <p:cNvSpPr/>
          <p:nvPr/>
        </p:nvSpPr>
        <p:spPr>
          <a:xfrm>
            <a:off x="5312664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AML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312664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6931152" y="5212080"/>
            <a:ext cx="160934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931152" y="5212080"/>
            <a:ext cx="1609344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104" name="Text 102"/>
          <p:cNvSpPr/>
          <p:nvPr/>
        </p:nvSpPr>
        <p:spPr>
          <a:xfrm>
            <a:off x="6967728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Mgmt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6967728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8586216" y="5212080"/>
            <a:ext cx="160934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586216" y="5212080"/>
            <a:ext cx="1609344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8" name="Text 106"/>
          <p:cNvSpPr/>
          <p:nvPr/>
        </p:nvSpPr>
        <p:spPr>
          <a:xfrm>
            <a:off x="8622792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622792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Service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10241280" y="5212080"/>
            <a:ext cx="1609344" cy="566928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241280" y="5212080"/>
            <a:ext cx="1609344" cy="45720"/>
          </a:xfrm>
          <a:prstGeom prst="rect">
            <a:avLst/>
          </a:prstGeom>
          <a:solidFill>
            <a:srgbClr val="7A6655"/>
          </a:solidFill>
          <a:ln/>
        </p:spPr>
      </p:sp>
      <p:sp>
        <p:nvSpPr>
          <p:cNvPr id="112" name="Text 110"/>
          <p:cNvSpPr/>
          <p:nvPr/>
        </p:nvSpPr>
        <p:spPr>
          <a:xfrm>
            <a:off x="10277856" y="525780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Svcs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10277856" y="548640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164592" y="5998464"/>
            <a:ext cx="11832336" cy="62179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64592" y="5998464"/>
            <a:ext cx="11832336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16" name="Text 114"/>
          <p:cNvSpPr/>
          <p:nvPr/>
        </p:nvSpPr>
        <p:spPr>
          <a:xfrm>
            <a:off x="310896" y="60716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 ·  OBSERVABILITY  ·  PLATFORM ENGINEERING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310896" y="6272784"/>
            <a:ext cx="18851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47472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 Blue/Green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2241804" y="6272784"/>
            <a:ext cx="18851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78380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IaC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4172712" y="6272784"/>
            <a:ext cx="18851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209288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 GitOps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6103620" y="6272784"/>
            <a:ext cx="18851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140196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8034528" y="6272784"/>
            <a:ext cx="1885188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071104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+ PagerDuty</a:t>
            </a:r>
            <a:endParaRPr lang="en-US" sz="800" dirty="0"/>
          </a:p>
        </p:txBody>
      </p:sp>
      <p:sp>
        <p:nvSpPr>
          <p:cNvPr id="127" name="Shape 125"/>
          <p:cNvSpPr/>
          <p:nvPr/>
        </p:nvSpPr>
        <p:spPr>
          <a:xfrm>
            <a:off x="9965436" y="6272784"/>
            <a:ext cx="1885188" cy="29260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002012" y="6272784"/>
            <a:ext cx="1812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99.99999%  (7 Nine's)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5943600" cy="877824"/>
          </a:xfrm>
          <a:prstGeom prst="rect">
            <a:avLst/>
          </a:prstGeom>
          <a:solidFill>
            <a:srgbClr val="FEF0D4"/>
          </a:solidFill>
          <a:ln w="12700">
            <a:solidFill>
              <a:srgbClr val="FEF0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109728" cy="87782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64008"/>
            <a:ext cx="6217920" cy="877824"/>
          </a:xfrm>
          <a:prstGeom prst="rect">
            <a:avLst/>
          </a:prstGeom>
          <a:solidFill>
            <a:srgbClr val="F3E8DE"/>
          </a:solidFill>
          <a:ln w="12700">
            <a:solidFill>
              <a:srgbClr val="DFF0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64008"/>
            <a:ext cx="64008" cy="877824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7" name="Text 5"/>
          <p:cNvSpPr/>
          <p:nvPr/>
        </p:nvSpPr>
        <p:spPr>
          <a:xfrm>
            <a:off x="201168" y="109728"/>
            <a:ext cx="5577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TPS MONOLITH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constraints limiting growth to $1B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08192" y="109728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ELC PLATFORM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08192" y="5669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built to scale beyond $1B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0" y="960120"/>
            <a:ext cx="12161520" cy="320040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14416" y="1115568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01168" y="1115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State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12280" y="11155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State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9728" y="1298448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7744" y="1389888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DB · 1,800 tables shared across all services · Schema change = system-wide risk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22976" y="1444752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41264" y="1463040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56832" y="1298448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20" name="Shape 18"/>
          <p:cNvSpPr/>
          <p:nvPr/>
        </p:nvSpPr>
        <p:spPr>
          <a:xfrm>
            <a:off x="6720840" y="1298448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389888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DB-per-Service · PostgreSQL · MongoDB · pgvector · Services independently deployable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9728" y="2203704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" y="2295144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~10,000 stored procedures trapped in the database · Untestable, unversionable, undocumentable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522976" y="2350008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41264" y="236829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56832" y="2203704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27" name="Shape 25"/>
          <p:cNvSpPr/>
          <p:nvPr/>
        </p:nvSpPr>
        <p:spPr>
          <a:xfrm>
            <a:off x="6720840" y="2203704"/>
            <a:ext cx="5330952" cy="822960"/>
          </a:xfrm>
          <a:prstGeom prst="rect">
            <a:avLst/>
          </a:prstGeom>
          <a:solidFill>
            <a:srgbClr val="F3E8DE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295144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 application layer · Version-controlled · Unit-testable · Independently deployable per service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9728" y="3108960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" y="3200400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 ESB spaghetti · Tight coupling across all systems · Any change risks outage everywhere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22976" y="3255264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41264" y="3273552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656832" y="3108960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34" name="Shape 32"/>
          <p:cNvSpPr/>
          <p:nvPr/>
        </p:nvSpPr>
        <p:spPr>
          <a:xfrm>
            <a:off x="6720840" y="3108960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200400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streaming backbone · CDC via Debezium/GoldenGate · Async &amp; replay-capable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9728" y="4014216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" y="4105656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Batch-only overnight jobs · No real-time events · STP capped at 20% — high manual load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22976" y="4160520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41264" y="4178808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56832" y="4014216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41" name="Shape 39"/>
          <p:cNvSpPr/>
          <p:nvPr/>
        </p:nvSpPr>
        <p:spPr>
          <a:xfrm>
            <a:off x="6720840" y="4014216"/>
            <a:ext cx="5330952" cy="822960"/>
          </a:xfrm>
          <a:prstGeom prst="rect">
            <a:avLst/>
          </a:prstGeom>
          <a:solidFill>
            <a:srgbClr val="F3E8DE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4105656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event-driven processing · AI Workflow Engine (ELC) · STP target ~90%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9728" y="4919472"/>
            <a:ext cx="53949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" y="5010912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instance — vertical only · VSI deployment · 3 9's — outages expected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22976" y="5065776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41264" y="5084064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656832" y="4919472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48" name="Shape 46"/>
          <p:cNvSpPr/>
          <p:nvPr/>
        </p:nvSpPr>
        <p:spPr>
          <a:xfrm>
            <a:off x="6720840" y="4919472"/>
            <a:ext cx="53309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5010912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horizontal auto-scaling · 4-cluster HA deployment · 7 9's — 99.99999% uptime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09728" y="5824728"/>
            <a:ext cx="5394960" cy="8229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37744" y="5916168"/>
            <a:ext cx="5138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AI integration · All document processing manual · All decisions require human review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22976" y="5971032"/>
            <a:ext cx="1115568" cy="530352"/>
          </a:xfrm>
          <a:prstGeom prst="rect">
            <a:avLst/>
          </a:prstGeom>
          <a:solidFill>
            <a:srgbClr val="EDE6D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41264" y="5989320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656832" y="5824728"/>
            <a:ext cx="64008" cy="82296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5" name="Shape 53"/>
          <p:cNvSpPr/>
          <p:nvPr/>
        </p:nvSpPr>
        <p:spPr>
          <a:xfrm>
            <a:off x="6720840" y="5824728"/>
            <a:ext cx="5330952" cy="822960"/>
          </a:xfrm>
          <a:prstGeom prst="rect">
            <a:avLst/>
          </a:prstGeom>
          <a:solidFill>
            <a:srgbClr val="F3E8DE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5916168"/>
            <a:ext cx="5065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LLM-native ELC · RAG + OCR pipeline · &gt;95% accuracy · Maker/Checker fully automated at R2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2B518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— API Commercialisation Layer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partner · Any integration method · Platform as a revenue channel · Reach 2,000+ counterparties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627632"/>
            <a:ext cx="2432304" cy="1920240"/>
          </a:xfrm>
          <a:prstGeom prst="ellipse">
            <a:avLst/>
          </a:prstGeom>
          <a:solidFill>
            <a:srgbClr val="F3E8DE"/>
          </a:solidFill>
          <a:ln w="25400">
            <a:solidFill>
              <a:srgbClr val="7A4520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102352" y="1810512"/>
            <a:ext cx="2011680" cy="16276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882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120640" y="206654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450592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CHANNELS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1168" y="1298448"/>
            <a:ext cx="2944368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1298448"/>
            <a:ext cx="64008" cy="71323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3898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" y="170078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145536" y="1645920"/>
            <a:ext cx="1700784" cy="64008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1168" y="2185416"/>
            <a:ext cx="2944368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185416"/>
            <a:ext cx="64008" cy="71323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276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25877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45536" y="2532888"/>
            <a:ext cx="1700784" cy="-64008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3072384"/>
            <a:ext cx="2944368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3072384"/>
            <a:ext cx="64008" cy="71323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1638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MQ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" y="34747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protocols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45536" y="3419856"/>
            <a:ext cx="1700784" cy="-768096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01168" y="3959352"/>
            <a:ext cx="2944368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959352"/>
            <a:ext cx="64008" cy="71323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436168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guided entry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45536" y="4306824"/>
            <a:ext cx="1700784" cy="-1472184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96528" y="9875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NETWORK REACH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8796528" y="1298448"/>
            <a:ext cx="3200400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796528" y="1298448"/>
            <a:ext cx="64008" cy="71323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79408" y="14264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1338560" y="1517904"/>
            <a:ext cx="566928" cy="27432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338560" y="15179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78624" y="2286000"/>
            <a:ext cx="1517904" cy="-64008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96528" y="2185416"/>
            <a:ext cx="3200400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796528" y="2185416"/>
            <a:ext cx="64008" cy="713232"/>
          </a:xfrm>
          <a:prstGeom prst="rect">
            <a:avLst/>
          </a:prstGeom>
          <a:solidFill>
            <a:srgbClr val="A06535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79408" y="23134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1338560" y="2404872"/>
            <a:ext cx="566928" cy="274320"/>
          </a:xfrm>
          <a:prstGeom prst="rect">
            <a:avLst/>
          </a:prstGeom>
          <a:solidFill>
            <a:srgbClr val="A06535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338560" y="24048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1,200+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278624" y="2468880"/>
            <a:ext cx="1517904" cy="64008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96528" y="3072384"/>
            <a:ext cx="3200400" cy="7132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796528" y="3072384"/>
            <a:ext cx="64008" cy="71323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79408" y="32004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1338560" y="3291840"/>
            <a:ext cx="566928" cy="27432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338560" y="32918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278624" y="2651760"/>
            <a:ext cx="1517904" cy="768096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96528" y="3959352"/>
            <a:ext cx="3200400" cy="7132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796528" y="3959352"/>
            <a:ext cx="64008" cy="713232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79408" y="40873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1338560" y="4178808"/>
            <a:ext cx="566928" cy="27432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338560" y="41788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278624" y="2834640"/>
            <a:ext cx="1517904" cy="1472184"/>
          </a:xfrm>
          <a:prstGeom prst="line">
            <a:avLst/>
          </a:prstGeom>
          <a:noFill/>
          <a:ln w="12700">
            <a:solidFill>
              <a:srgbClr val="E0B87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42816" y="38221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READY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261104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5C331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61104" y="4096512"/>
            <a:ext cx="1133856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1" name="Text 59"/>
          <p:cNvSpPr/>
          <p:nvPr/>
        </p:nvSpPr>
        <p:spPr>
          <a:xfrm>
            <a:off x="4315968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20022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504688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7A452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04688" y="4096512"/>
            <a:ext cx="1133856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64" name="Text 62"/>
          <p:cNvSpPr/>
          <p:nvPr/>
        </p:nvSpPr>
        <p:spPr>
          <a:xfrm>
            <a:off x="5559552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748272" y="4096512"/>
            <a:ext cx="1133856" cy="621792"/>
          </a:xfrm>
          <a:prstGeom prst="rect">
            <a:avLst/>
          </a:prstGeom>
          <a:solidFill>
            <a:srgbClr val="F7F4F0"/>
          </a:solidFill>
          <a:ln w="19050">
            <a:solidFill>
              <a:srgbClr val="A0653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48272" y="4096512"/>
            <a:ext cx="1133856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67" name="Text 65"/>
          <p:cNvSpPr/>
          <p:nvPr/>
        </p:nvSpPr>
        <p:spPr>
          <a:xfrm>
            <a:off x="6803136" y="4187952"/>
            <a:ext cx="10241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01168" y="4828032"/>
            <a:ext cx="5486400" cy="1591056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201168" y="4828032"/>
            <a:ext cx="64008" cy="1591056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" y="49194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USE CASE — SBLC Issuance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84048" y="5248656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corporate client installs the SBLC Plugin on their ERP. With a single API call they issue a Standby Letter of Credit directly — no portal login, no manual entry, no email chain. The Connector validates through the AI Workflow Engine and returns a confirmed reference in seconds. Friction eliminated, volume unlocked.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035040" y="4828032"/>
            <a:ext cx="5943600" cy="1591056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6035040" y="4828032"/>
            <a:ext cx="64008" cy="1591056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36208" y="491947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COMMERCIALISATION MODEL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236208" y="52669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API subscription tiers — per-call or monthly volume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236208" y="54955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White-label plugin licensing to bank partners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236208" y="57241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Marketplace listing: KYC · Doc Mgmt · AI/ML modules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236208" y="59527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Revenue share on embedded fintech partner integrations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Duplication Crisis — Two Orgs, Same Logic, No Single Owner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&amp; APAR both contain duplicate Billing · Participation · CIF — any change requires all systems, all teams, full regression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3017520" cy="512064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05840"/>
            <a:ext cx="301752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042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Shared Modules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1847088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86537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76856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2951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2706624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7249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Initiation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136392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1546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3566160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584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995928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0142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Express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425696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443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4855464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8737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5285232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53035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PUPEE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83280" y="1005840"/>
            <a:ext cx="859536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83280" y="1005840"/>
            <a:ext cx="859536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3" name="Text 31"/>
          <p:cNvSpPr/>
          <p:nvPr/>
        </p:nvSpPr>
        <p:spPr>
          <a:xfrm>
            <a:off x="3529584" y="1042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ORG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Systems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29584" y="14447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Applications: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529584" y="1719072"/>
            <a:ext cx="2578608" cy="2788920"/>
          </a:xfrm>
          <a:prstGeom prst="rect">
            <a:avLst/>
          </a:prstGeom>
          <a:solidFill>
            <a:srgbClr val="F3E8DE"/>
          </a:solidFill>
          <a:ln w="12700">
            <a:solidFill>
              <a:srgbClr val="8AADD4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529584" y="1719072"/>
            <a:ext cx="2578608" cy="310896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39" name="Text 37"/>
          <p:cNvSpPr/>
          <p:nvPr/>
        </p:nvSpPr>
        <p:spPr>
          <a:xfrm>
            <a:off x="3639312" y="17373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39312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639312" y="232257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67328" y="23408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274320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67328" y="2761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39312" y="3163824"/>
            <a:ext cx="2304288" cy="347472"/>
          </a:xfrm>
          <a:prstGeom prst="rect">
            <a:avLst/>
          </a:prstGeom>
          <a:solidFill>
            <a:srgbClr val="FEF0D4"/>
          </a:solidFill>
          <a:ln w="15240">
            <a:solidFill>
              <a:srgbClr val="9B601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67328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21808" y="3236976"/>
            <a:ext cx="512064" cy="2011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21808" y="32369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39312" y="356616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67328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72784" y="1719072"/>
            <a:ext cx="2578608" cy="2788920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272784" y="1719072"/>
            <a:ext cx="2578608" cy="310896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53" name="Text 51"/>
          <p:cNvSpPr/>
          <p:nvPr/>
        </p:nvSpPr>
        <p:spPr>
          <a:xfrm>
            <a:off x="6382512" y="173736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382512" y="21031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MODULES: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82512" y="2322576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10528" y="234086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82512" y="274320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0528" y="276148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82512" y="3163824"/>
            <a:ext cx="2304288" cy="347472"/>
          </a:xfrm>
          <a:prstGeom prst="rect">
            <a:avLst/>
          </a:prstGeom>
          <a:solidFill>
            <a:srgbClr val="FEE8C2"/>
          </a:solidFill>
          <a:ln w="19050">
            <a:solidFill>
              <a:srgbClr val="9B601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0528" y="31821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065008" y="3236976"/>
            <a:ext cx="512064" cy="2011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65008" y="323697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382512" y="3566160"/>
            <a:ext cx="230428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10528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034272" y="19385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070848" y="1947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TCFE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0543032" y="19385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79608" y="19476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9034272" y="225856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70848" y="226771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543032" y="225856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579608" y="226771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034272" y="257860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070848" y="25877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ClearTrade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10543032" y="257860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579608" y="258775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TradeSharp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034272" y="289864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70848" y="29077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0543032" y="289864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79608" y="290779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Inigio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9034272" y="321868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070848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10543032" y="321868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579608" y="322783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CRM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9034272" y="35387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070848" y="35478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SmartDX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10543032" y="3538728"/>
            <a:ext cx="1389888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579608" y="3547872"/>
            <a:ext cx="1316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Integrator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9034272" y="17007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Systems: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01168" y="4608576"/>
            <a:ext cx="11777472" cy="1463040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01168" y="4608576"/>
            <a:ext cx="11777472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92" name="Text 90"/>
          <p:cNvSpPr/>
          <p:nvPr/>
        </p:nvSpPr>
        <p:spPr>
          <a:xfrm>
            <a:off x="347472" y="4700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Cost of Duplication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347472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billing change?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347472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TPS + APAR + full regression on both. 2× dev effort, 2× QA, 2× deployment risk.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3291840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 mobilised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3291840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CIF, Participation, Ops, QA — every change becomes a multi-team programme.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236208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bugs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6236208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differs across platforms — inconsistent client results across channels.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9180576" y="5010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crushed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180576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Time-to-market 3–12 months. A config change takes weeks across coordinated release trains.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914400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Domain Ownership — From Duplication to Clarity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92608" y="56692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logic has a single owner, every change is faster, cheaper, and safer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5120640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B87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05840"/>
            <a:ext cx="5120640" cy="347472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" y="10607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BEFORE — Duplicated Logic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" y="1481328"/>
            <a:ext cx="4864608" cy="877824"/>
          </a:xfrm>
          <a:prstGeom prst="rect">
            <a:avLst/>
          </a:prstGeom>
          <a:solidFill>
            <a:srgbClr val="FEF0D4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5544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Logic  exists in: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" y="184708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86537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75104" y="184708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186537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47872" y="184708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186537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0896" y="2487168"/>
            <a:ext cx="4864608" cy="877824"/>
          </a:xfrm>
          <a:prstGeom prst="rect">
            <a:avLst/>
          </a:prstGeom>
          <a:solidFill>
            <a:srgbClr val="F7F4F0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25603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Logic  exists in: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2336" y="285292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87121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975104" y="285292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93392" y="287121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0896" y="3493008"/>
            <a:ext cx="4864608" cy="877824"/>
          </a:xfrm>
          <a:prstGeom prst="rect">
            <a:avLst/>
          </a:prstGeom>
          <a:solidFill>
            <a:srgbClr val="FEF0D4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56616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Logic  exists in: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2336" y="385876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87705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975104" y="3858768"/>
            <a:ext cx="1444752" cy="329184"/>
          </a:xfrm>
          <a:prstGeom prst="rect">
            <a:avLst/>
          </a:prstGeom>
          <a:solidFill>
            <a:srgbClr val="FFFFFF"/>
          </a:solidFill>
          <a:ln w="15240">
            <a:solidFill>
              <a:srgbClr val="E0B8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93392" y="3877056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10896" y="4498848"/>
            <a:ext cx="4864608" cy="585216"/>
          </a:xfrm>
          <a:prstGeom prst="rect">
            <a:avLst/>
          </a:prstGeom>
          <a:solidFill>
            <a:srgbClr val="FEF0D4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572000"/>
            <a:ext cx="4718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change requires all systems · all teams · full regression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24728" y="1353312"/>
            <a:ext cx="0" cy="3145536"/>
          </a:xfrm>
          <a:prstGeom prst="line">
            <a:avLst/>
          </a:prstGeom>
          <a:noFill/>
          <a:ln w="12700">
            <a:solidFill>
              <a:srgbClr val="C9A882"/>
            </a:solidFill>
            <a:prstDash val="sysDash"/>
          </a:ln>
        </p:spPr>
      </p:sp>
      <p:sp>
        <p:nvSpPr>
          <p:cNvPr id="34" name="Shape 32"/>
          <p:cNvSpPr/>
          <p:nvPr/>
        </p:nvSpPr>
        <p:spPr>
          <a:xfrm>
            <a:off x="5431536" y="2395728"/>
            <a:ext cx="786384" cy="786384"/>
          </a:xfrm>
          <a:prstGeom prst="ellipse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49824" y="24140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345936" y="1005840"/>
            <a:ext cx="5632704" cy="40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45936" y="1005840"/>
            <a:ext cx="5632704" cy="347472"/>
          </a:xfrm>
          <a:prstGeom prst="rect">
            <a:avLst/>
          </a:prstGeom>
          <a:solidFill>
            <a:srgbClr val="A06535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1060704"/>
            <a:ext cx="5449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 — Focused Ownership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73952" y="1481328"/>
            <a:ext cx="5376672" cy="877824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73952" y="1481328"/>
            <a:ext cx="64008" cy="87782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41" name="Text 39"/>
          <p:cNvSpPr/>
          <p:nvPr/>
        </p:nvSpPr>
        <p:spPr>
          <a:xfrm>
            <a:off x="6638544" y="157276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Domain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38544" y="188366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· Own DB · Own team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405872" y="1645920"/>
            <a:ext cx="1389888" cy="274320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24160" y="166420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Team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473952" y="2487168"/>
            <a:ext cx="5376672" cy="877824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73952" y="2487168"/>
            <a:ext cx="64008" cy="877824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47" name="Text 45"/>
          <p:cNvSpPr/>
          <p:nvPr/>
        </p:nvSpPr>
        <p:spPr>
          <a:xfrm>
            <a:off x="6638544" y="257860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Domain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38544" y="288950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· Own DB · Own team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0405872" y="2651760"/>
            <a:ext cx="1389888" cy="27432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424160" y="267004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Team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473952" y="3493008"/>
            <a:ext cx="5376672" cy="877824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73952" y="3493008"/>
            <a:ext cx="64008" cy="87782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53" name="Text 51"/>
          <p:cNvSpPr/>
          <p:nvPr/>
        </p:nvSpPr>
        <p:spPr>
          <a:xfrm>
            <a:off x="6638544" y="3584448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Domain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638544" y="3895344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· Own DB · Own team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0405872" y="3657600"/>
            <a:ext cx="1389888" cy="27432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424160" y="3675888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Team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473952" y="4498848"/>
            <a:ext cx="5376672" cy="585216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73952" y="4498848"/>
            <a:ext cx="64008" cy="585216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59" name="Text 57"/>
          <p:cNvSpPr/>
          <p:nvPr/>
        </p:nvSpPr>
        <p:spPr>
          <a:xfrm>
            <a:off x="6638544" y="4572000"/>
            <a:ext cx="5157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domain owner engages · Targeted tests only · No full regression needed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2880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82880" y="5248656"/>
            <a:ext cx="2926080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62" name="Text 60"/>
          <p:cNvSpPr/>
          <p:nvPr/>
        </p:nvSpPr>
        <p:spPr>
          <a:xfrm>
            <a:off x="310896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SCOPE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65760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10896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10896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310896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only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145536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3145536" y="5248656"/>
            <a:ext cx="2926080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69" name="Text 67"/>
          <p:cNvSpPr/>
          <p:nvPr/>
        </p:nvSpPr>
        <p:spPr>
          <a:xfrm>
            <a:off x="3273552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MOBILISED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328416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73552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teams required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273552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3273552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owner only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6108192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108192" y="5248656"/>
            <a:ext cx="292608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76" name="Text 74"/>
          <p:cNvSpPr/>
          <p:nvPr/>
        </p:nvSpPr>
        <p:spPr>
          <a:xfrm>
            <a:off x="6236208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EFFORT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291072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36208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suite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236208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6236208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tests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9070848" y="5248656"/>
            <a:ext cx="2926080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9070848" y="5248656"/>
            <a:ext cx="2926080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3" name="Text 81"/>
          <p:cNvSpPr/>
          <p:nvPr/>
        </p:nvSpPr>
        <p:spPr>
          <a:xfrm>
            <a:off x="9198864" y="5376672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MARKET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9253728" y="5650992"/>
            <a:ext cx="2560320" cy="0"/>
          </a:xfrm>
          <a:prstGeom prst="line">
            <a:avLst/>
          </a:prstGeom>
          <a:noFill/>
          <a:ln w="6350">
            <a:solidFill>
              <a:srgbClr val="EDE6D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98864" y="572414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months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198864" y="5980176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9198864" y="6181344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weeks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Consolidated — End State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Trade Shared modules + 9 Payment Shared modules · No duplication · Each domain owns its logic and data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3017520" cy="539496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05840"/>
            <a:ext cx="301752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042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ORG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81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Shared Modules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1847088"/>
            <a:ext cx="2706624" cy="365760"/>
          </a:xfrm>
          <a:prstGeom prst="rect">
            <a:avLst/>
          </a:prstGeom>
          <a:solidFill>
            <a:srgbClr val="FEF0D4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865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33472" y="1892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286000"/>
            <a:ext cx="2706624" cy="365760"/>
          </a:xfrm>
          <a:prstGeom prst="rect">
            <a:avLst/>
          </a:prstGeom>
          <a:solidFill>
            <a:srgbClr val="FEF0D4"/>
          </a:solidFill>
          <a:ln w="6350">
            <a:solidFill>
              <a:srgbClr val="E0B8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Posting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33472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2724912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4320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Initiation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3163824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1821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3602736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041648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0599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Express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" y="4480560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4988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4919472"/>
            <a:ext cx="2706624" cy="365760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9377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" y="5358384"/>
            <a:ext cx="2706624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53766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PUPEE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1005840"/>
            <a:ext cx="85953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83280" y="1005840"/>
            <a:ext cx="8595360" cy="36576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5" name="Text 33"/>
          <p:cNvSpPr/>
          <p:nvPr/>
        </p:nvSpPr>
        <p:spPr>
          <a:xfrm>
            <a:off x="3529584" y="10424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ORG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228832" y="107899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Systems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29584" y="144475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Applications: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529584" y="1700784"/>
            <a:ext cx="1325880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0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Platform ●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28616" y="1700784"/>
            <a:ext cx="1325880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 Platform ●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327648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64224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TCFE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726680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63256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125712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62288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524744" y="170078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61320" y="170992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529584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66160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ClearTrade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928616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TradeSharp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27648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64224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726680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63256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Inigio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125712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62288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0524744" y="202082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61320" y="202996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CRM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529584" y="234086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66160" y="235000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SmartDX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928616" y="2340864"/>
            <a:ext cx="1325880" cy="256032"/>
          </a:xfrm>
          <a:prstGeom prst="rect">
            <a:avLst/>
          </a:prstGeom>
          <a:solidFill>
            <a:srgbClr val="F7F4F0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65192" y="2350008"/>
            <a:ext cx="1252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Integrator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401568" y="2450592"/>
            <a:ext cx="8412480" cy="2971800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401568" y="2450592"/>
            <a:ext cx="8412480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69" name="Text 67"/>
          <p:cNvSpPr/>
          <p:nvPr/>
        </p:nvSpPr>
        <p:spPr>
          <a:xfrm>
            <a:off x="3547872" y="25054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Shared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1082528" y="2505456"/>
            <a:ext cx="640080" cy="219456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082528" y="25054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Modules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354787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547872" y="2834640"/>
            <a:ext cx="1115568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74" name="Text 72"/>
          <p:cNvSpPr/>
          <p:nvPr/>
        </p:nvSpPr>
        <p:spPr>
          <a:xfrm>
            <a:off x="359359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73659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736592" y="2834640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77" name="Text 75"/>
          <p:cNvSpPr/>
          <p:nvPr/>
        </p:nvSpPr>
        <p:spPr>
          <a:xfrm>
            <a:off x="478231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592531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925312" y="2834640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0" name="Text 78"/>
          <p:cNvSpPr/>
          <p:nvPr/>
        </p:nvSpPr>
        <p:spPr>
          <a:xfrm>
            <a:off x="597103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11403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114032" y="2834640"/>
            <a:ext cx="1115568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83" name="Text 81"/>
          <p:cNvSpPr/>
          <p:nvPr/>
        </p:nvSpPr>
        <p:spPr>
          <a:xfrm>
            <a:off x="715975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Ingestion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30275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8302752" y="2834640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86" name="Text 84"/>
          <p:cNvSpPr/>
          <p:nvPr/>
        </p:nvSpPr>
        <p:spPr>
          <a:xfrm>
            <a:off x="834847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Screening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949147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9491472" y="2834640"/>
            <a:ext cx="1115568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89" name="Text 87"/>
          <p:cNvSpPr/>
          <p:nvPr/>
        </p:nvSpPr>
        <p:spPr>
          <a:xfrm>
            <a:off x="953719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10680192" y="2834640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10680192" y="2834640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92" name="Text 90"/>
          <p:cNvSpPr/>
          <p:nvPr/>
        </p:nvSpPr>
        <p:spPr>
          <a:xfrm>
            <a:off x="10725912" y="29443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Distribution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54787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3547872" y="3456432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95" name="Text 93"/>
          <p:cNvSpPr/>
          <p:nvPr/>
        </p:nvSpPr>
        <p:spPr>
          <a:xfrm>
            <a:off x="359359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Mgmt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473659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4736592" y="3456432"/>
            <a:ext cx="1115568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98" name="Text 96"/>
          <p:cNvSpPr/>
          <p:nvPr/>
        </p:nvSpPr>
        <p:spPr>
          <a:xfrm>
            <a:off x="478231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Mgmt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92531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5925312" y="3456432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01" name="Text 99"/>
          <p:cNvSpPr/>
          <p:nvPr/>
        </p:nvSpPr>
        <p:spPr>
          <a:xfrm>
            <a:off x="597103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Mgmt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711403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7114032" y="3456432"/>
            <a:ext cx="1115568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04" name="Text 102"/>
          <p:cNvSpPr/>
          <p:nvPr/>
        </p:nvSpPr>
        <p:spPr>
          <a:xfrm>
            <a:off x="715975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Extraction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830275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8302752" y="3456432"/>
            <a:ext cx="1115568" cy="64008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107" name="Text 105"/>
          <p:cNvSpPr/>
          <p:nvPr/>
        </p:nvSpPr>
        <p:spPr>
          <a:xfrm>
            <a:off x="834847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949147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9491472" y="3456432"/>
            <a:ext cx="1115568" cy="64008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110" name="Text 108"/>
          <p:cNvSpPr/>
          <p:nvPr/>
        </p:nvSpPr>
        <p:spPr>
          <a:xfrm>
            <a:off x="953719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TBML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10680192" y="3456432"/>
            <a:ext cx="1115568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10680192" y="3456432"/>
            <a:ext cx="1115568" cy="64008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13" name="Text 111"/>
          <p:cNvSpPr/>
          <p:nvPr/>
        </p:nvSpPr>
        <p:spPr>
          <a:xfrm>
            <a:off x="10725912" y="356616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914400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Architecture — 2030 North Star View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778240" y="128016"/>
            <a:ext cx="3273552" cy="292608"/>
          </a:xfrm>
          <a:prstGeom prst="rect">
            <a:avLst/>
          </a:prstGeom>
          <a:solidFill>
            <a:srgbClr val="F0EFF9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128016"/>
            <a:ext cx="64008" cy="292608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0" y="12801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Indigo = AI-Agentic Domain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56692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AI-orchestrated end-to-end flows · Context extraction · Autonomous decision-making · Agentic processing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" y="969264"/>
            <a:ext cx="1280160" cy="537667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" y="969264"/>
            <a:ext cx="1280160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" y="106070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LOGIN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2880" y="133502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168" y="1335024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(TCFE)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171907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171907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2880" y="21031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210312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248716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" y="248716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2880" y="287121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" y="287121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82880" y="3291840"/>
            <a:ext cx="109728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4592" y="336499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CHANNELS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82880" y="3639312"/>
            <a:ext cx="1097280" cy="310896"/>
          </a:xfrm>
          <a:prstGeom prst="rect">
            <a:avLst/>
          </a:prstGeom>
          <a:solidFill>
            <a:srgbClr val="F3E8DE"/>
          </a:solidFill>
          <a:ln w="6350">
            <a:solidFill>
              <a:srgbClr val="C9A8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3639312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82880" y="4023360"/>
            <a:ext cx="1097280" cy="310896"/>
          </a:xfrm>
          <a:prstGeom prst="rect">
            <a:avLst/>
          </a:prstGeom>
          <a:solidFill>
            <a:srgbClr val="F3E8DE"/>
          </a:solidFill>
          <a:ln w="6350">
            <a:solidFill>
              <a:srgbClr val="C9A8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" y="4023360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2880" y="4407408"/>
            <a:ext cx="1097280" cy="310896"/>
          </a:xfrm>
          <a:prstGeom prst="rect">
            <a:avLst/>
          </a:prstGeom>
          <a:solidFill>
            <a:srgbClr val="F3E8DE"/>
          </a:solidFill>
          <a:ln w="6350">
            <a:solidFill>
              <a:srgbClr val="C9A8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1168" y="4407408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FI's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2880" y="4791456"/>
            <a:ext cx="1097280" cy="310896"/>
          </a:xfrm>
          <a:prstGeom prst="rect">
            <a:avLst/>
          </a:prstGeom>
          <a:solidFill>
            <a:srgbClr val="F3E8DE"/>
          </a:solidFill>
          <a:ln w="6350">
            <a:solidFill>
              <a:srgbClr val="C9A8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" y="4791456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82880" y="5175504"/>
            <a:ext cx="1097280" cy="310896"/>
          </a:xfrm>
          <a:prstGeom prst="rect">
            <a:avLst/>
          </a:prstGeom>
          <a:solidFill>
            <a:srgbClr val="F3E8DE"/>
          </a:solidFill>
          <a:ln w="6350">
            <a:solidFill>
              <a:srgbClr val="C9A8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" y="5175504"/>
            <a:ext cx="1060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389888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389888" y="40782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572768" y="969264"/>
            <a:ext cx="1225296" cy="537667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72768" y="969264"/>
            <a:ext cx="1225296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0" name="Text 38"/>
          <p:cNvSpPr/>
          <p:nvPr/>
        </p:nvSpPr>
        <p:spPr>
          <a:xfrm>
            <a:off x="1645920" y="1060704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CONNECTOR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664208" y="1316736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64208" y="1536192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00784" y="153619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664208" y="1865376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00784" y="186537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664208" y="2194560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00784" y="219456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Standby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664208" y="2523744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00784" y="252374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L/c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664208" y="2852928"/>
            <a:ext cx="1042416" cy="25603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00784" y="285292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664208" y="3328416"/>
            <a:ext cx="1042416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64208" y="3401568"/>
            <a:ext cx="1042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664208" y="3621024"/>
            <a:ext cx="1042416" cy="2560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00784" y="362102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664208" y="3950208"/>
            <a:ext cx="1042416" cy="2560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00784" y="3950208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664208" y="4279392"/>
            <a:ext cx="1042416" cy="2560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700784" y="4279392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664208" y="4608576"/>
            <a:ext cx="1042416" cy="256032"/>
          </a:xfrm>
          <a:prstGeom prst="rect">
            <a:avLst/>
          </a:prstGeom>
          <a:solidFill>
            <a:srgbClr val="FEF0D4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00784" y="4608576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816352" y="22494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2816352" y="407822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781410" y="969264"/>
            <a:ext cx="4452396" cy="292608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27714" y="969264"/>
            <a:ext cx="41597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TwC AGENTIC FLOWS  —  AI ORCHESTRATION LAYER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07608" y="1261872"/>
            <a:ext cx="0" cy="146304"/>
          </a:xfrm>
          <a:prstGeom prst="line">
            <a:avLst/>
          </a:prstGeom>
          <a:noFill/>
          <a:ln w="19050">
            <a:solidFill>
              <a:srgbClr val="9B98C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999232" y="1426464"/>
            <a:ext cx="2737622" cy="2578608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2999232" y="1426464"/>
            <a:ext cx="2737622" cy="54864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69" name="Text 67"/>
          <p:cNvSpPr/>
          <p:nvPr/>
        </p:nvSpPr>
        <p:spPr>
          <a:xfrm>
            <a:off x="3108960" y="1517904"/>
            <a:ext cx="20975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DECISION ENGINE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950470" y="149961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50470" y="149961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3108960" y="179222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3108960" y="179222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74" name="Text 72"/>
          <p:cNvSpPr/>
          <p:nvPr/>
        </p:nvSpPr>
        <p:spPr>
          <a:xfrm>
            <a:off x="3163824" y="184708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084579" y="18288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349755" y="179222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4349755" y="179222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78" name="Text 76"/>
          <p:cNvSpPr/>
          <p:nvPr/>
        </p:nvSpPr>
        <p:spPr>
          <a:xfrm>
            <a:off x="4404619" y="184708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5325374" y="182880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108960" y="252374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3108960" y="252374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82" name="Text 80"/>
          <p:cNvSpPr/>
          <p:nvPr/>
        </p:nvSpPr>
        <p:spPr>
          <a:xfrm>
            <a:off x="3163824" y="257860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TBML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084579" y="25603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4349755" y="252374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4349755" y="252374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86" name="Text 84"/>
          <p:cNvSpPr/>
          <p:nvPr/>
        </p:nvSpPr>
        <p:spPr>
          <a:xfrm>
            <a:off x="4404619" y="257860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NOUNS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325374" y="256032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3108960" y="325526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9" name="Shape 87"/>
          <p:cNvSpPr/>
          <p:nvPr/>
        </p:nvSpPr>
        <p:spPr>
          <a:xfrm>
            <a:off x="3108960" y="325526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90" name="Text 88"/>
          <p:cNvSpPr/>
          <p:nvPr/>
        </p:nvSpPr>
        <p:spPr>
          <a:xfrm>
            <a:off x="3163824" y="331012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TEMPLATING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084579" y="32918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349755" y="3255264"/>
            <a:ext cx="1195075" cy="640080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4349755" y="3255264"/>
            <a:ext cx="1195075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94" name="Text 92"/>
          <p:cNvSpPr/>
          <p:nvPr/>
        </p:nvSpPr>
        <p:spPr>
          <a:xfrm>
            <a:off x="4404619" y="3310128"/>
            <a:ext cx="108534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WORKABILITY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5325374" y="329184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5810006" y="1426464"/>
            <a:ext cx="3205978" cy="2578608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5810006" y="1426464"/>
            <a:ext cx="3205978" cy="54864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98" name="Text 96"/>
          <p:cNvSpPr/>
          <p:nvPr/>
        </p:nvSpPr>
        <p:spPr>
          <a:xfrm>
            <a:off x="5919734" y="1517904"/>
            <a:ext cx="2364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ENGINE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8266176" y="149961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66176" y="149961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5727710" y="2587752"/>
            <a:ext cx="100584" cy="256032"/>
          </a:xfrm>
          <a:prstGeom prst="rect">
            <a:avLst/>
          </a:prstGeom>
          <a:solidFill>
            <a:srgbClr val="9B98CC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681990" y="253288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5938022" y="1792224"/>
            <a:ext cx="2949946" cy="950976"/>
          </a:xfrm>
          <a:prstGeom prst="rect">
            <a:avLst/>
          </a:prstGeom>
          <a:solidFill>
            <a:srgbClr val="E8E7F4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938022" y="1792224"/>
            <a:ext cx="2949946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105" name="Text 103"/>
          <p:cNvSpPr/>
          <p:nvPr/>
        </p:nvSpPr>
        <p:spPr>
          <a:xfrm>
            <a:off x="5974598" y="1792224"/>
            <a:ext cx="287679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5938022" y="2852928"/>
            <a:ext cx="2949946" cy="1115568"/>
          </a:xfrm>
          <a:prstGeom prst="rect">
            <a:avLst/>
          </a:prstGeom>
          <a:solidFill>
            <a:srgbClr val="E8E7F4"/>
          </a:solidFill>
          <a:ln w="12700">
            <a:solidFill>
              <a:srgbClr val="9B98C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938022" y="2852928"/>
            <a:ext cx="2949946" cy="54864"/>
          </a:xfrm>
          <a:prstGeom prst="rect">
            <a:avLst/>
          </a:prstGeom>
          <a:solidFill>
            <a:srgbClr val="7472B8"/>
          </a:solidFill>
          <a:ln/>
        </p:spPr>
      </p:sp>
      <p:sp>
        <p:nvSpPr>
          <p:cNvPr id="108" name="Text 106"/>
          <p:cNvSpPr/>
          <p:nvPr/>
        </p:nvSpPr>
        <p:spPr>
          <a:xfrm>
            <a:off x="5974598" y="2852928"/>
            <a:ext cx="287679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4231162" y="4005072"/>
            <a:ext cx="0" cy="201168"/>
          </a:xfrm>
          <a:prstGeom prst="line">
            <a:avLst/>
          </a:prstGeom>
          <a:noFill/>
          <a:ln w="19050">
            <a:solidFill>
              <a:srgbClr val="C9A882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066570" y="404164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7412995" y="4005072"/>
            <a:ext cx="0" cy="201168"/>
          </a:xfrm>
          <a:prstGeom prst="line">
            <a:avLst/>
          </a:prstGeom>
          <a:noFill/>
          <a:ln w="19050">
            <a:solidFill>
              <a:srgbClr val="C9A882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248403" y="404164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</a:t>
            </a:r>
            <a:endParaRPr lang="en-US" sz="1300" dirty="0"/>
          </a:p>
        </p:txBody>
      </p:sp>
      <p:sp>
        <p:nvSpPr>
          <p:cNvPr id="113" name="Shape 111"/>
          <p:cNvSpPr/>
          <p:nvPr/>
        </p:nvSpPr>
        <p:spPr>
          <a:xfrm>
            <a:off x="2999232" y="4242816"/>
            <a:ext cx="6016752" cy="2066544"/>
          </a:xfrm>
          <a:prstGeom prst="rect">
            <a:avLst/>
          </a:prstGeom>
          <a:solidFill>
            <a:srgbClr val="FEF0D4"/>
          </a:solidFill>
          <a:ln w="12700">
            <a:solidFill>
              <a:srgbClr val="E0B87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999232" y="4242816"/>
            <a:ext cx="6016752" cy="54864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15" name="Text 113"/>
          <p:cNvSpPr/>
          <p:nvPr/>
        </p:nvSpPr>
        <p:spPr>
          <a:xfrm>
            <a:off x="3127248" y="43342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PLATFORM  —  Shared Domain Services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3127248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127248" y="4608576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18" name="Text 116"/>
          <p:cNvSpPr/>
          <p:nvPr/>
        </p:nvSpPr>
        <p:spPr>
          <a:xfrm>
            <a:off x="3163824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4290365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290365" y="4608576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21" name="Text 119"/>
          <p:cNvSpPr/>
          <p:nvPr/>
        </p:nvSpPr>
        <p:spPr>
          <a:xfrm>
            <a:off x="4326941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5453482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453482" y="4608576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24" name="Text 122"/>
          <p:cNvSpPr/>
          <p:nvPr/>
        </p:nvSpPr>
        <p:spPr>
          <a:xfrm>
            <a:off x="5490058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6616598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616598" y="4608576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27" name="Text 125"/>
          <p:cNvSpPr/>
          <p:nvPr/>
        </p:nvSpPr>
        <p:spPr>
          <a:xfrm>
            <a:off x="6653174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7779715" y="4608576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779715" y="4608576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30" name="Text 128"/>
          <p:cNvSpPr/>
          <p:nvPr/>
        </p:nvSpPr>
        <p:spPr>
          <a:xfrm>
            <a:off x="7816291" y="4663440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3127248" y="5212080"/>
            <a:ext cx="1108253" cy="493776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127248" y="5212080"/>
            <a:ext cx="1108253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33" name="Text 131"/>
          <p:cNvSpPr/>
          <p:nvPr/>
        </p:nvSpPr>
        <p:spPr>
          <a:xfrm>
            <a:off x="3163824" y="5266944"/>
            <a:ext cx="7973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3467405" y="524865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467405" y="524865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4290365" y="5212080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4290365" y="5212080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38" name="Text 136"/>
          <p:cNvSpPr/>
          <p:nvPr/>
        </p:nvSpPr>
        <p:spPr>
          <a:xfrm>
            <a:off x="4326941" y="5266944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850" dirty="0"/>
          </a:p>
        </p:txBody>
      </p:sp>
      <p:sp>
        <p:nvSpPr>
          <p:cNvPr id="139" name="Shape 137"/>
          <p:cNvSpPr/>
          <p:nvPr/>
        </p:nvSpPr>
        <p:spPr>
          <a:xfrm>
            <a:off x="5453482" y="5212080"/>
            <a:ext cx="1108253" cy="493776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5453482" y="5212080"/>
            <a:ext cx="1108253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41" name="Text 139"/>
          <p:cNvSpPr/>
          <p:nvPr/>
        </p:nvSpPr>
        <p:spPr>
          <a:xfrm>
            <a:off x="5490058" y="5266944"/>
            <a:ext cx="7973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5793638" y="524865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793638" y="524865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44" name="Shape 142"/>
          <p:cNvSpPr/>
          <p:nvPr/>
        </p:nvSpPr>
        <p:spPr>
          <a:xfrm>
            <a:off x="6616598" y="5212080"/>
            <a:ext cx="1108253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E0B87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616598" y="5212080"/>
            <a:ext cx="110825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46" name="Text 144"/>
          <p:cNvSpPr/>
          <p:nvPr/>
        </p:nvSpPr>
        <p:spPr>
          <a:xfrm>
            <a:off x="6653174" y="5266944"/>
            <a:ext cx="10351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7779715" y="5212080"/>
            <a:ext cx="1108253" cy="493776"/>
          </a:xfrm>
          <a:prstGeom prst="rect">
            <a:avLst/>
          </a:prstGeom>
          <a:solidFill>
            <a:srgbClr val="F0EFF9"/>
          </a:solidFill>
          <a:ln w="19050">
            <a:solidFill>
              <a:srgbClr val="9B98C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779715" y="5212080"/>
            <a:ext cx="1108253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49" name="Text 147"/>
          <p:cNvSpPr/>
          <p:nvPr/>
        </p:nvSpPr>
        <p:spPr>
          <a:xfrm>
            <a:off x="7816291" y="5266944"/>
            <a:ext cx="79735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8119872" y="5248656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119872" y="524865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52" name="Text 150"/>
          <p:cNvSpPr/>
          <p:nvPr/>
        </p:nvSpPr>
        <p:spPr>
          <a:xfrm>
            <a:off x="9034272" y="174284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3" name="Text 151"/>
          <p:cNvSpPr/>
          <p:nvPr/>
        </p:nvSpPr>
        <p:spPr>
          <a:xfrm>
            <a:off x="9034272" y="5069434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4" name="Shape 152"/>
          <p:cNvSpPr/>
          <p:nvPr/>
        </p:nvSpPr>
        <p:spPr>
          <a:xfrm>
            <a:off x="9217152" y="969264"/>
            <a:ext cx="2907792" cy="2816352"/>
          </a:xfrm>
          <a:prstGeom prst="rect">
            <a:avLst/>
          </a:prstGeom>
          <a:solidFill>
            <a:srgbClr val="F3E8DE"/>
          </a:solidFill>
          <a:ln w="9525">
            <a:solidFill>
              <a:srgbClr val="C9A88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9217152" y="969264"/>
            <a:ext cx="2907792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56" name="Text 154"/>
          <p:cNvSpPr/>
          <p:nvPr/>
        </p:nvSpPr>
        <p:spPr>
          <a:xfrm>
            <a:off x="9308592" y="106070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 PLATFORM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9326880" y="1353312"/>
            <a:ext cx="2688336" cy="38404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345168" y="135331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159" name="Shape 157"/>
          <p:cNvSpPr/>
          <p:nvPr/>
        </p:nvSpPr>
        <p:spPr>
          <a:xfrm>
            <a:off x="9326880" y="1819656"/>
            <a:ext cx="2688336" cy="38404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345168" y="18196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9326880" y="2286000"/>
            <a:ext cx="2688336" cy="38404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345168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SWIFTS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9326880" y="2752344"/>
            <a:ext cx="2688336" cy="38404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9345168" y="275234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1000" dirty="0"/>
          </a:p>
        </p:txBody>
      </p:sp>
      <p:sp>
        <p:nvSpPr>
          <p:cNvPr id="165" name="Shape 163"/>
          <p:cNvSpPr/>
          <p:nvPr/>
        </p:nvSpPr>
        <p:spPr>
          <a:xfrm>
            <a:off x="9326880" y="3218688"/>
            <a:ext cx="2688336" cy="384048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9345168" y="3218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12134088" y="969264"/>
            <a:ext cx="0" cy="5376672"/>
          </a:xfrm>
          <a:prstGeom prst="line">
            <a:avLst/>
          </a:prstGeom>
          <a:noFill/>
          <a:ln w="9525">
            <a:solidFill>
              <a:srgbClr val="D6CCC2"/>
            </a:solidFill>
            <a:prstDash val="dash"/>
          </a:ln>
        </p:spPr>
      </p:sp>
      <p:sp>
        <p:nvSpPr>
          <p:cNvPr id="168" name="Shape 166"/>
          <p:cNvSpPr/>
          <p:nvPr/>
        </p:nvSpPr>
        <p:spPr>
          <a:xfrm>
            <a:off x="9217152" y="3895344"/>
            <a:ext cx="2907792" cy="2450592"/>
          </a:xfrm>
          <a:prstGeom prst="rect">
            <a:avLst/>
          </a:prstGeom>
          <a:solidFill>
            <a:srgbClr val="F7F4F0"/>
          </a:solidFill>
          <a:ln w="9525">
            <a:solidFill>
              <a:srgbClr val="D6CCC2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217152" y="3895344"/>
            <a:ext cx="2907792" cy="548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170" name="Text 168"/>
          <p:cNvSpPr/>
          <p:nvPr/>
        </p:nvSpPr>
        <p:spPr>
          <a:xfrm>
            <a:off x="9308592" y="398678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 DATA LAKE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9326880" y="4279392"/>
            <a:ext cx="2688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9345168" y="427939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</a:t>
            </a:r>
            <a:endParaRPr lang="en-US" sz="950" dirty="0"/>
          </a:p>
        </p:txBody>
      </p:sp>
      <p:sp>
        <p:nvSpPr>
          <p:cNvPr id="173" name="Shape 171"/>
          <p:cNvSpPr/>
          <p:nvPr/>
        </p:nvSpPr>
        <p:spPr>
          <a:xfrm>
            <a:off x="9326880" y="4828032"/>
            <a:ext cx="2688336" cy="438912"/>
          </a:xfrm>
          <a:prstGeom prst="rect">
            <a:avLst/>
          </a:prstGeom>
          <a:solidFill>
            <a:srgbClr val="F0EFF9"/>
          </a:solidFill>
          <a:ln w="15240">
            <a:solidFill>
              <a:srgbClr val="9B98C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326880" y="4828032"/>
            <a:ext cx="2688336" cy="45720"/>
          </a:xfrm>
          <a:prstGeom prst="rect">
            <a:avLst/>
          </a:prstGeom>
          <a:solidFill>
            <a:srgbClr val="5B5EA6"/>
          </a:solidFill>
          <a:ln/>
        </p:spPr>
      </p:sp>
      <p:sp>
        <p:nvSpPr>
          <p:cNvPr id="175" name="Text 173"/>
          <p:cNvSpPr/>
          <p:nvPr/>
        </p:nvSpPr>
        <p:spPr>
          <a:xfrm>
            <a:off x="9345168" y="4828032"/>
            <a:ext cx="22494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5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76" name="Shape 174"/>
          <p:cNvSpPr/>
          <p:nvPr/>
        </p:nvSpPr>
        <p:spPr>
          <a:xfrm>
            <a:off x="11247120" y="4946904"/>
            <a:ext cx="694944" cy="173736"/>
          </a:xfrm>
          <a:prstGeom prst="rect">
            <a:avLst/>
          </a:prstGeom>
          <a:solidFill>
            <a:srgbClr val="5B5EA6"/>
          </a:solidFill>
          <a:ln w="12700">
            <a:solidFill>
              <a:srgbClr val="5B5EA6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11247120" y="494690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AGENTIC</a:t>
            </a:r>
            <a:endParaRPr lang="en-US" sz="600" dirty="0"/>
          </a:p>
        </p:txBody>
      </p:sp>
      <p:sp>
        <p:nvSpPr>
          <p:cNvPr id="178" name="Shape 176"/>
          <p:cNvSpPr/>
          <p:nvPr/>
        </p:nvSpPr>
        <p:spPr>
          <a:xfrm>
            <a:off x="9326880" y="5376672"/>
            <a:ext cx="2688336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6CCC2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9345168" y="537667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REPORTING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Migration Roadmap  ·  2025 → 2030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Foundation · Business Capabilities · AI Automation · Infrastructure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83664" y="987552"/>
            <a:ext cx="1986077" cy="42062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987552"/>
            <a:ext cx="10923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 STABILISE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6006" y="987552"/>
            <a:ext cx="87387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906317" y="987552"/>
            <a:ext cx="4008730" cy="420624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34333" y="987552"/>
            <a:ext cx="22048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MODERNISE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11118" y="987552"/>
            <a:ext cx="17638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951622" y="987552"/>
            <a:ext cx="4008730" cy="42062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79638" y="987552"/>
            <a:ext cx="220480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SCALE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156424" y="987552"/>
            <a:ext cx="17638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2028–2030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83664" y="987552"/>
            <a:ext cx="0" cy="5413248"/>
          </a:xfrm>
          <a:prstGeom prst="line">
            <a:avLst/>
          </a:prstGeom>
          <a:noFill/>
          <a:ln w="12700">
            <a:solidFill>
              <a:srgbClr val="B8A8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83664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906317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906317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28970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928970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951622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951622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974275" y="987552"/>
            <a:ext cx="0" cy="5413248"/>
          </a:xfrm>
          <a:prstGeom prst="line">
            <a:avLst/>
          </a:prstGeom>
          <a:noFill/>
          <a:ln w="6350">
            <a:solidFill>
              <a:srgbClr val="EDE6D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974275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996928" y="987552"/>
            <a:ext cx="0" cy="5413248"/>
          </a:xfrm>
          <a:prstGeom prst="line">
            <a:avLst/>
          </a:prstGeom>
          <a:noFill/>
          <a:ln w="12700">
            <a:solidFill>
              <a:srgbClr val="B8A8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96928" y="1444752"/>
            <a:ext cx="202265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1440" y="1700784"/>
            <a:ext cx="1737360" cy="96926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8016" y="1792224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83664" y="1700784"/>
            <a:ext cx="1011326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75104" y="1764792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975104" y="1764792"/>
            <a:ext cx="1839773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4" name="Text 32"/>
          <p:cNvSpPr/>
          <p:nvPr/>
        </p:nvSpPr>
        <p:spPr>
          <a:xfrm>
            <a:off x="2066544" y="1819656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 &amp; Document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66544" y="2029968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 Oracle/Mule (1.8k tables, 10k procs)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066544" y="2176272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Map all E2E workflows end-to-end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066544" y="2322576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Quick-win STP: 20% → 40%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066544" y="246888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Architecture decision records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997757" y="1764792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997757" y="1764792"/>
            <a:ext cx="3862426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1" name="Text 39"/>
          <p:cNvSpPr/>
          <p:nvPr/>
        </p:nvSpPr>
        <p:spPr>
          <a:xfrm>
            <a:off x="4089197" y="1819656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&amp; Modernise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89197" y="202996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Provider-agnostic processing layer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089197" y="217627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Micro-frontend + shared toolkit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089197" y="232257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Kafka event-driven core live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089197" y="246888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Off VSI — containerised K8s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8043062" y="1764792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5C3317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43062" y="1764792"/>
            <a:ext cx="3862426" cy="45720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8" name="Text 46"/>
          <p:cNvSpPr/>
          <p:nvPr/>
        </p:nvSpPr>
        <p:spPr>
          <a:xfrm>
            <a:off x="8134502" y="1819656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at Scale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134502" y="202996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4-cluster HA, auto-scaling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8134502" y="217627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CI/CD GitOps pipeline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134502" y="232257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 Nine's availability SLA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134502" y="246888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Blue/green zero-downtime deploys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1440" y="2715768"/>
            <a:ext cx="1737360" cy="969264"/>
          </a:xfrm>
          <a:prstGeom prst="rect">
            <a:avLst/>
          </a:prstGeom>
          <a:solidFill>
            <a:srgbClr val="A06535"/>
          </a:solidFill>
          <a:ln w="12700">
            <a:solidFill>
              <a:srgbClr val="A065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28016" y="2807208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883664" y="2715768"/>
            <a:ext cx="10113264" cy="969264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75104" y="2779776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1975104" y="2779776"/>
            <a:ext cx="1839773" cy="4572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8" name="Text 56"/>
          <p:cNvSpPr/>
          <p:nvPr/>
        </p:nvSpPr>
        <p:spPr>
          <a:xfrm>
            <a:off x="2066544" y="2834640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Must-Haves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2066544" y="3044952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Unified client UX across channels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2066544" y="3191256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Portfolio + deal dashboards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066544" y="333756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Improved channel onboarding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2066544" y="3483864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Quick wins: high-value pain points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997757" y="2779776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997757" y="2779776"/>
            <a:ext cx="3862426" cy="4572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65" name="Text 63"/>
          <p:cNvSpPr/>
          <p:nvPr/>
        </p:nvSpPr>
        <p:spPr>
          <a:xfrm>
            <a:off x="4089197" y="2834640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089197" y="304495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Tokenisation capabilities live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089197" y="319125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Fintech integration (WCA)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089197" y="333756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Structured working capital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4089197" y="348386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GSCF-like distribution models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043062" y="2779776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A06535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043062" y="2779776"/>
            <a:ext cx="3862426" cy="45720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72" name="Text 70"/>
          <p:cNvSpPr/>
          <p:nvPr/>
        </p:nvSpPr>
        <p:spPr>
          <a:xfrm>
            <a:off x="8134502" y="2834640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Leadership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8134502" y="304495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Trade distribution platform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134502" y="319125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$1B revenue architecture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8134502" y="333756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Unified commercial accelerator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134502" y="348386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 &amp; analytics product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91440" y="3730752"/>
            <a:ext cx="1737360" cy="969264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28016" y="3822192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883664" y="3730752"/>
            <a:ext cx="10113264" cy="969264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975104" y="3794760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975104" y="3794760"/>
            <a:ext cx="1839773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82" name="Text 80"/>
          <p:cNvSpPr/>
          <p:nvPr/>
        </p:nvSpPr>
        <p:spPr>
          <a:xfrm>
            <a:off x="2066544" y="3849624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Baseline (R0)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2066544" y="4059936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OCR + document ingestion pipeline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066544" y="420624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RAG on trade finance corpus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066544" y="4352544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Maker accuracy baseline &gt;90%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066544" y="4498848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Human-in-loop feedback loops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3997757" y="3794760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3997757" y="3794760"/>
            <a:ext cx="3862426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89" name="Text 87"/>
          <p:cNvSpPr/>
          <p:nvPr/>
        </p:nvSpPr>
        <p:spPr>
          <a:xfrm>
            <a:off x="4089197" y="3849624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(R1)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4089197" y="405993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Semi-automated Maker role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089197" y="420624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90–95% accuracy in production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4089197" y="435254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Model retraining pipelines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4089197" y="449884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Checker AI assist — pilot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8043062" y="3794760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7A452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8043062" y="3794760"/>
            <a:ext cx="3862426" cy="45720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96" name="Text 94"/>
          <p:cNvSpPr/>
          <p:nvPr/>
        </p:nvSpPr>
        <p:spPr>
          <a:xfrm>
            <a:off x="8134502" y="3849624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A4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(R2)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8134502" y="4059936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Maker automation live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8134502" y="420624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Checker — exceptions only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8134502" y="435254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&gt;95% accuracy · ~90% STP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8134502" y="449884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Human reserved for edge cases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91440" y="4745736"/>
            <a:ext cx="1737360" cy="969264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28016" y="4837176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1883664" y="4745736"/>
            <a:ext cx="10113264" cy="969264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975104" y="4809744"/>
            <a:ext cx="1839773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1975104" y="4809744"/>
            <a:ext cx="1839773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06" name="Text 104"/>
          <p:cNvSpPr/>
          <p:nvPr/>
        </p:nvSpPr>
        <p:spPr>
          <a:xfrm>
            <a:off x="2066544" y="4864608"/>
            <a:ext cx="165689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2066544" y="5074920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VSI → container pilot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2066544" y="5221224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Security hardening + DR plan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066544" y="5367528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 baseline established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066544" y="5513832"/>
            <a:ext cx="165689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Observability tooling deployed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997757" y="4809744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12" name="Shape 110"/>
          <p:cNvSpPr/>
          <p:nvPr/>
        </p:nvSpPr>
        <p:spPr>
          <a:xfrm>
            <a:off x="3997757" y="4809744"/>
            <a:ext cx="3862426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13" name="Text 111"/>
          <p:cNvSpPr/>
          <p:nvPr/>
        </p:nvSpPr>
        <p:spPr>
          <a:xfrm>
            <a:off x="4089197" y="4864608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 Infra</a:t>
            </a:r>
            <a:endParaRPr lang="en-US" sz="850" dirty="0"/>
          </a:p>
        </p:txBody>
      </p:sp>
      <p:sp>
        <p:nvSpPr>
          <p:cNvPr id="114" name="Text 112"/>
          <p:cNvSpPr/>
          <p:nvPr/>
        </p:nvSpPr>
        <p:spPr>
          <a:xfrm>
            <a:off x="4089197" y="507492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Multi-cluster HA deployment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4089197" y="522122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Shared platform utilities layer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4089197" y="536752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 of change −30%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089197" y="551383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Time-to-market: 2–6 months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8043062" y="4809744"/>
            <a:ext cx="3862426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9B6010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8043062" y="4809744"/>
            <a:ext cx="3862426" cy="45720"/>
          </a:xfrm>
          <a:prstGeom prst="rect">
            <a:avLst/>
          </a:prstGeom>
          <a:solidFill>
            <a:srgbClr val="9B6010"/>
          </a:solidFill>
          <a:ln/>
        </p:spPr>
      </p:sp>
      <p:sp>
        <p:nvSpPr>
          <p:cNvPr id="120" name="Text 118"/>
          <p:cNvSpPr/>
          <p:nvPr/>
        </p:nvSpPr>
        <p:spPr>
          <a:xfrm>
            <a:off x="8134502" y="4864608"/>
            <a:ext cx="36795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8134502" y="5074920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auto-scaling operations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8134502" y="5221224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Multi-tenant architecture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8134502" y="5367528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Infrastructure fully as code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8134502" y="5513832"/>
            <a:ext cx="367954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SLA target 99.999%+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883664" y="6016752"/>
            <a:ext cx="10113264" cy="54864"/>
          </a:xfrm>
          <a:prstGeom prst="rect">
            <a:avLst/>
          </a:prstGeom>
          <a:solidFill>
            <a:srgbClr val="D6CCC2"/>
          </a:solidFill>
          <a:ln w="12700">
            <a:solidFill>
              <a:srgbClr val="D6CCC2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883664" y="6016752"/>
            <a:ext cx="2022653" cy="54864"/>
          </a:xfrm>
          <a:prstGeom prst="rect">
            <a:avLst/>
          </a:prstGeom>
          <a:solidFill>
            <a:srgbClr val="C8B89A"/>
          </a:solidFill>
          <a:ln w="12700">
            <a:solidFill>
              <a:srgbClr val="C8B89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906317" y="6016752"/>
            <a:ext cx="4045306" cy="54864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951622" y="6016752"/>
            <a:ext cx="4045306" cy="5486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778301" y="5943600"/>
            <a:ext cx="256032" cy="256032"/>
          </a:xfrm>
          <a:prstGeom prst="ellipse">
            <a:avLst/>
          </a:prstGeom>
          <a:solidFill>
            <a:srgbClr val="9B601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357677" y="5833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Gate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357677" y="6199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&gt;40%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7823606" y="5943600"/>
            <a:ext cx="256032" cy="256032"/>
          </a:xfrm>
          <a:prstGeom prst="ellipse">
            <a:avLst/>
          </a:prstGeom>
          <a:solidFill>
            <a:srgbClr val="9B601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402982" y="5833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Gate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7402982" y="6199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&gt;70%</a:t>
            </a:r>
            <a:endParaRPr lang="en-US" sz="750" dirty="0"/>
          </a:p>
        </p:txBody>
      </p:sp>
      <p:sp>
        <p:nvSpPr>
          <p:cNvPr id="135" name="Shape 133"/>
          <p:cNvSpPr/>
          <p:nvPr/>
        </p:nvSpPr>
        <p:spPr>
          <a:xfrm>
            <a:off x="11666647" y="5943600"/>
            <a:ext cx="256032" cy="256032"/>
          </a:xfrm>
          <a:prstGeom prst="ellipse">
            <a:avLst/>
          </a:prstGeom>
          <a:solidFill>
            <a:srgbClr val="9B601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1246023" y="583387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Gate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11246023" y="61996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~90%</a:t>
            </a:r>
            <a:endParaRPr lang="en-US" sz="750" dirty="0"/>
          </a:p>
        </p:txBody>
      </p:sp>
      <p:sp>
        <p:nvSpPr>
          <p:cNvPr id="138" name="Text 136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Phase-by-Phase Execution Plan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each phase — and what it unlocks for the business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A898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24128"/>
            <a:ext cx="3858768" cy="512064"/>
          </a:xfrm>
          <a:prstGeom prst="rect">
            <a:avLst/>
          </a:prstGeom>
          <a:solidFill>
            <a:srgbClr val="C8B8A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08813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 — STABILISE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33502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" y="1536192"/>
            <a:ext cx="3858768" cy="402336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572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bleeding. Build the foundation.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975104"/>
            <a:ext cx="3529584" cy="0"/>
          </a:xfrm>
          <a:prstGeom prst="line">
            <a:avLst/>
          </a:prstGeom>
          <a:noFill/>
          <a:ln w="6350">
            <a:solidFill>
              <a:srgbClr val="B8A89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29968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029968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2048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document Oracle/Mule landscape (1.8k tables, ~10k procedures)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560320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" y="25786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end-to-end workflows; capture SME knowledge before it is lost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090672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90672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Quick-win STP improvements: target 20% → 40%+ straight-through processing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621024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21024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3639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micro-frontend architecture &amp; shared utilities layer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151376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151376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" y="41696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AI/OCR baseline for document processing (&gt;90% accuracy)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4681728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681728"/>
            <a:ext cx="54864" cy="493776"/>
          </a:xfrm>
          <a:prstGeom prst="rect">
            <a:avLst/>
          </a:prstGeom>
          <a:solidFill>
            <a:srgbClr val="9A7B5C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" y="4700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migration pilot; security hardening on VSI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01168" y="5870448"/>
            <a:ext cx="3858768" cy="640080"/>
          </a:xfrm>
          <a:prstGeom prst="rect">
            <a:avLst/>
          </a:prstGeom>
          <a:solidFill>
            <a:srgbClr val="B8A890"/>
          </a:solidFill>
          <a:ln w="12700">
            <a:solidFill>
              <a:srgbClr val="B8A8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5907024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&gt;40%  ·  Architecture blueprint ready  ·  Ops risk reduced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187952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A898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87952" y="1024128"/>
            <a:ext cx="3858768" cy="512064"/>
          </a:xfrm>
          <a:prstGeom prst="rect">
            <a:avLst/>
          </a:prstGeom>
          <a:solidFill>
            <a:srgbClr val="7A4520"/>
          </a:solidFill>
          <a:ln/>
        </p:spPr>
      </p:sp>
      <p:sp>
        <p:nvSpPr>
          <p:cNvPr id="37" name="Text 35"/>
          <p:cNvSpPr/>
          <p:nvPr/>
        </p:nvSpPr>
        <p:spPr>
          <a:xfrm>
            <a:off x="4352544" y="108813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— MODERNISE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52544" y="133502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2026–2027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87952" y="1536192"/>
            <a:ext cx="3858768" cy="402336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52544" y="1572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Replace, don't patch. Decouple everything.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52544" y="1975104"/>
            <a:ext cx="3529584" cy="0"/>
          </a:xfrm>
          <a:prstGeom prst="line">
            <a:avLst/>
          </a:prstGeom>
          <a:noFill/>
          <a:ln w="6350">
            <a:solidFill>
              <a:srgbClr val="B8A89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52544" y="2029968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52544" y="2029968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44" name="Text 42"/>
          <p:cNvSpPr/>
          <p:nvPr/>
        </p:nvSpPr>
        <p:spPr>
          <a:xfrm>
            <a:off x="4480560" y="2048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processing layer — swap Loan IQ / Absolute without FE impact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352544" y="2560320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52544" y="2560320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47" name="Text 45"/>
          <p:cNvSpPr/>
          <p:nvPr/>
        </p:nvSpPr>
        <p:spPr>
          <a:xfrm>
            <a:off x="4480560" y="25786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Micro-frontend rollout + shared utilities framework in production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352544" y="3090672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52544" y="3090672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0" name="Text 48"/>
          <p:cNvSpPr/>
          <p:nvPr/>
        </p:nvSpPr>
        <p:spPr>
          <a:xfrm>
            <a:off x="4480560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event-driven core for all payment workflows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352544" y="3621024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352544" y="3621024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3" name="Text 51"/>
          <p:cNvSpPr/>
          <p:nvPr/>
        </p:nvSpPr>
        <p:spPr>
          <a:xfrm>
            <a:off x="4480560" y="3639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Maker role; semi-automated STP — accuracy 90–95%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352544" y="4151376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52544" y="4151376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6" name="Text 54"/>
          <p:cNvSpPr/>
          <p:nvPr/>
        </p:nvSpPr>
        <p:spPr>
          <a:xfrm>
            <a:off x="4480560" y="41696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 + Fintech partner integration (Working Capital Accelerator)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52544" y="4681728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52544" y="4681728"/>
            <a:ext cx="54864" cy="493776"/>
          </a:xfrm>
          <a:prstGeom prst="rect">
            <a:avLst/>
          </a:prstGeom>
          <a:solidFill>
            <a:srgbClr val="A06535"/>
          </a:solidFill>
          <a:ln/>
        </p:spPr>
      </p:sp>
      <p:sp>
        <p:nvSpPr>
          <p:cNvPr id="59" name="Text 57"/>
          <p:cNvSpPr/>
          <p:nvPr/>
        </p:nvSpPr>
        <p:spPr>
          <a:xfrm>
            <a:off x="4480560" y="4700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off VSI; multi-cluster HA; cost of change −30%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187952" y="5870448"/>
            <a:ext cx="3858768" cy="6400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52544" y="5907024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&gt;70%  ·  Time-to-market 2–6 months  ·  Accuracy 90–95%  ·  Cost −30%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174736" y="1024128"/>
            <a:ext cx="3858768" cy="548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A898"/>
            </a:solidFill>
            <a:prstDash val="solid"/>
          </a:ln>
          <a:effectLst>
            <a:outerShdw sx="100000" sy="100000" kx="0" ky="0" algn="bl" rotWithShape="0" blurRad="127000" dist="38100" dir="8100000">
              <a:srgbClr val="9A8868">
                <a:alpha val="2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174736" y="1024128"/>
            <a:ext cx="3858768" cy="512064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4" name="Text 62"/>
          <p:cNvSpPr/>
          <p:nvPr/>
        </p:nvSpPr>
        <p:spPr>
          <a:xfrm>
            <a:off x="8339328" y="108813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— SCALE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339328" y="1335024"/>
            <a:ext cx="3584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2028–2030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8174736" y="1536192"/>
            <a:ext cx="3858768" cy="402336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39328" y="157276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$1B. Platform becomes a product.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339328" y="1975104"/>
            <a:ext cx="3529584" cy="0"/>
          </a:xfrm>
          <a:prstGeom prst="line">
            <a:avLst/>
          </a:prstGeom>
          <a:noFill/>
          <a:ln w="6350">
            <a:solidFill>
              <a:srgbClr val="B8A89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39328" y="2029968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39328" y="2029968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71" name="Text 69"/>
          <p:cNvSpPr/>
          <p:nvPr/>
        </p:nvSpPr>
        <p:spPr>
          <a:xfrm>
            <a:off x="8467344" y="2048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9's availability across 4 clusters with auto-scaling operations model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339328" y="2560320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39328" y="2560320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74" name="Text 72"/>
          <p:cNvSpPr/>
          <p:nvPr/>
        </p:nvSpPr>
        <p:spPr>
          <a:xfrm>
            <a:off x="8467344" y="25786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Maker + AI-assisted Checker; human only for true exceptions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8339328" y="3090672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39328" y="3090672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77" name="Text 75"/>
          <p:cNvSpPr/>
          <p:nvPr/>
        </p:nvSpPr>
        <p:spPr>
          <a:xfrm>
            <a:off x="8467344" y="3108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distribution (GSCF-like) + structured working capital evolution live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339328" y="3621024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339328" y="3621024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80" name="Text 78"/>
          <p:cNvSpPr/>
          <p:nvPr/>
        </p:nvSpPr>
        <p:spPr>
          <a:xfrm>
            <a:off x="8467344" y="36393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accelerator framework + data &amp; analytics platform in production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339328" y="4151376"/>
            <a:ext cx="3529584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339328" y="4151376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83" name="Text 81"/>
          <p:cNvSpPr/>
          <p:nvPr/>
        </p:nvSpPr>
        <p:spPr>
          <a:xfrm>
            <a:off x="8467344" y="41696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is commercialisable, multi-tenant, and scaled to $1B revenue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339328" y="4681728"/>
            <a:ext cx="3529584" cy="493776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39328" y="4681728"/>
            <a:ext cx="54864" cy="493776"/>
          </a:xfrm>
          <a:prstGeom prst="rect">
            <a:avLst/>
          </a:prstGeom>
          <a:solidFill>
            <a:srgbClr val="D4A96A"/>
          </a:solidFill>
          <a:ln/>
        </p:spPr>
      </p:sp>
      <p:sp>
        <p:nvSpPr>
          <p:cNvPr id="86" name="Text 84"/>
          <p:cNvSpPr/>
          <p:nvPr/>
        </p:nvSpPr>
        <p:spPr>
          <a:xfrm>
            <a:off x="8467344" y="47000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~90%  ·  Accuracy &gt;95%  ·  Process steps 6 → 4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8174736" y="5870448"/>
            <a:ext cx="3858768" cy="6400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39328" y="5907024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STP ~90%  ·  Accuracy &gt;95%  ·  7 9's uptime  ·  Commercially viable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914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Metrics — The Journey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201168" y="5303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were  ·  What we have delivered  ·  2030 vision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252728" y="768096"/>
            <a:ext cx="1389888" cy="329184"/>
          </a:xfrm>
          <a:prstGeom prst="rect">
            <a:avLst/>
          </a:prstGeom>
          <a:solidFill>
            <a:srgbClr val="EDE6DF"/>
          </a:solidFill>
          <a:ln w="6350">
            <a:solidFill>
              <a:srgbClr val="B8A89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25880" y="76809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688336" y="768096"/>
            <a:ext cx="3090672" cy="329184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9776" y="804672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 —  Pre-2023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79776" y="969264"/>
            <a:ext cx="2962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0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824728" y="768096"/>
            <a:ext cx="3090672" cy="329184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16168" y="804672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—  2023–2025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16168" y="969264"/>
            <a:ext cx="2962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0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have delivered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961120" y="768096"/>
            <a:ext cx="3090672" cy="329184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804672"/>
            <a:ext cx="2962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VISION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052560" y="969264"/>
            <a:ext cx="29626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0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heading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765292" y="832104"/>
            <a:ext cx="82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01684" y="832104"/>
            <a:ext cx="82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6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28016" y="1133856"/>
            <a:ext cx="1078992" cy="17830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1133856"/>
            <a:ext cx="9875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28016" y="2916936"/>
            <a:ext cx="11923776" cy="0"/>
          </a:xfrm>
          <a:prstGeom prst="line">
            <a:avLst/>
          </a:prstGeom>
          <a:noFill/>
          <a:ln w="9525">
            <a:solidFill>
              <a:srgbClr val="B8A89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2728" y="113385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2728" y="113385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44168" y="115214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/ Clean Breaks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88336" y="1133856"/>
            <a:ext cx="3090672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88336" y="113385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64" y="117043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4,380 breaks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98064" y="13133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period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5824728" y="1133856"/>
            <a:ext cx="3090672" cy="29718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24728" y="113385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34456" y="117043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729 breaks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439912" y="1188720"/>
            <a:ext cx="402336" cy="137160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9912" y="118872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−83%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34456" y="13133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break initiative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8961120" y="1133856"/>
            <a:ext cx="3090672" cy="29718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61120" y="113385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70848" y="117043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070848" y="13133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prevents breaks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252728" y="143103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252728" y="143103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44168" y="144932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688336" y="1431036"/>
            <a:ext cx="3090672" cy="29718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88336" y="143103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98064" y="146761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98064" y="161048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full build cycle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5824728" y="1431036"/>
            <a:ext cx="3090672" cy="29718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24728" y="143103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34456" y="146761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hrs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39912" y="1485900"/>
            <a:ext cx="402336" cy="137160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39912" y="148590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−63%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934456" y="161048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optimisation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8961120" y="1431036"/>
            <a:ext cx="3090672" cy="29718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61120" y="143103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70848" y="146761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070848" y="161048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GitOps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252728" y="172821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52728" y="172821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344168" y="174650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Lead Time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688336" y="1728216"/>
            <a:ext cx="3090672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688336" y="172821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98064" y="176479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weeks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798064" y="190766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/ month deployments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824728" y="1728216"/>
            <a:ext cx="3090672" cy="29718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24728" y="172821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34456" y="176479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439912" y="1783080"/>
            <a:ext cx="402336" cy="13716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39912" y="178308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934456" y="190766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cadence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961120" y="1728216"/>
            <a:ext cx="3090672" cy="29718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61120" y="172821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70848" y="176479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days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9070848" y="190766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deployments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252728" y="202539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252728" y="202539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344168" y="204368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GWT / Project TENET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2688336" y="2025396"/>
            <a:ext cx="3090672" cy="29718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688336" y="202539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98064" y="206197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GWT legacy UI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2798064" y="220484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migration path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5824728" y="2025396"/>
            <a:ext cx="3090672" cy="29718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824728" y="202539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34456" y="206197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TENET in progress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439912" y="2080260"/>
            <a:ext cx="402336" cy="13716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439912" y="208026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5934456" y="220484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live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8961120" y="2025396"/>
            <a:ext cx="3090672" cy="29718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961120" y="202539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070848" y="206197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removed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070848" y="220484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micro-frontends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1252728" y="232257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252728" y="232257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344168" y="234086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Separation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2688336" y="2322576"/>
            <a:ext cx="3090672" cy="2971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88336" y="232257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98064" y="235915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2798064" y="250202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· CIF · Participation all coupled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5824728" y="2322576"/>
            <a:ext cx="3090672" cy="29718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824728" y="232257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934456" y="235915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live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8439912" y="2377440"/>
            <a:ext cx="402336" cy="13716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439912" y="237744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5934456" y="250202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· CIF · Participation decoupled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8961120" y="2322576"/>
            <a:ext cx="3090672" cy="29718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961120" y="232257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070848" y="235915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isolation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9070848" y="250202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owns data · logic · team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1252728" y="2619756"/>
            <a:ext cx="1389888" cy="29718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252728" y="261975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344168" y="2638044"/>
            <a:ext cx="126187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Board</a:t>
            </a:r>
            <a:endParaRPr lang="en-US" sz="700" dirty="0"/>
          </a:p>
        </p:txBody>
      </p:sp>
      <p:sp>
        <p:nvSpPr>
          <p:cNvPr id="109" name="Shape 107"/>
          <p:cNvSpPr/>
          <p:nvPr/>
        </p:nvSpPr>
        <p:spPr>
          <a:xfrm>
            <a:off x="2688336" y="2619756"/>
            <a:ext cx="3090672" cy="29718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688336" y="2619756"/>
            <a:ext cx="45720" cy="29718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798064" y="265633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ARB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2798064" y="27992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decisions · no governance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5824728" y="2619756"/>
            <a:ext cx="3090672" cy="29718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824728" y="2619756"/>
            <a:ext cx="45720" cy="2971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934456" y="2656332"/>
            <a:ext cx="2496312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instated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8439912" y="2674620"/>
            <a:ext cx="402336" cy="13716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439912" y="267462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5934456" y="27992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in cadence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8961120" y="2619756"/>
            <a:ext cx="3090672" cy="29718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961120" y="2619756"/>
            <a:ext cx="45720" cy="2971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9070848" y="2656332"/>
            <a:ext cx="2926080" cy="1337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governance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9070848" y="2799207"/>
            <a:ext cx="2926080" cy="9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compliance checks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128016" y="2962656"/>
            <a:ext cx="1078992" cy="178308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82880" y="2962656"/>
            <a:ext cx="9875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128016" y="4745736"/>
            <a:ext cx="11923776" cy="0"/>
          </a:xfrm>
          <a:prstGeom prst="line">
            <a:avLst/>
          </a:prstGeom>
          <a:noFill/>
          <a:ln w="9525">
            <a:solidFill>
              <a:srgbClr val="B8A89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252728" y="296265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252728" y="296265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344168" y="298094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2688336" y="2962656"/>
            <a:ext cx="309067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688336" y="296265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798064" y="30083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 tables</a:t>
            </a:r>
            <a:endParaRPr lang="en-US" sz="1200" dirty="0"/>
          </a:p>
        </p:txBody>
      </p:sp>
      <p:sp>
        <p:nvSpPr>
          <p:cNvPr id="132" name="Text 130"/>
          <p:cNvSpPr/>
          <p:nvPr/>
        </p:nvSpPr>
        <p:spPr>
          <a:xfrm>
            <a:off x="2798064" y="32095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Oracle monolith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5824728" y="2962656"/>
            <a:ext cx="3090672" cy="44577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824728" y="296265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934456" y="30083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tables</a:t>
            </a:r>
            <a:endParaRPr lang="en-US" sz="1200" dirty="0"/>
          </a:p>
        </p:txBody>
      </p:sp>
      <p:sp>
        <p:nvSpPr>
          <p:cNvPr id="136" name="Shape 134"/>
          <p:cNvSpPr/>
          <p:nvPr/>
        </p:nvSpPr>
        <p:spPr>
          <a:xfrm>
            <a:off x="8439912" y="3026664"/>
            <a:ext cx="402336" cy="164592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8439912" y="302666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−94%</a:t>
            </a:r>
            <a:endParaRPr lang="en-US" sz="700" dirty="0"/>
          </a:p>
        </p:txBody>
      </p:sp>
      <p:sp>
        <p:nvSpPr>
          <p:cNvPr id="138" name="Text 136"/>
          <p:cNvSpPr/>
          <p:nvPr/>
        </p:nvSpPr>
        <p:spPr>
          <a:xfrm>
            <a:off x="5934456" y="32095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rationalised schema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8961120" y="2962656"/>
            <a:ext cx="3090672" cy="44577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961120" y="296265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070848" y="30083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DB-per-service</a:t>
            </a:r>
            <a:endParaRPr lang="en-US" sz="1200" dirty="0"/>
          </a:p>
        </p:txBody>
      </p:sp>
      <p:sp>
        <p:nvSpPr>
          <p:cNvPr id="142" name="Text 140"/>
          <p:cNvSpPr/>
          <p:nvPr/>
        </p:nvSpPr>
        <p:spPr>
          <a:xfrm>
            <a:off x="9070848" y="32095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MongoDB · pgvector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1252728" y="340842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252728" y="340842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344168" y="342671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2688336" y="3408426"/>
            <a:ext cx="3090672" cy="44577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688336" y="340842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798064" y="345414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APIs</a:t>
            </a:r>
            <a:endParaRPr lang="en-US" sz="1200" dirty="0"/>
          </a:p>
        </p:txBody>
      </p:sp>
      <p:sp>
        <p:nvSpPr>
          <p:cNvPr id="149" name="Text 147"/>
          <p:cNvSpPr/>
          <p:nvPr/>
        </p:nvSpPr>
        <p:spPr>
          <a:xfrm>
            <a:off x="2798064" y="36553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DB access only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5824728" y="3408426"/>
            <a:ext cx="3090672" cy="44577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824728" y="340842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934456" y="345414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live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8439912" y="3472434"/>
            <a:ext cx="402336" cy="16459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8439912" y="347243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55" name="Text 153"/>
          <p:cNvSpPr/>
          <p:nvPr/>
        </p:nvSpPr>
        <p:spPr>
          <a:xfrm>
            <a:off x="5934456" y="36553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exposed via API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8961120" y="3408426"/>
            <a:ext cx="3090672" cy="44577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961120" y="340842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070848" y="345414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API-first</a:t>
            </a:r>
            <a:endParaRPr lang="en-US" sz="1200" dirty="0"/>
          </a:p>
        </p:txBody>
      </p:sp>
      <p:sp>
        <p:nvSpPr>
          <p:cNvPr id="159" name="Text 157"/>
          <p:cNvSpPr/>
          <p:nvPr/>
        </p:nvSpPr>
        <p:spPr>
          <a:xfrm>
            <a:off x="9070848" y="36553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API-native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1252728" y="385419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252728" y="385419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1344168" y="387248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Rationalisation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>
            <a:off x="2688336" y="3854196"/>
            <a:ext cx="309067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688336" y="385419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2798064" y="38999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apps</a:t>
            </a:r>
            <a:endParaRPr lang="en-US" sz="1200" dirty="0"/>
          </a:p>
        </p:txBody>
      </p:sp>
      <p:sp>
        <p:nvSpPr>
          <p:cNvPr id="166" name="Text 164"/>
          <p:cNvSpPr/>
          <p:nvPr/>
        </p:nvSpPr>
        <p:spPr>
          <a:xfrm>
            <a:off x="2798064" y="41010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 · GWT · orphaned systems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5824728" y="3854196"/>
            <a:ext cx="3090672" cy="44577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824728" y="385419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5934456" y="38999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TCE decommissioning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8439912" y="3918204"/>
            <a:ext cx="402336" cy="16459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439912" y="391820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5934456" y="41010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8961120" y="3854196"/>
            <a:ext cx="3090672" cy="44577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961120" y="385419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9070848" y="38999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portfolio</a:t>
            </a:r>
            <a:endParaRPr lang="en-US" sz="1200" dirty="0"/>
          </a:p>
        </p:txBody>
      </p:sp>
      <p:sp>
        <p:nvSpPr>
          <p:cNvPr id="176" name="Text 174"/>
          <p:cNvSpPr/>
          <p:nvPr/>
        </p:nvSpPr>
        <p:spPr>
          <a:xfrm>
            <a:off x="9070848" y="41010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duplication · owned domains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1252728" y="429996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252728" y="429996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344168" y="431825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Lifecycle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2688336" y="4299966"/>
            <a:ext cx="3090672" cy="44577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688336" y="429996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2798064" y="434568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archive / purge</a:t>
            </a:r>
            <a:endParaRPr lang="en-US" sz="1200" dirty="0"/>
          </a:p>
        </p:txBody>
      </p:sp>
      <p:sp>
        <p:nvSpPr>
          <p:cNvPr id="183" name="Text 181"/>
          <p:cNvSpPr/>
          <p:nvPr/>
        </p:nvSpPr>
        <p:spPr>
          <a:xfrm>
            <a:off x="2798064" y="45468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data growth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5824728" y="4299966"/>
            <a:ext cx="3090672" cy="44577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824728" y="429996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5934456" y="434568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&amp; Purge live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8439912" y="4363974"/>
            <a:ext cx="402336" cy="164592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8439912" y="436397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00" dirty="0"/>
          </a:p>
        </p:txBody>
      </p:sp>
      <p:sp>
        <p:nvSpPr>
          <p:cNvPr id="189" name="Text 187"/>
          <p:cNvSpPr/>
          <p:nvPr/>
        </p:nvSpPr>
        <p:spPr>
          <a:xfrm>
            <a:off x="5934456" y="45468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instated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8961120" y="4299966"/>
            <a:ext cx="3090672" cy="44577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961120" y="429996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9070848" y="434568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200" dirty="0"/>
          </a:p>
        </p:txBody>
      </p:sp>
      <p:sp>
        <p:nvSpPr>
          <p:cNvPr id="193" name="Text 191"/>
          <p:cNvSpPr/>
          <p:nvPr/>
        </p:nvSpPr>
        <p:spPr>
          <a:xfrm>
            <a:off x="9070848" y="45468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data lifecycle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128016" y="4791456"/>
            <a:ext cx="1078992" cy="178308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182880" y="4791456"/>
            <a:ext cx="98755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128016" y="6574536"/>
            <a:ext cx="11923776" cy="0"/>
          </a:xfrm>
          <a:prstGeom prst="line">
            <a:avLst/>
          </a:prstGeom>
          <a:noFill/>
          <a:ln w="9525">
            <a:solidFill>
              <a:srgbClr val="B8A898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252728" y="479145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252728" y="479145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1344168" y="480974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Incidents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2688336" y="4791456"/>
            <a:ext cx="309067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688336" y="479145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2798064" y="48371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1,197 tickets</a:t>
            </a:r>
            <a:endParaRPr lang="en-US" sz="1200" dirty="0"/>
          </a:p>
        </p:txBody>
      </p:sp>
      <p:sp>
        <p:nvSpPr>
          <p:cNvPr id="203" name="Text 201"/>
          <p:cNvSpPr/>
          <p:nvPr/>
        </p:nvSpPr>
        <p:spPr>
          <a:xfrm>
            <a:off x="2798064" y="50383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10,967 total over 3 years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5824728" y="4791456"/>
            <a:ext cx="3090672" cy="44577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824728" y="479145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5934456" y="48371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581 tickets</a:t>
            </a:r>
            <a:endParaRPr lang="en-US" sz="1200" dirty="0"/>
          </a:p>
        </p:txBody>
      </p:sp>
      <p:sp>
        <p:nvSpPr>
          <p:cNvPr id="207" name="Shape 205"/>
          <p:cNvSpPr/>
          <p:nvPr/>
        </p:nvSpPr>
        <p:spPr>
          <a:xfrm>
            <a:off x="8439912" y="4855464"/>
            <a:ext cx="402336" cy="164592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8439912" y="485546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−51%</a:t>
            </a:r>
            <a:endParaRPr lang="en-US" sz="700" dirty="0"/>
          </a:p>
        </p:txBody>
      </p:sp>
      <p:sp>
        <p:nvSpPr>
          <p:cNvPr id="209" name="Text 207"/>
          <p:cNvSpPr/>
          <p:nvPr/>
        </p:nvSpPr>
        <p:spPr>
          <a:xfrm>
            <a:off x="5934456" y="50383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reduction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8961120" y="4791456"/>
            <a:ext cx="3090672" cy="44577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8961120" y="479145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9070848" y="483717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/ yr</a:t>
            </a:r>
            <a:endParaRPr lang="en-US" sz="1200" dirty="0"/>
          </a:p>
        </p:txBody>
      </p:sp>
      <p:sp>
        <p:nvSpPr>
          <p:cNvPr id="213" name="Text 211"/>
          <p:cNvSpPr/>
          <p:nvPr/>
        </p:nvSpPr>
        <p:spPr>
          <a:xfrm>
            <a:off x="9070848" y="503834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ops + 7 nine's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1252728" y="523722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252728" y="523722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344168" y="525551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</a:t>
            </a:r>
            <a:endParaRPr lang="en-US" sz="800" dirty="0"/>
          </a:p>
        </p:txBody>
      </p:sp>
      <p:sp>
        <p:nvSpPr>
          <p:cNvPr id="217" name="Shape 215"/>
          <p:cNvSpPr/>
          <p:nvPr/>
        </p:nvSpPr>
        <p:spPr>
          <a:xfrm>
            <a:off x="2688336" y="5237226"/>
            <a:ext cx="3090672" cy="44577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2688336" y="523722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2798064" y="528294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200" dirty="0"/>
          </a:p>
        </p:txBody>
      </p:sp>
      <p:sp>
        <p:nvSpPr>
          <p:cNvPr id="220" name="Text 218"/>
          <p:cNvSpPr/>
          <p:nvPr/>
        </p:nvSpPr>
        <p:spPr>
          <a:xfrm>
            <a:off x="2798064" y="54841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manual processing</a:t>
            </a:r>
            <a:endParaRPr lang="en-US" sz="750" dirty="0"/>
          </a:p>
        </p:txBody>
      </p:sp>
      <p:sp>
        <p:nvSpPr>
          <p:cNvPr id="221" name="Shape 219"/>
          <p:cNvSpPr/>
          <p:nvPr/>
        </p:nvSpPr>
        <p:spPr>
          <a:xfrm>
            <a:off x="5824728" y="5237226"/>
            <a:ext cx="3090672" cy="44577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5824728" y="523722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5934456" y="528294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~30–40%</a:t>
            </a:r>
            <a:endParaRPr lang="en-US" sz="1200" dirty="0"/>
          </a:p>
        </p:txBody>
      </p:sp>
      <p:sp>
        <p:nvSpPr>
          <p:cNvPr id="224" name="Shape 222"/>
          <p:cNvSpPr/>
          <p:nvPr/>
        </p:nvSpPr>
        <p:spPr>
          <a:xfrm>
            <a:off x="8439912" y="5301234"/>
            <a:ext cx="402336" cy="16459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8439912" y="530123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700" dirty="0"/>
          </a:p>
        </p:txBody>
      </p:sp>
      <p:sp>
        <p:nvSpPr>
          <p:cNvPr id="226" name="Text 224"/>
          <p:cNvSpPr/>
          <p:nvPr/>
        </p:nvSpPr>
        <p:spPr>
          <a:xfrm>
            <a:off x="5934456" y="54841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quick-win improvements</a:t>
            </a:r>
            <a:endParaRPr lang="en-US" sz="750" dirty="0"/>
          </a:p>
        </p:txBody>
      </p:sp>
      <p:sp>
        <p:nvSpPr>
          <p:cNvPr id="227" name="Shape 225"/>
          <p:cNvSpPr/>
          <p:nvPr/>
        </p:nvSpPr>
        <p:spPr>
          <a:xfrm>
            <a:off x="8961120" y="5237226"/>
            <a:ext cx="3090672" cy="44577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8961120" y="523722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9070848" y="528294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1200" dirty="0"/>
          </a:p>
        </p:txBody>
      </p:sp>
      <p:sp>
        <p:nvSpPr>
          <p:cNvPr id="230" name="Text 228"/>
          <p:cNvSpPr/>
          <p:nvPr/>
        </p:nvSpPr>
        <p:spPr>
          <a:xfrm>
            <a:off x="9070848" y="548411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Maker / Checker automation</a:t>
            </a:r>
            <a:endParaRPr lang="en-US" sz="750" dirty="0"/>
          </a:p>
        </p:txBody>
      </p:sp>
      <p:sp>
        <p:nvSpPr>
          <p:cNvPr id="231" name="Shape 229"/>
          <p:cNvSpPr/>
          <p:nvPr/>
        </p:nvSpPr>
        <p:spPr>
          <a:xfrm>
            <a:off x="1252728" y="568299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252728" y="568299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1344168" y="570128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Cost / Txn</a:t>
            </a:r>
            <a:endParaRPr lang="en-US" sz="800" dirty="0"/>
          </a:p>
        </p:txBody>
      </p:sp>
      <p:sp>
        <p:nvSpPr>
          <p:cNvPr id="234" name="Shape 232"/>
          <p:cNvSpPr/>
          <p:nvPr/>
        </p:nvSpPr>
        <p:spPr>
          <a:xfrm>
            <a:off x="2688336" y="5682996"/>
            <a:ext cx="309067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2688336" y="568299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2798064" y="57287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$40.7</a:t>
            </a:r>
            <a:endParaRPr lang="en-US" sz="1200" dirty="0"/>
          </a:p>
        </p:txBody>
      </p:sp>
      <p:sp>
        <p:nvSpPr>
          <p:cNvPr id="237" name="Text 235"/>
          <p:cNvSpPr/>
          <p:nvPr/>
        </p:nvSpPr>
        <p:spPr>
          <a:xfrm>
            <a:off x="2798064" y="59298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overhead</a:t>
            </a:r>
            <a:endParaRPr lang="en-US" sz="750" dirty="0"/>
          </a:p>
        </p:txBody>
      </p:sp>
      <p:sp>
        <p:nvSpPr>
          <p:cNvPr id="238" name="Shape 236"/>
          <p:cNvSpPr/>
          <p:nvPr/>
        </p:nvSpPr>
        <p:spPr>
          <a:xfrm>
            <a:off x="5824728" y="5682996"/>
            <a:ext cx="3090672" cy="445770"/>
          </a:xfrm>
          <a:prstGeom prst="rect">
            <a:avLst/>
          </a:prstGeom>
          <a:solidFill>
            <a:srgbClr val="F5F1EB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5824728" y="568299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40" name="Text 238"/>
          <p:cNvSpPr/>
          <p:nvPr/>
        </p:nvSpPr>
        <p:spPr>
          <a:xfrm>
            <a:off x="5934456" y="572871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</a:t>
            </a:r>
            <a:endParaRPr lang="en-US" sz="1200" dirty="0"/>
          </a:p>
        </p:txBody>
      </p:sp>
      <p:sp>
        <p:nvSpPr>
          <p:cNvPr id="241" name="Shape 239"/>
          <p:cNvSpPr/>
          <p:nvPr/>
        </p:nvSpPr>
        <p:spPr>
          <a:xfrm>
            <a:off x="8439912" y="5747004"/>
            <a:ext cx="402336" cy="164592"/>
          </a:xfrm>
          <a:prstGeom prst="rect">
            <a:avLst/>
          </a:prstGeom>
          <a:solidFill>
            <a:srgbClr val="5C7A50"/>
          </a:solidFill>
          <a:ln w="12700">
            <a:solidFill>
              <a:srgbClr val="5C7A50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8439912" y="574700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243" name="Text 241"/>
          <p:cNvSpPr/>
          <p:nvPr/>
        </p:nvSpPr>
        <p:spPr>
          <a:xfrm>
            <a:off x="5934456" y="59298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rationalisation underway</a:t>
            </a:r>
            <a:endParaRPr lang="en-US" sz="750" dirty="0"/>
          </a:p>
        </p:txBody>
      </p:sp>
      <p:sp>
        <p:nvSpPr>
          <p:cNvPr id="244" name="Shape 242"/>
          <p:cNvSpPr/>
          <p:nvPr/>
        </p:nvSpPr>
        <p:spPr>
          <a:xfrm>
            <a:off x="8961120" y="5682996"/>
            <a:ext cx="3090672" cy="445770"/>
          </a:xfrm>
          <a:prstGeom prst="rect">
            <a:avLst/>
          </a:prstGeom>
          <a:solidFill>
            <a:srgbClr val="F0EBE3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8961120" y="568299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9070848" y="57287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~$10–15</a:t>
            </a:r>
            <a:endParaRPr lang="en-US" sz="1200" dirty="0"/>
          </a:p>
        </p:txBody>
      </p:sp>
      <p:sp>
        <p:nvSpPr>
          <p:cNvPr id="247" name="Text 245"/>
          <p:cNvSpPr/>
          <p:nvPr/>
        </p:nvSpPr>
        <p:spPr>
          <a:xfrm>
            <a:off x="9070848" y="592988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efficiency</a:t>
            </a:r>
            <a:endParaRPr lang="en-US" sz="750" dirty="0"/>
          </a:p>
        </p:txBody>
      </p:sp>
      <p:sp>
        <p:nvSpPr>
          <p:cNvPr id="248" name="Shape 246"/>
          <p:cNvSpPr/>
          <p:nvPr/>
        </p:nvSpPr>
        <p:spPr>
          <a:xfrm>
            <a:off x="1252728" y="6128766"/>
            <a:ext cx="1389888" cy="445770"/>
          </a:xfrm>
          <a:prstGeom prst="rect">
            <a:avLst/>
          </a:prstGeom>
          <a:solidFill>
            <a:srgbClr val="EDE6DF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1252728" y="612876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50" name="Text 248"/>
          <p:cNvSpPr/>
          <p:nvPr/>
        </p:nvSpPr>
        <p:spPr>
          <a:xfrm>
            <a:off x="1344168" y="6147054"/>
            <a:ext cx="1261872" cy="409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Frequency</a:t>
            </a:r>
            <a:endParaRPr lang="en-US" sz="800" dirty="0"/>
          </a:p>
        </p:txBody>
      </p:sp>
      <p:sp>
        <p:nvSpPr>
          <p:cNvPr id="251" name="Shape 249"/>
          <p:cNvSpPr/>
          <p:nvPr/>
        </p:nvSpPr>
        <p:spPr>
          <a:xfrm>
            <a:off x="2688336" y="6128766"/>
            <a:ext cx="3090672" cy="445770"/>
          </a:xfrm>
          <a:prstGeom prst="rect">
            <a:avLst/>
          </a:prstGeom>
          <a:solidFill>
            <a:srgbClr val="F7F4F0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2688336" y="6128766"/>
            <a:ext cx="45720" cy="445770"/>
          </a:xfrm>
          <a:prstGeom prst="rect">
            <a:avLst/>
          </a:prstGeom>
          <a:solidFill>
            <a:srgbClr val="9A7B5C"/>
          </a:solidFill>
          <a:ln w="12700">
            <a:solidFill>
              <a:srgbClr val="9A7B5C"/>
            </a:solidFill>
            <a:prstDash val="solid"/>
          </a:ln>
        </p:spPr>
      </p:sp>
      <p:sp>
        <p:nvSpPr>
          <p:cNvPr id="253" name="Text 251"/>
          <p:cNvSpPr/>
          <p:nvPr/>
        </p:nvSpPr>
        <p:spPr>
          <a:xfrm>
            <a:off x="2798064" y="617448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5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 / month</a:t>
            </a:r>
            <a:endParaRPr lang="en-US" sz="1200" dirty="0"/>
          </a:p>
        </p:txBody>
      </p:sp>
      <p:sp>
        <p:nvSpPr>
          <p:cNvPr id="254" name="Text 252"/>
          <p:cNvSpPr/>
          <p:nvPr/>
        </p:nvSpPr>
        <p:spPr>
          <a:xfrm>
            <a:off x="2798064" y="63756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industry 10× / day</a:t>
            </a:r>
            <a:endParaRPr lang="en-US" sz="750" dirty="0"/>
          </a:p>
        </p:txBody>
      </p:sp>
      <p:sp>
        <p:nvSpPr>
          <p:cNvPr id="255" name="Shape 253"/>
          <p:cNvSpPr/>
          <p:nvPr/>
        </p:nvSpPr>
        <p:spPr>
          <a:xfrm>
            <a:off x="5824728" y="6128766"/>
            <a:ext cx="3090672" cy="445770"/>
          </a:xfrm>
          <a:prstGeom prst="rect">
            <a:avLst/>
          </a:prstGeom>
          <a:solidFill>
            <a:srgbClr val="EFEBE4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824728" y="6128766"/>
            <a:ext cx="45720" cy="445770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5934456" y="617448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</a:t>
            </a:r>
            <a:endParaRPr lang="en-US" sz="1200" dirty="0"/>
          </a:p>
        </p:txBody>
      </p:sp>
      <p:sp>
        <p:nvSpPr>
          <p:cNvPr id="258" name="Shape 256"/>
          <p:cNvSpPr/>
          <p:nvPr/>
        </p:nvSpPr>
        <p:spPr>
          <a:xfrm>
            <a:off x="8439912" y="6192774"/>
            <a:ext cx="402336" cy="164592"/>
          </a:xfrm>
          <a:prstGeom prst="rect">
            <a:avLst/>
          </a:prstGeom>
          <a:solidFill>
            <a:srgbClr val="7A4520"/>
          </a:solidFill>
          <a:ln w="12700">
            <a:solidFill>
              <a:srgbClr val="7A4520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8439912" y="619277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700" dirty="0"/>
          </a:p>
        </p:txBody>
      </p:sp>
      <p:sp>
        <p:nvSpPr>
          <p:cNvPr id="260" name="Text 258"/>
          <p:cNvSpPr/>
          <p:nvPr/>
        </p:nvSpPr>
        <p:spPr>
          <a:xfrm>
            <a:off x="5934456" y="63756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active</a:t>
            </a:r>
            <a:endParaRPr lang="en-US" sz="750" dirty="0"/>
          </a:p>
        </p:txBody>
      </p:sp>
      <p:sp>
        <p:nvSpPr>
          <p:cNvPr id="261" name="Shape 259"/>
          <p:cNvSpPr/>
          <p:nvPr/>
        </p:nvSpPr>
        <p:spPr>
          <a:xfrm>
            <a:off x="8961120" y="6128766"/>
            <a:ext cx="3090672" cy="445770"/>
          </a:xfrm>
          <a:prstGeom prst="rect">
            <a:avLst/>
          </a:prstGeom>
          <a:solidFill>
            <a:srgbClr val="E8E2DA"/>
          </a:solidFill>
          <a:ln w="6350">
            <a:solidFill>
              <a:srgbClr val="EDE6DF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8961120" y="6128766"/>
            <a:ext cx="45720" cy="445770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9070848" y="617448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/ on-demand</a:t>
            </a:r>
            <a:endParaRPr lang="en-US" sz="1200" dirty="0"/>
          </a:p>
        </p:txBody>
      </p:sp>
      <p:sp>
        <p:nvSpPr>
          <p:cNvPr id="264" name="Text 262"/>
          <p:cNvSpPr/>
          <p:nvPr/>
        </p:nvSpPr>
        <p:spPr>
          <a:xfrm>
            <a:off x="9070848" y="6375654"/>
            <a:ext cx="292608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zero-downtime</a:t>
            </a:r>
            <a:endParaRPr lang="en-US" sz="750" dirty="0"/>
          </a:p>
        </p:txBody>
      </p:sp>
      <p:sp>
        <p:nvSpPr>
          <p:cNvPr id="265" name="Text 263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4124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841248"/>
            <a:ext cx="12051792" cy="0"/>
          </a:xfrm>
          <a:prstGeom prst="line">
            <a:avLst/>
          </a:prstGeom>
          <a:noFill/>
          <a:ln w="12700">
            <a:solidFill>
              <a:srgbClr val="C9A8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9144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Strategic Themes &amp; Non-Negotiable Priorities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92608" y="5852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execution pillars that apply across every phase of the programme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" y="1005840"/>
            <a:ext cx="5669280" cy="1572768"/>
          </a:xfrm>
          <a:prstGeom prst="rect">
            <a:avLst/>
          </a:prstGeom>
          <a:solidFill>
            <a:srgbClr val="F3E8DE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" y="1005840"/>
            <a:ext cx="64008" cy="157276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50976" y="113385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Modernise, Don't Patch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4592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Mule workflows and the Oracle monolith with event-driven microservices. Every decision evaluated against commercialisability from day one. Patching only defers and multiplies the cost.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3328" y="1005840"/>
            <a:ext cx="5925312" cy="1572768"/>
          </a:xfrm>
          <a:prstGeom prst="rect">
            <a:avLst/>
          </a:prstGeom>
          <a:solidFill>
            <a:srgbClr val="F3E8DE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53328" y="1005840"/>
            <a:ext cx="64008" cy="1572768"/>
          </a:xfrm>
          <a:prstGeom prst="rect">
            <a:avLst/>
          </a:prstGeom>
          <a:solidFill>
            <a:srgbClr val="2B5187"/>
          </a:solidFill>
          <a:ln w="12700">
            <a:solidFill>
              <a:srgbClr val="2B51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5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03136" y="113385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Core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572768"/>
            <a:ext cx="5650992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645920"/>
            <a:ext cx="56327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the processing layer so Loan IQ or Absolute can be swapped without any frontend impact. Eliminates vendor lock-in, accelerates change, and reduces contractual risk.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" y="2743200"/>
            <a:ext cx="5669280" cy="1572768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2743200"/>
            <a:ext cx="64008" cy="1572768"/>
          </a:xfrm>
          <a:prstGeom prst="rect">
            <a:avLst/>
          </a:prstGeom>
          <a:solidFill>
            <a:srgbClr val="2F6B3E"/>
          </a:solidFill>
          <a:ln w="12700">
            <a:solidFill>
              <a:srgbClr val="2F6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50976" y="287121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Operations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31012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38328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from AI-assisted (R1) to fully automated Maker/Checker (R2). Human involvement reserved for truly exceptional cases. Target &gt;95% document accuracy, ~90% STP by 2030.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53328" y="2743200"/>
            <a:ext cx="5925312" cy="1572768"/>
          </a:xfrm>
          <a:prstGeom prst="rect">
            <a:avLst/>
          </a:prstGeom>
          <a:solidFill>
            <a:srgbClr val="FEF0D4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53328" y="2743200"/>
            <a:ext cx="64008" cy="1572768"/>
          </a:xfrm>
          <a:prstGeom prst="rect">
            <a:avLst/>
          </a:prstGeom>
          <a:solidFill>
            <a:srgbClr val="9B6010"/>
          </a:solidFill>
          <a:ln w="12700">
            <a:solidFill>
              <a:srgbClr val="9B60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B6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03136" y="287121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Capabilities as Big Rocks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3310128"/>
            <a:ext cx="5650992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36208" y="3383280"/>
            <a:ext cx="56327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Tokenisation, fintech integration, GSCF-like trade distribution, and deal management are competitive necessities — not optional features — to reach $1B revenue.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" y="4480560"/>
            <a:ext cx="5669280" cy="1572768"/>
          </a:xfrm>
          <a:prstGeom prst="rect">
            <a:avLst/>
          </a:prstGeom>
          <a:solidFill>
            <a:srgbClr val="F3E8DE"/>
          </a:solidFill>
          <a:ln w="9525">
            <a:solidFill>
              <a:srgbClr val="D6CCC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01168" y="4480560"/>
            <a:ext cx="64008" cy="1572768"/>
          </a:xfrm>
          <a:prstGeom prst="rect">
            <a:avLst/>
          </a:prstGeom>
          <a:solidFill>
            <a:srgbClr val="5C3317"/>
          </a:solidFill>
          <a:ln w="12700">
            <a:solidFill>
              <a:srgbClr val="5C33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50976" y="4608576"/>
            <a:ext cx="4773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Product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5047488"/>
            <a:ext cx="5394960" cy="0"/>
          </a:xfrm>
          <a:prstGeom prst="line">
            <a:avLst/>
          </a:prstGeom>
          <a:noFill/>
          <a:ln w="6350">
            <a:solidFill>
              <a:srgbClr val="D6CCC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5120640"/>
            <a:ext cx="5376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End-state is commercialisable and multi-tenant. Every architecture decision must answer: 'Can we sell this?' The Connector and API layer unlock a direct new revenue stream.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53328" y="4480560"/>
            <a:ext cx="5925312" cy="1572768"/>
          </a:xfrm>
          <a:prstGeom prst="rect">
            <a:avLst/>
          </a:prstGeom>
          <a:solidFill>
            <a:srgbClr val="F3E8DE"/>
          </a:solidFill>
          <a:ln w="19050">
            <a:solidFill>
              <a:srgbClr val="C9A882"/>
            </a:solidFill>
            <a:prstDash val="solid"/>
          </a:ln>
          <a:effectLst>
            <a:outerShdw sx="100000" sy="100000" kx="0" ky="0" algn="bl" rotWithShape="0" blurRad="63500" dist="25400" dir="8100000">
              <a:srgbClr val="B8A888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53328" y="4480560"/>
            <a:ext cx="64008" cy="1572768"/>
          </a:xfrm>
          <a:prstGeom prst="rect">
            <a:avLst/>
          </a:prstGeom>
          <a:solidFill>
            <a:srgbClr val="5C3317"/>
          </a:solidFill>
          <a:ln/>
        </p:spPr>
      </p:sp>
      <p:sp>
        <p:nvSpPr>
          <p:cNvPr id="40" name="Shape 38"/>
          <p:cNvSpPr/>
          <p:nvPr/>
        </p:nvSpPr>
        <p:spPr>
          <a:xfrm>
            <a:off x="6254496" y="5138928"/>
            <a:ext cx="5376672" cy="0"/>
          </a:xfrm>
          <a:prstGeom prst="line">
            <a:avLst/>
          </a:prstGeom>
          <a:noFill/>
          <a:ln w="6350">
            <a:solidFill>
              <a:srgbClr val="C9A8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4608576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is what we have  →  These are the constraints  →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C3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must change to scale."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254496" y="559612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6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  ·  Omar Review  ·  2025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6675120"/>
            <a:ext cx="1143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89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Trade Platform Migration Strategy  ·  2025–2030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2026-02-23T18:04:49Z</dcterms:created>
  <dcterms:modified xsi:type="dcterms:W3CDTF">2026-02-23T18:04:49Z</dcterms:modified>
</cp:coreProperties>
</file>